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Lst>
  <p:sldSz cx="18288000" cy="10287000"/>
  <p:notesSz cx="6858000" cy="9144000"/>
  <p:embeddedFontLst>
    <p:embeddedFont>
      <p:font typeface="Arial" charset="1" panose="020B0604020202020204"/>
      <p:regular r:id="rId21"/>
    </p:embeddedFont>
    <p:embeddedFont>
      <p:font typeface="Arial Bold" charset="1" panose="020B0704020202020204"/>
      <p:regular r:id="rId22"/>
    </p:embeddedFont>
    <p:embeddedFont>
      <p:font typeface="Consolas" charset="1" panose="020B0609020204030204"/>
      <p:regular r:id="rId23"/>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fonts/font21.fntdata" Type="http://schemas.openxmlformats.org/officeDocument/2006/relationships/font"/><Relationship Id="rId22" Target="fonts/font22.fntdata" Type="http://schemas.openxmlformats.org/officeDocument/2006/relationships/font"/><Relationship Id="rId23" Target="fonts/font23.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3.png" Type="http://schemas.openxmlformats.org/officeDocument/2006/relationships/image"/><Relationship Id="rId4" Target="../media/image4.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5.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6.png" Type="http://schemas.openxmlformats.org/officeDocument/2006/relationships/image"/><Relationship Id="rId4" Target="../media/image7.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8.png" Type="http://schemas.openxmlformats.org/officeDocument/2006/relationships/image"/><Relationship Id="rId4" Target="../media/image9.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10.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3726725" y="0"/>
            <a:ext cx="4575115" cy="10295039"/>
            <a:chOff x="0" y="0"/>
            <a:chExt cx="6100153" cy="13726719"/>
          </a:xfrm>
        </p:grpSpPr>
        <p:sp>
          <p:nvSpPr>
            <p:cNvPr name="Freeform 3" id="3" descr="agri_template_right_strip.png"/>
            <p:cNvSpPr/>
            <p:nvPr/>
          </p:nvSpPr>
          <p:spPr>
            <a:xfrm flipH="false" flipV="false" rot="0">
              <a:off x="0" y="0"/>
              <a:ext cx="6100191" cy="13726668"/>
            </a:xfrm>
            <a:custGeom>
              <a:avLst/>
              <a:gdLst/>
              <a:ahLst/>
              <a:cxnLst/>
              <a:rect r="r" b="b" t="t" l="l"/>
              <a:pathLst>
                <a:path h="13726668" w="6100191">
                  <a:moveTo>
                    <a:pt x="0" y="0"/>
                  </a:moveTo>
                  <a:lnTo>
                    <a:pt x="6100191" y="0"/>
                  </a:lnTo>
                  <a:lnTo>
                    <a:pt x="6100191" y="13726668"/>
                  </a:lnTo>
                  <a:lnTo>
                    <a:pt x="0" y="13726668"/>
                  </a:lnTo>
                  <a:lnTo>
                    <a:pt x="0" y="0"/>
                  </a:lnTo>
                  <a:close/>
                </a:path>
              </a:pathLst>
            </a:custGeom>
            <a:blipFill>
              <a:blip r:embed="rId2"/>
              <a:stretch>
                <a:fillRect l="-4" t="0" r="-4" b="0"/>
              </a:stretch>
            </a:blipFill>
          </p:spPr>
        </p:sp>
      </p:grpSp>
      <p:grpSp>
        <p:nvGrpSpPr>
          <p:cNvPr name="Group 4" id="4"/>
          <p:cNvGrpSpPr/>
          <p:nvPr/>
        </p:nvGrpSpPr>
        <p:grpSpPr>
          <a:xfrm rot="0">
            <a:off x="-466706" y="6890814"/>
            <a:ext cx="1372676" cy="3706216"/>
            <a:chOff x="0" y="0"/>
            <a:chExt cx="1830235" cy="4941621"/>
          </a:xfrm>
        </p:grpSpPr>
        <p:sp>
          <p:nvSpPr>
            <p:cNvPr name="Freeform 5" id="5"/>
            <p:cNvSpPr/>
            <p:nvPr/>
          </p:nvSpPr>
          <p:spPr>
            <a:xfrm flipH="false" flipV="false" rot="0">
              <a:off x="0" y="0"/>
              <a:ext cx="1830324" cy="4941570"/>
            </a:xfrm>
            <a:custGeom>
              <a:avLst/>
              <a:gdLst/>
              <a:ahLst/>
              <a:cxnLst/>
              <a:rect r="r" b="b" t="t" l="l"/>
              <a:pathLst>
                <a:path h="4941570" w="1830324">
                  <a:moveTo>
                    <a:pt x="0" y="4941570"/>
                  </a:moveTo>
                  <a:lnTo>
                    <a:pt x="915162" y="0"/>
                  </a:lnTo>
                  <a:lnTo>
                    <a:pt x="1830324" y="4941570"/>
                  </a:lnTo>
                  <a:close/>
                </a:path>
              </a:pathLst>
            </a:custGeom>
            <a:solidFill>
              <a:srgbClr val="55C3E6"/>
            </a:solidFill>
          </p:spPr>
        </p:sp>
      </p:grpSp>
      <p:grpSp>
        <p:nvGrpSpPr>
          <p:cNvPr name="Group 6" id="6"/>
          <p:cNvGrpSpPr/>
          <p:nvPr/>
        </p:nvGrpSpPr>
        <p:grpSpPr>
          <a:xfrm rot="0">
            <a:off x="9883245" y="2086461"/>
            <a:ext cx="274539" cy="274539"/>
            <a:chOff x="0" y="0"/>
            <a:chExt cx="366052" cy="366052"/>
          </a:xfrm>
        </p:grpSpPr>
        <p:sp>
          <p:nvSpPr>
            <p:cNvPr name="Freeform 7" id="7"/>
            <p:cNvSpPr/>
            <p:nvPr/>
          </p:nvSpPr>
          <p:spPr>
            <a:xfrm flipH="false" flipV="false" rot="0">
              <a:off x="0" y="0"/>
              <a:ext cx="366014" cy="366014"/>
            </a:xfrm>
            <a:custGeom>
              <a:avLst/>
              <a:gdLst/>
              <a:ahLst/>
              <a:cxnLst/>
              <a:rect r="r" b="b" t="t" l="l"/>
              <a:pathLst>
                <a:path h="366014" w="366014">
                  <a:moveTo>
                    <a:pt x="0" y="0"/>
                  </a:moveTo>
                  <a:lnTo>
                    <a:pt x="366014" y="0"/>
                  </a:lnTo>
                  <a:lnTo>
                    <a:pt x="366014" y="366014"/>
                  </a:lnTo>
                  <a:lnTo>
                    <a:pt x="0" y="366014"/>
                  </a:lnTo>
                  <a:close/>
                </a:path>
              </a:pathLst>
            </a:custGeom>
            <a:solidFill>
              <a:srgbClr val="2F86C1"/>
            </a:solidFill>
          </p:spPr>
        </p:sp>
      </p:grpSp>
      <p:sp>
        <p:nvSpPr>
          <p:cNvPr name="TextBox 8" id="8"/>
          <p:cNvSpPr txBox="true"/>
          <p:nvPr/>
        </p:nvSpPr>
        <p:spPr>
          <a:xfrm rot="0">
            <a:off x="13022018" y="9713538"/>
            <a:ext cx="297551" cy="165163"/>
          </a:xfrm>
          <a:prstGeom prst="rect">
            <a:avLst/>
          </a:prstGeom>
        </p:spPr>
        <p:txBody>
          <a:bodyPr anchor="t" rtlCol="false" tIns="0" lIns="0" bIns="0" rIns="0">
            <a:spAutoFit/>
          </a:bodyPr>
          <a:lstStyle/>
          <a:p>
            <a:pPr algn="r">
              <a:lnSpc>
                <a:spcPts val="1260"/>
              </a:lnSpc>
            </a:pPr>
            <a:r>
              <a:rPr lang="en-US" sz="1050">
                <a:solidFill>
                  <a:srgbClr val="5E6A71"/>
                </a:solidFill>
                <a:latin typeface="Arial"/>
                <a:ea typeface="Arial"/>
                <a:cs typeface="Arial"/>
                <a:sym typeface="Arial"/>
              </a:rPr>
              <a:t>01</a:t>
            </a:r>
          </a:p>
        </p:txBody>
      </p:sp>
      <p:grpSp>
        <p:nvGrpSpPr>
          <p:cNvPr name="Group 9" id="9"/>
          <p:cNvGrpSpPr/>
          <p:nvPr/>
        </p:nvGrpSpPr>
        <p:grpSpPr>
          <a:xfrm rot="0">
            <a:off x="1125588" y="1578569"/>
            <a:ext cx="1853108" cy="1441304"/>
            <a:chOff x="0" y="0"/>
            <a:chExt cx="2470810" cy="1921739"/>
          </a:xfrm>
        </p:grpSpPr>
        <p:sp>
          <p:nvSpPr>
            <p:cNvPr name="Freeform 10" id="10"/>
            <p:cNvSpPr/>
            <p:nvPr/>
          </p:nvSpPr>
          <p:spPr>
            <a:xfrm flipH="false" flipV="false" rot="0">
              <a:off x="0" y="0"/>
              <a:ext cx="2470785" cy="1921764"/>
            </a:xfrm>
            <a:custGeom>
              <a:avLst/>
              <a:gdLst/>
              <a:ahLst/>
              <a:cxnLst/>
              <a:rect r="r" b="b" t="t" l="l"/>
              <a:pathLst>
                <a:path h="1921764" w="2470785">
                  <a:moveTo>
                    <a:pt x="0" y="960882"/>
                  </a:moveTo>
                  <a:lnTo>
                    <a:pt x="480441" y="0"/>
                  </a:lnTo>
                  <a:lnTo>
                    <a:pt x="1990344" y="0"/>
                  </a:lnTo>
                  <a:lnTo>
                    <a:pt x="2470785" y="960882"/>
                  </a:lnTo>
                  <a:lnTo>
                    <a:pt x="1990344" y="1921764"/>
                  </a:lnTo>
                  <a:lnTo>
                    <a:pt x="480441" y="1921764"/>
                  </a:lnTo>
                  <a:close/>
                </a:path>
              </a:pathLst>
            </a:custGeom>
            <a:solidFill>
              <a:srgbClr val="55C3E6"/>
            </a:solidFill>
          </p:spPr>
        </p:sp>
      </p:grpSp>
      <p:grpSp>
        <p:nvGrpSpPr>
          <p:cNvPr name="Group 11" id="11"/>
          <p:cNvGrpSpPr/>
          <p:nvPr/>
        </p:nvGrpSpPr>
        <p:grpSpPr>
          <a:xfrm rot="0">
            <a:off x="2772794" y="1153049"/>
            <a:ext cx="892235" cy="796147"/>
            <a:chOff x="0" y="0"/>
            <a:chExt cx="1189647" cy="1061530"/>
          </a:xfrm>
        </p:grpSpPr>
        <p:sp>
          <p:nvSpPr>
            <p:cNvPr name="Freeform 12" id="12"/>
            <p:cNvSpPr/>
            <p:nvPr/>
          </p:nvSpPr>
          <p:spPr>
            <a:xfrm flipH="false" flipV="false" rot="0">
              <a:off x="0" y="0"/>
              <a:ext cx="1189736" cy="1061466"/>
            </a:xfrm>
            <a:custGeom>
              <a:avLst/>
              <a:gdLst/>
              <a:ahLst/>
              <a:cxnLst/>
              <a:rect r="r" b="b" t="t" l="l"/>
              <a:pathLst>
                <a:path h="1061466" w="1189736">
                  <a:moveTo>
                    <a:pt x="0" y="530733"/>
                  </a:moveTo>
                  <a:lnTo>
                    <a:pt x="265430" y="0"/>
                  </a:lnTo>
                  <a:lnTo>
                    <a:pt x="924306" y="0"/>
                  </a:lnTo>
                  <a:lnTo>
                    <a:pt x="1189736" y="530733"/>
                  </a:lnTo>
                  <a:lnTo>
                    <a:pt x="924306" y="1061466"/>
                  </a:lnTo>
                  <a:lnTo>
                    <a:pt x="265430" y="1061466"/>
                  </a:lnTo>
                  <a:close/>
                </a:path>
              </a:pathLst>
            </a:custGeom>
            <a:solidFill>
              <a:srgbClr val="309169"/>
            </a:solidFill>
          </p:spPr>
        </p:sp>
      </p:grpSp>
      <p:grpSp>
        <p:nvGrpSpPr>
          <p:cNvPr name="Group 13" id="13"/>
          <p:cNvGrpSpPr/>
          <p:nvPr/>
        </p:nvGrpSpPr>
        <p:grpSpPr>
          <a:xfrm rot="0">
            <a:off x="5559323" y="1345216"/>
            <a:ext cx="2063648" cy="1647206"/>
            <a:chOff x="0" y="0"/>
            <a:chExt cx="2751531" cy="2196274"/>
          </a:xfrm>
        </p:grpSpPr>
        <p:sp>
          <p:nvSpPr>
            <p:cNvPr name="Freeform 14" id="14"/>
            <p:cNvSpPr/>
            <p:nvPr/>
          </p:nvSpPr>
          <p:spPr>
            <a:xfrm flipH="false" flipV="false" rot="0">
              <a:off x="0" y="0"/>
              <a:ext cx="2751449" cy="2196338"/>
            </a:xfrm>
            <a:custGeom>
              <a:avLst/>
              <a:gdLst/>
              <a:ahLst/>
              <a:cxnLst/>
              <a:rect r="r" b="b" t="t" l="l"/>
              <a:pathLst>
                <a:path h="2196338" w="2751449">
                  <a:moveTo>
                    <a:pt x="0" y="1098169"/>
                  </a:moveTo>
                  <a:lnTo>
                    <a:pt x="446156" y="0"/>
                  </a:lnTo>
                  <a:lnTo>
                    <a:pt x="2305293" y="0"/>
                  </a:lnTo>
                  <a:lnTo>
                    <a:pt x="2751449" y="1098169"/>
                  </a:lnTo>
                  <a:lnTo>
                    <a:pt x="2305293" y="2196338"/>
                  </a:lnTo>
                  <a:lnTo>
                    <a:pt x="446156" y="2196338"/>
                  </a:lnTo>
                  <a:close/>
                </a:path>
              </a:pathLst>
            </a:custGeom>
            <a:solidFill>
              <a:srgbClr val="3CBF9B"/>
            </a:solidFill>
          </p:spPr>
        </p:sp>
      </p:grpSp>
      <p:grpSp>
        <p:nvGrpSpPr>
          <p:cNvPr name="Group 15" id="15"/>
          <p:cNvGrpSpPr/>
          <p:nvPr/>
        </p:nvGrpSpPr>
        <p:grpSpPr>
          <a:xfrm rot="0">
            <a:off x="5875039" y="7961500"/>
            <a:ext cx="988324" cy="851059"/>
            <a:chOff x="0" y="0"/>
            <a:chExt cx="1317765" cy="1134745"/>
          </a:xfrm>
        </p:grpSpPr>
        <p:sp>
          <p:nvSpPr>
            <p:cNvPr name="Freeform 16" id="16"/>
            <p:cNvSpPr/>
            <p:nvPr/>
          </p:nvSpPr>
          <p:spPr>
            <a:xfrm flipH="false" flipV="false" rot="0">
              <a:off x="0" y="0"/>
              <a:ext cx="1317752" cy="1134745"/>
            </a:xfrm>
            <a:custGeom>
              <a:avLst/>
              <a:gdLst/>
              <a:ahLst/>
              <a:cxnLst/>
              <a:rect r="r" b="b" t="t" l="l"/>
              <a:pathLst>
                <a:path h="1134745" w="1317752">
                  <a:moveTo>
                    <a:pt x="0" y="567309"/>
                  </a:moveTo>
                  <a:lnTo>
                    <a:pt x="283718" y="0"/>
                  </a:lnTo>
                  <a:lnTo>
                    <a:pt x="1034034" y="0"/>
                  </a:lnTo>
                  <a:lnTo>
                    <a:pt x="1317752" y="567309"/>
                  </a:lnTo>
                  <a:lnTo>
                    <a:pt x="1034034" y="1134745"/>
                  </a:lnTo>
                  <a:lnTo>
                    <a:pt x="283718" y="1134745"/>
                  </a:lnTo>
                  <a:close/>
                </a:path>
              </a:pathLst>
            </a:custGeom>
            <a:solidFill>
              <a:srgbClr val="41B45A"/>
            </a:solidFill>
          </p:spPr>
        </p:sp>
      </p:grpSp>
      <p:sp>
        <p:nvSpPr>
          <p:cNvPr name="TextBox 17" id="17"/>
          <p:cNvSpPr txBox="true"/>
          <p:nvPr/>
        </p:nvSpPr>
        <p:spPr>
          <a:xfrm rot="0">
            <a:off x="1217028" y="3362782"/>
            <a:ext cx="10661228" cy="1780718"/>
          </a:xfrm>
          <a:prstGeom prst="rect">
            <a:avLst/>
          </a:prstGeom>
        </p:spPr>
        <p:txBody>
          <a:bodyPr anchor="t" rtlCol="false" tIns="0" lIns="0" bIns="0" rIns="0">
            <a:spAutoFit/>
          </a:bodyPr>
          <a:lstStyle/>
          <a:p>
            <a:pPr algn="l">
              <a:lnSpc>
                <a:spcPts val="5584"/>
              </a:lnSpc>
            </a:pPr>
            <a:r>
              <a:rPr lang="en-US" sz="4653" b="true">
                <a:solidFill>
                  <a:srgbClr val="121212"/>
                </a:solidFill>
                <a:latin typeface="Arial Bold"/>
                <a:ea typeface="Arial Bold"/>
                <a:cs typeface="Arial Bold"/>
                <a:sym typeface="Arial Bold"/>
              </a:rPr>
              <a:t>Seasonal Agriculture</a:t>
            </a:r>
          </a:p>
          <a:p>
            <a:pPr algn="l">
              <a:lnSpc>
                <a:spcPts val="5584"/>
              </a:lnSpc>
            </a:pPr>
            <a:r>
              <a:rPr lang="en-US" sz="4653" b="true">
                <a:solidFill>
                  <a:srgbClr val="121212"/>
                </a:solidFill>
                <a:latin typeface="Arial Bold"/>
                <a:ea typeface="Arial Bold"/>
                <a:cs typeface="Arial Bold"/>
                <a:sym typeface="Arial Bold"/>
              </a:rPr>
              <a:t>Performance Analysis</a:t>
            </a:r>
          </a:p>
        </p:txBody>
      </p:sp>
      <p:sp>
        <p:nvSpPr>
          <p:cNvPr name="TextBox 18" id="18"/>
          <p:cNvSpPr txBox="true"/>
          <p:nvPr/>
        </p:nvSpPr>
        <p:spPr>
          <a:xfrm rot="0">
            <a:off x="1217028" y="5682082"/>
            <a:ext cx="9151296" cy="408041"/>
          </a:xfrm>
          <a:prstGeom prst="rect">
            <a:avLst/>
          </a:prstGeom>
        </p:spPr>
        <p:txBody>
          <a:bodyPr anchor="t" rtlCol="false" tIns="0" lIns="0" bIns="0" rIns="0">
            <a:spAutoFit/>
          </a:bodyPr>
          <a:lstStyle/>
          <a:p>
            <a:pPr algn="l">
              <a:lnSpc>
                <a:spcPts val="2702"/>
              </a:lnSpc>
            </a:pPr>
            <a:r>
              <a:rPr lang="en-US" sz="2251">
                <a:solidFill>
                  <a:srgbClr val="1F5A86"/>
                </a:solidFill>
                <a:latin typeface="Arial"/>
                <a:ea typeface="Arial"/>
                <a:cs typeface="Arial"/>
                <a:sym typeface="Arial"/>
              </a:rPr>
              <a:t>VOIS AICTE Batch 1 — Major Project</a:t>
            </a:r>
          </a:p>
        </p:txBody>
      </p:sp>
      <p:sp>
        <p:nvSpPr>
          <p:cNvPr name="TextBox 19" id="19"/>
          <p:cNvSpPr txBox="true"/>
          <p:nvPr/>
        </p:nvSpPr>
        <p:spPr>
          <a:xfrm rot="0">
            <a:off x="1217028" y="6505680"/>
            <a:ext cx="6955012" cy="1495425"/>
          </a:xfrm>
          <a:prstGeom prst="rect">
            <a:avLst/>
          </a:prstGeom>
        </p:spPr>
        <p:txBody>
          <a:bodyPr anchor="t" rtlCol="false" tIns="0" lIns="0" bIns="0" rIns="0">
            <a:spAutoFit/>
          </a:bodyPr>
          <a:lstStyle/>
          <a:p>
            <a:pPr algn="l">
              <a:lnSpc>
                <a:spcPts val="2341"/>
              </a:lnSpc>
            </a:pPr>
            <a:r>
              <a:rPr lang="en-US" sz="1951">
                <a:solidFill>
                  <a:srgbClr val="121212"/>
                </a:solidFill>
                <a:latin typeface="Arial"/>
                <a:ea typeface="Arial"/>
                <a:cs typeface="Arial"/>
                <a:sym typeface="Arial"/>
              </a:rPr>
              <a:t>Student Name: Debapriya Nag</a:t>
            </a:r>
          </a:p>
          <a:p>
            <a:pPr algn="l">
              <a:lnSpc>
                <a:spcPts val="2341"/>
              </a:lnSpc>
            </a:pPr>
            <a:r>
              <a:rPr lang="en-US" sz="1951">
                <a:solidFill>
                  <a:srgbClr val="121212"/>
                </a:solidFill>
                <a:latin typeface="Arial"/>
                <a:ea typeface="Arial"/>
                <a:cs typeface="Arial"/>
                <a:sym typeface="Arial"/>
              </a:rPr>
              <a:t>College Name: </a:t>
            </a:r>
            <a:r>
              <a:rPr lang="en-US" sz="1951" u="none">
                <a:solidFill>
                  <a:srgbClr val="121212"/>
                </a:solidFill>
                <a:latin typeface="Arial"/>
                <a:ea typeface="Arial"/>
                <a:cs typeface="Arial"/>
                <a:sym typeface="Arial"/>
              </a:rPr>
              <a:t>Indian Institute of Technology Patna</a:t>
            </a:r>
          </a:p>
          <a:p>
            <a:pPr algn="l">
              <a:lnSpc>
                <a:spcPts val="2341"/>
              </a:lnSpc>
            </a:pPr>
          </a:p>
          <a:p>
            <a:pPr algn="l">
              <a:lnSpc>
                <a:spcPts val="2341"/>
              </a:lnSpc>
            </a:pPr>
          </a:p>
          <a:p>
            <a:pPr algn="l">
              <a:lnSpc>
                <a:spcPts val="2341"/>
              </a:lnSpc>
            </a:pPr>
          </a:p>
        </p:txBody>
      </p:sp>
      <p:sp>
        <p:nvSpPr>
          <p:cNvPr name="TextBox 20" id="20"/>
          <p:cNvSpPr txBox="true"/>
          <p:nvPr/>
        </p:nvSpPr>
        <p:spPr>
          <a:xfrm rot="0">
            <a:off x="1217028" y="7243867"/>
            <a:ext cx="6405944" cy="285750"/>
          </a:xfrm>
          <a:prstGeom prst="rect">
            <a:avLst/>
          </a:prstGeom>
        </p:spPr>
        <p:txBody>
          <a:bodyPr anchor="t" rtlCol="false" tIns="0" lIns="0" bIns="0" rIns="0">
            <a:spAutoFit/>
          </a:bodyPr>
          <a:lstStyle/>
          <a:p>
            <a:pPr algn="l">
              <a:lnSpc>
                <a:spcPts val="2161"/>
              </a:lnSpc>
            </a:pPr>
            <a:r>
              <a:rPr lang="en-US" sz="1801" b="true">
                <a:solidFill>
                  <a:srgbClr val="121212"/>
                </a:solidFill>
                <a:latin typeface="Arial Bold"/>
                <a:ea typeface="Arial Bold"/>
                <a:cs typeface="Arial Bold"/>
                <a:sym typeface="Arial Bold"/>
              </a:rPr>
              <a:t>AICTE STU ID:STU6a473d675a0ff1783053671</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3726725" y="0"/>
            <a:ext cx="4575115" cy="10295039"/>
            <a:chOff x="0" y="0"/>
            <a:chExt cx="6100153" cy="13726719"/>
          </a:xfrm>
        </p:grpSpPr>
        <p:sp>
          <p:nvSpPr>
            <p:cNvPr name="Freeform 3" id="3" descr="agri_template_right_strip.png"/>
            <p:cNvSpPr/>
            <p:nvPr/>
          </p:nvSpPr>
          <p:spPr>
            <a:xfrm flipH="false" flipV="false" rot="0">
              <a:off x="0" y="0"/>
              <a:ext cx="6100191" cy="13726668"/>
            </a:xfrm>
            <a:custGeom>
              <a:avLst/>
              <a:gdLst/>
              <a:ahLst/>
              <a:cxnLst/>
              <a:rect r="r" b="b" t="t" l="l"/>
              <a:pathLst>
                <a:path h="13726668" w="6100191">
                  <a:moveTo>
                    <a:pt x="0" y="0"/>
                  </a:moveTo>
                  <a:lnTo>
                    <a:pt x="6100191" y="0"/>
                  </a:lnTo>
                  <a:lnTo>
                    <a:pt x="6100191" y="13726668"/>
                  </a:lnTo>
                  <a:lnTo>
                    <a:pt x="0" y="13726668"/>
                  </a:lnTo>
                  <a:lnTo>
                    <a:pt x="0" y="0"/>
                  </a:lnTo>
                  <a:close/>
                </a:path>
              </a:pathLst>
            </a:custGeom>
            <a:blipFill>
              <a:blip r:embed="rId2"/>
              <a:stretch>
                <a:fillRect l="-4" t="0" r="-4" b="0"/>
              </a:stretch>
            </a:blipFill>
          </p:spPr>
        </p:sp>
      </p:grpSp>
      <p:grpSp>
        <p:nvGrpSpPr>
          <p:cNvPr name="Group 4" id="4"/>
          <p:cNvGrpSpPr/>
          <p:nvPr/>
        </p:nvGrpSpPr>
        <p:grpSpPr>
          <a:xfrm rot="0">
            <a:off x="-466706" y="6890814"/>
            <a:ext cx="1372676" cy="3706216"/>
            <a:chOff x="0" y="0"/>
            <a:chExt cx="1830235" cy="4941621"/>
          </a:xfrm>
        </p:grpSpPr>
        <p:sp>
          <p:nvSpPr>
            <p:cNvPr name="Freeform 5" id="5"/>
            <p:cNvSpPr/>
            <p:nvPr/>
          </p:nvSpPr>
          <p:spPr>
            <a:xfrm flipH="false" flipV="false" rot="0">
              <a:off x="0" y="0"/>
              <a:ext cx="1830324" cy="4941570"/>
            </a:xfrm>
            <a:custGeom>
              <a:avLst/>
              <a:gdLst/>
              <a:ahLst/>
              <a:cxnLst/>
              <a:rect r="r" b="b" t="t" l="l"/>
              <a:pathLst>
                <a:path h="4941570" w="1830324">
                  <a:moveTo>
                    <a:pt x="0" y="4941570"/>
                  </a:moveTo>
                  <a:lnTo>
                    <a:pt x="915162" y="0"/>
                  </a:lnTo>
                  <a:lnTo>
                    <a:pt x="1830324" y="4941570"/>
                  </a:lnTo>
                  <a:close/>
                </a:path>
              </a:pathLst>
            </a:custGeom>
            <a:solidFill>
              <a:srgbClr val="55C3E6"/>
            </a:solidFill>
          </p:spPr>
        </p:sp>
      </p:grpSp>
      <p:grpSp>
        <p:nvGrpSpPr>
          <p:cNvPr name="Group 6" id="6"/>
          <p:cNvGrpSpPr/>
          <p:nvPr/>
        </p:nvGrpSpPr>
        <p:grpSpPr>
          <a:xfrm rot="0">
            <a:off x="9883245" y="2086461"/>
            <a:ext cx="274539" cy="274539"/>
            <a:chOff x="0" y="0"/>
            <a:chExt cx="366052" cy="366052"/>
          </a:xfrm>
        </p:grpSpPr>
        <p:sp>
          <p:nvSpPr>
            <p:cNvPr name="Freeform 7" id="7"/>
            <p:cNvSpPr/>
            <p:nvPr/>
          </p:nvSpPr>
          <p:spPr>
            <a:xfrm flipH="false" flipV="false" rot="0">
              <a:off x="0" y="0"/>
              <a:ext cx="366014" cy="366014"/>
            </a:xfrm>
            <a:custGeom>
              <a:avLst/>
              <a:gdLst/>
              <a:ahLst/>
              <a:cxnLst/>
              <a:rect r="r" b="b" t="t" l="l"/>
              <a:pathLst>
                <a:path h="366014" w="366014">
                  <a:moveTo>
                    <a:pt x="0" y="0"/>
                  </a:moveTo>
                  <a:lnTo>
                    <a:pt x="366014" y="0"/>
                  </a:lnTo>
                  <a:lnTo>
                    <a:pt x="366014" y="366014"/>
                  </a:lnTo>
                  <a:lnTo>
                    <a:pt x="0" y="366014"/>
                  </a:lnTo>
                  <a:close/>
                </a:path>
              </a:pathLst>
            </a:custGeom>
            <a:solidFill>
              <a:srgbClr val="2F86C1"/>
            </a:solidFill>
          </p:spPr>
        </p:sp>
      </p:grpSp>
      <p:sp>
        <p:nvSpPr>
          <p:cNvPr name="TextBox 8" id="8"/>
          <p:cNvSpPr txBox="true"/>
          <p:nvPr/>
        </p:nvSpPr>
        <p:spPr>
          <a:xfrm rot="0">
            <a:off x="13022018" y="9713538"/>
            <a:ext cx="297551" cy="165163"/>
          </a:xfrm>
          <a:prstGeom prst="rect">
            <a:avLst/>
          </a:prstGeom>
        </p:spPr>
        <p:txBody>
          <a:bodyPr anchor="t" rtlCol="false" tIns="0" lIns="0" bIns="0" rIns="0">
            <a:spAutoFit/>
          </a:bodyPr>
          <a:lstStyle/>
          <a:p>
            <a:pPr algn="r">
              <a:lnSpc>
                <a:spcPts val="1260"/>
              </a:lnSpc>
            </a:pPr>
            <a:r>
              <a:rPr lang="en-US" sz="1050">
                <a:solidFill>
                  <a:srgbClr val="5E6A71"/>
                </a:solidFill>
                <a:latin typeface="Arial"/>
                <a:ea typeface="Arial"/>
                <a:cs typeface="Arial"/>
                <a:sym typeface="Arial"/>
              </a:rPr>
              <a:t>02</a:t>
            </a:r>
          </a:p>
        </p:txBody>
      </p:sp>
      <p:sp>
        <p:nvSpPr>
          <p:cNvPr name="TextBox 9" id="9"/>
          <p:cNvSpPr txBox="true"/>
          <p:nvPr/>
        </p:nvSpPr>
        <p:spPr>
          <a:xfrm rot="0">
            <a:off x="1079764" y="685552"/>
            <a:ext cx="11896639" cy="819845"/>
          </a:xfrm>
          <a:prstGeom prst="rect">
            <a:avLst/>
          </a:prstGeom>
        </p:spPr>
        <p:txBody>
          <a:bodyPr anchor="t" rtlCol="false" tIns="0" lIns="0" bIns="0" rIns="0">
            <a:spAutoFit/>
          </a:bodyPr>
          <a:lstStyle/>
          <a:p>
            <a:pPr algn="l">
              <a:lnSpc>
                <a:spcPts val="5224"/>
              </a:lnSpc>
            </a:pPr>
            <a:r>
              <a:rPr lang="en-US" sz="4353" b="true">
                <a:solidFill>
                  <a:srgbClr val="121212"/>
                </a:solidFill>
                <a:latin typeface="Arial Bold"/>
                <a:ea typeface="Arial Bold"/>
                <a:cs typeface="Arial Bold"/>
                <a:sym typeface="Arial Bold"/>
              </a:rPr>
              <a:t>PROBLEM STATEMENT</a:t>
            </a:r>
          </a:p>
        </p:txBody>
      </p:sp>
      <p:grpSp>
        <p:nvGrpSpPr>
          <p:cNvPr name="Group 10" id="10"/>
          <p:cNvGrpSpPr/>
          <p:nvPr/>
        </p:nvGrpSpPr>
        <p:grpSpPr>
          <a:xfrm rot="0">
            <a:off x="1043235" y="1949196"/>
            <a:ext cx="2745343" cy="439255"/>
            <a:chOff x="0" y="0"/>
            <a:chExt cx="3660458" cy="585673"/>
          </a:xfrm>
        </p:grpSpPr>
        <p:sp>
          <p:nvSpPr>
            <p:cNvPr name="Freeform 11" id="11"/>
            <p:cNvSpPr/>
            <p:nvPr/>
          </p:nvSpPr>
          <p:spPr>
            <a:xfrm flipH="false" flipV="false" rot="0">
              <a:off x="0" y="0"/>
              <a:ext cx="3660521" cy="585724"/>
            </a:xfrm>
            <a:custGeom>
              <a:avLst/>
              <a:gdLst/>
              <a:ahLst/>
              <a:cxnLst/>
              <a:rect r="r" b="b" t="t" l="l"/>
              <a:pathLst>
                <a:path h="585724" w="3660521">
                  <a:moveTo>
                    <a:pt x="0" y="97663"/>
                  </a:moveTo>
                  <a:cubicBezTo>
                    <a:pt x="0" y="43688"/>
                    <a:pt x="43688" y="0"/>
                    <a:pt x="97663" y="0"/>
                  </a:cubicBezTo>
                  <a:lnTo>
                    <a:pt x="3562858" y="0"/>
                  </a:lnTo>
                  <a:cubicBezTo>
                    <a:pt x="3616706" y="0"/>
                    <a:pt x="3660521" y="43688"/>
                    <a:pt x="3660521" y="97663"/>
                  </a:cubicBezTo>
                  <a:lnTo>
                    <a:pt x="3660521" y="488061"/>
                  </a:lnTo>
                  <a:cubicBezTo>
                    <a:pt x="3660521" y="541909"/>
                    <a:pt x="3616833" y="585724"/>
                    <a:pt x="3562858" y="585724"/>
                  </a:cubicBezTo>
                  <a:lnTo>
                    <a:pt x="97663" y="585724"/>
                  </a:lnTo>
                  <a:cubicBezTo>
                    <a:pt x="43688" y="585724"/>
                    <a:pt x="0" y="541909"/>
                    <a:pt x="0" y="488061"/>
                  </a:cubicBezTo>
                  <a:close/>
                </a:path>
              </a:pathLst>
            </a:custGeom>
            <a:solidFill>
              <a:srgbClr val="EAF4F8"/>
            </a:solidFill>
          </p:spPr>
        </p:sp>
      </p:grpSp>
      <p:sp>
        <p:nvSpPr>
          <p:cNvPr name="TextBox 12" id="12"/>
          <p:cNvSpPr txBox="true"/>
          <p:nvPr/>
        </p:nvSpPr>
        <p:spPr>
          <a:xfrm rot="0">
            <a:off x="1271940" y="2044503"/>
            <a:ext cx="2287934" cy="174688"/>
          </a:xfrm>
          <a:prstGeom prst="rect">
            <a:avLst/>
          </a:prstGeom>
        </p:spPr>
        <p:txBody>
          <a:bodyPr anchor="t" rtlCol="false" tIns="0" lIns="0" bIns="0" rIns="0">
            <a:spAutoFit/>
          </a:bodyPr>
          <a:lstStyle/>
          <a:p>
            <a:pPr algn="l">
              <a:lnSpc>
                <a:spcPts val="1441"/>
              </a:lnSpc>
            </a:pPr>
            <a:r>
              <a:rPr lang="en-US" sz="1200" b="true">
                <a:solidFill>
                  <a:srgbClr val="1F5A86"/>
                </a:solidFill>
                <a:latin typeface="Arial Bold"/>
                <a:ea typeface="Arial Bold"/>
                <a:cs typeface="Arial Bold"/>
                <a:sym typeface="Arial Bold"/>
              </a:rPr>
              <a:t>THE ANALYTICAL GAP</a:t>
            </a:r>
          </a:p>
        </p:txBody>
      </p:sp>
      <p:sp>
        <p:nvSpPr>
          <p:cNvPr name="TextBox 13" id="13"/>
          <p:cNvSpPr txBox="true"/>
          <p:nvPr/>
        </p:nvSpPr>
        <p:spPr>
          <a:xfrm rot="0">
            <a:off x="1217028" y="2671724"/>
            <a:ext cx="10318061" cy="3006595"/>
          </a:xfrm>
          <a:prstGeom prst="rect">
            <a:avLst/>
          </a:prstGeom>
        </p:spPr>
        <p:txBody>
          <a:bodyPr anchor="t" rtlCol="false" tIns="0" lIns="0" bIns="0" rIns="0">
            <a:spAutoFit/>
          </a:bodyPr>
          <a:lstStyle/>
          <a:p>
            <a:pPr algn="l">
              <a:lnSpc>
                <a:spcPts val="2882"/>
              </a:lnSpc>
            </a:pPr>
            <a:r>
              <a:rPr lang="en-US" sz="2401">
                <a:solidFill>
                  <a:srgbClr val="313C42"/>
                </a:solidFill>
                <a:latin typeface="Arial"/>
                <a:ea typeface="Arial"/>
                <a:cs typeface="Arial"/>
                <a:sym typeface="Arial"/>
              </a:rPr>
              <a:t>Agricultural performance changes with seasonal environmental conditions, farming practices, resource availability and market conditions. Raw farm-level data does not directly show how yield, profitability, water use and risk differ across Kharif, Rabi and Zaid. The project therefore analyzes the dataset to identify meaningful seasonal patterns, relationships, variations and unusual observations.</a:t>
            </a:r>
          </a:p>
        </p:txBody>
      </p:sp>
      <p:grpSp>
        <p:nvGrpSpPr>
          <p:cNvPr name="Group 14" id="14"/>
          <p:cNvGrpSpPr/>
          <p:nvPr/>
        </p:nvGrpSpPr>
        <p:grpSpPr>
          <a:xfrm rot="0">
            <a:off x="1116063" y="6236122"/>
            <a:ext cx="3038942" cy="1803540"/>
            <a:chOff x="0" y="0"/>
            <a:chExt cx="4051922" cy="2404720"/>
          </a:xfrm>
        </p:grpSpPr>
        <p:sp>
          <p:nvSpPr>
            <p:cNvPr name="Freeform 15" id="15"/>
            <p:cNvSpPr/>
            <p:nvPr/>
          </p:nvSpPr>
          <p:spPr>
            <a:xfrm flipH="false" flipV="false" rot="0">
              <a:off x="0" y="0"/>
              <a:ext cx="4051935" cy="2404745"/>
            </a:xfrm>
            <a:custGeom>
              <a:avLst/>
              <a:gdLst/>
              <a:ahLst/>
              <a:cxnLst/>
              <a:rect r="r" b="b" t="t" l="l"/>
              <a:pathLst>
                <a:path h="2404745" w="4051935">
                  <a:moveTo>
                    <a:pt x="0" y="400812"/>
                  </a:moveTo>
                  <a:cubicBezTo>
                    <a:pt x="0" y="179451"/>
                    <a:pt x="179451" y="0"/>
                    <a:pt x="400812" y="0"/>
                  </a:cubicBezTo>
                  <a:lnTo>
                    <a:pt x="3651123" y="0"/>
                  </a:lnTo>
                  <a:cubicBezTo>
                    <a:pt x="3872484" y="0"/>
                    <a:pt x="4051935" y="179451"/>
                    <a:pt x="4051935" y="400812"/>
                  </a:cubicBezTo>
                  <a:lnTo>
                    <a:pt x="4051935" y="2003933"/>
                  </a:lnTo>
                  <a:cubicBezTo>
                    <a:pt x="4051935" y="2225294"/>
                    <a:pt x="3872484" y="2404745"/>
                    <a:pt x="3651123" y="2404745"/>
                  </a:cubicBezTo>
                  <a:lnTo>
                    <a:pt x="400812" y="2404745"/>
                  </a:lnTo>
                  <a:cubicBezTo>
                    <a:pt x="179451" y="2404745"/>
                    <a:pt x="0" y="2225294"/>
                    <a:pt x="0" y="2003933"/>
                  </a:cubicBezTo>
                  <a:close/>
                </a:path>
              </a:pathLst>
            </a:custGeom>
            <a:solidFill>
              <a:srgbClr val="FFFFFF"/>
            </a:solidFill>
            <a:ln w="19065" cap="sq">
              <a:solidFill>
                <a:srgbClr val="DCE4E8"/>
              </a:solidFill>
              <a:prstDash val="solid"/>
              <a:miter/>
            </a:ln>
          </p:spPr>
        </p:sp>
      </p:grpSp>
      <p:grpSp>
        <p:nvGrpSpPr>
          <p:cNvPr name="Group 16" id="16"/>
          <p:cNvGrpSpPr/>
          <p:nvPr/>
        </p:nvGrpSpPr>
        <p:grpSpPr>
          <a:xfrm rot="0">
            <a:off x="1125588" y="6245657"/>
            <a:ext cx="96088" cy="1784471"/>
            <a:chOff x="0" y="0"/>
            <a:chExt cx="128118" cy="2379294"/>
          </a:xfrm>
        </p:grpSpPr>
        <p:sp>
          <p:nvSpPr>
            <p:cNvPr name="Freeform 17" id="17"/>
            <p:cNvSpPr/>
            <p:nvPr/>
          </p:nvSpPr>
          <p:spPr>
            <a:xfrm flipH="false" flipV="false" rot="0">
              <a:off x="0" y="0"/>
              <a:ext cx="128143" cy="2379345"/>
            </a:xfrm>
            <a:custGeom>
              <a:avLst/>
              <a:gdLst/>
              <a:ahLst/>
              <a:cxnLst/>
              <a:rect r="r" b="b" t="t" l="l"/>
              <a:pathLst>
                <a:path h="2379345" w="128143">
                  <a:moveTo>
                    <a:pt x="0" y="0"/>
                  </a:moveTo>
                  <a:lnTo>
                    <a:pt x="128143" y="0"/>
                  </a:lnTo>
                  <a:lnTo>
                    <a:pt x="128143" y="2379345"/>
                  </a:lnTo>
                  <a:lnTo>
                    <a:pt x="0" y="2379345"/>
                  </a:lnTo>
                  <a:close/>
                </a:path>
              </a:pathLst>
            </a:custGeom>
            <a:solidFill>
              <a:srgbClr val="2F86C1"/>
            </a:solidFill>
          </p:spPr>
        </p:sp>
      </p:grpSp>
      <p:sp>
        <p:nvSpPr>
          <p:cNvPr name="TextBox 18" id="18"/>
          <p:cNvSpPr txBox="true"/>
          <p:nvPr/>
        </p:nvSpPr>
        <p:spPr>
          <a:xfrm rot="0">
            <a:off x="1519018" y="6505680"/>
            <a:ext cx="2356561" cy="311963"/>
          </a:xfrm>
          <a:prstGeom prst="rect">
            <a:avLst/>
          </a:prstGeom>
        </p:spPr>
        <p:txBody>
          <a:bodyPr anchor="t" rtlCol="false" tIns="0" lIns="0" bIns="0" rIns="0">
            <a:spAutoFit/>
          </a:bodyPr>
          <a:lstStyle/>
          <a:p>
            <a:pPr algn="l">
              <a:lnSpc>
                <a:spcPts val="1801"/>
              </a:lnSpc>
            </a:pPr>
            <a:r>
              <a:rPr lang="en-US" sz="1501" b="true">
                <a:solidFill>
                  <a:srgbClr val="5E6A71"/>
                </a:solidFill>
                <a:latin typeface="Arial Bold"/>
                <a:ea typeface="Arial Bold"/>
                <a:cs typeface="Arial Bold"/>
                <a:sym typeface="Arial Bold"/>
              </a:rPr>
              <a:t>DATA SCALE</a:t>
            </a:r>
          </a:p>
        </p:txBody>
      </p:sp>
      <p:sp>
        <p:nvSpPr>
          <p:cNvPr name="TextBox 19" id="19"/>
          <p:cNvSpPr txBox="true"/>
          <p:nvPr/>
        </p:nvSpPr>
        <p:spPr>
          <a:xfrm rot="0">
            <a:off x="1519018" y="6921684"/>
            <a:ext cx="2356561" cy="623468"/>
          </a:xfrm>
          <a:prstGeom prst="rect">
            <a:avLst/>
          </a:prstGeom>
        </p:spPr>
        <p:txBody>
          <a:bodyPr anchor="t" rtlCol="false" tIns="0" lIns="0" bIns="0" rIns="0">
            <a:spAutoFit/>
          </a:bodyPr>
          <a:lstStyle/>
          <a:p>
            <a:pPr algn="l">
              <a:lnSpc>
                <a:spcPts val="3963"/>
              </a:lnSpc>
            </a:pPr>
            <a:r>
              <a:rPr lang="en-US" sz="3302" b="true">
                <a:solidFill>
                  <a:srgbClr val="2F86C1"/>
                </a:solidFill>
                <a:latin typeface="Arial Bold"/>
                <a:ea typeface="Arial Bold"/>
                <a:cs typeface="Arial Bold"/>
                <a:sym typeface="Arial Bold"/>
              </a:rPr>
              <a:t>4,000</a:t>
            </a:r>
          </a:p>
        </p:txBody>
      </p:sp>
      <p:sp>
        <p:nvSpPr>
          <p:cNvPr name="TextBox 20" id="20"/>
          <p:cNvSpPr txBox="true"/>
          <p:nvPr/>
        </p:nvSpPr>
        <p:spPr>
          <a:xfrm rot="0">
            <a:off x="1519018" y="7681979"/>
            <a:ext cx="2356561" cy="165163"/>
          </a:xfrm>
          <a:prstGeom prst="rect">
            <a:avLst/>
          </a:prstGeom>
        </p:spPr>
        <p:txBody>
          <a:bodyPr anchor="t" rtlCol="false" tIns="0" lIns="0" bIns="0" rIns="0">
            <a:spAutoFit/>
          </a:bodyPr>
          <a:lstStyle/>
          <a:p>
            <a:pPr algn="l">
              <a:lnSpc>
                <a:spcPts val="1891"/>
              </a:lnSpc>
            </a:pPr>
            <a:r>
              <a:rPr lang="en-US" sz="1576">
                <a:solidFill>
                  <a:srgbClr val="313C42"/>
                </a:solidFill>
                <a:latin typeface="Arial"/>
                <a:ea typeface="Arial"/>
                <a:cs typeface="Arial"/>
                <a:sym typeface="Arial"/>
              </a:rPr>
              <a:t>farm-level records</a:t>
            </a:r>
          </a:p>
        </p:txBody>
      </p:sp>
      <p:grpSp>
        <p:nvGrpSpPr>
          <p:cNvPr name="Group 21" id="21"/>
          <p:cNvGrpSpPr/>
          <p:nvPr/>
        </p:nvGrpSpPr>
        <p:grpSpPr>
          <a:xfrm rot="0">
            <a:off x="4410475" y="6236122"/>
            <a:ext cx="3038942" cy="1803540"/>
            <a:chOff x="0" y="0"/>
            <a:chExt cx="4051922" cy="2404720"/>
          </a:xfrm>
        </p:grpSpPr>
        <p:sp>
          <p:nvSpPr>
            <p:cNvPr name="Freeform 22" id="22"/>
            <p:cNvSpPr/>
            <p:nvPr/>
          </p:nvSpPr>
          <p:spPr>
            <a:xfrm flipH="false" flipV="false" rot="0">
              <a:off x="0" y="0"/>
              <a:ext cx="4051935" cy="2404745"/>
            </a:xfrm>
            <a:custGeom>
              <a:avLst/>
              <a:gdLst/>
              <a:ahLst/>
              <a:cxnLst/>
              <a:rect r="r" b="b" t="t" l="l"/>
              <a:pathLst>
                <a:path h="2404745" w="4051935">
                  <a:moveTo>
                    <a:pt x="0" y="400812"/>
                  </a:moveTo>
                  <a:cubicBezTo>
                    <a:pt x="0" y="179451"/>
                    <a:pt x="179451" y="0"/>
                    <a:pt x="400812" y="0"/>
                  </a:cubicBezTo>
                  <a:lnTo>
                    <a:pt x="3651123" y="0"/>
                  </a:lnTo>
                  <a:cubicBezTo>
                    <a:pt x="3872484" y="0"/>
                    <a:pt x="4051935" y="179451"/>
                    <a:pt x="4051935" y="400812"/>
                  </a:cubicBezTo>
                  <a:lnTo>
                    <a:pt x="4051935" y="2003933"/>
                  </a:lnTo>
                  <a:cubicBezTo>
                    <a:pt x="4051935" y="2225294"/>
                    <a:pt x="3872484" y="2404745"/>
                    <a:pt x="3651123" y="2404745"/>
                  </a:cubicBezTo>
                  <a:lnTo>
                    <a:pt x="400812" y="2404745"/>
                  </a:lnTo>
                  <a:cubicBezTo>
                    <a:pt x="179451" y="2404745"/>
                    <a:pt x="0" y="2225294"/>
                    <a:pt x="0" y="2003933"/>
                  </a:cubicBezTo>
                  <a:close/>
                </a:path>
              </a:pathLst>
            </a:custGeom>
            <a:solidFill>
              <a:srgbClr val="FFFFFF"/>
            </a:solidFill>
            <a:ln w="19065" cap="sq">
              <a:solidFill>
                <a:srgbClr val="DCE4E8"/>
              </a:solidFill>
              <a:prstDash val="solid"/>
              <a:miter/>
            </a:ln>
          </p:spPr>
        </p:sp>
      </p:grpSp>
      <p:grpSp>
        <p:nvGrpSpPr>
          <p:cNvPr name="Group 23" id="23"/>
          <p:cNvGrpSpPr/>
          <p:nvPr/>
        </p:nvGrpSpPr>
        <p:grpSpPr>
          <a:xfrm rot="0">
            <a:off x="4420010" y="6245657"/>
            <a:ext cx="96088" cy="1784471"/>
            <a:chOff x="0" y="0"/>
            <a:chExt cx="128118" cy="2379294"/>
          </a:xfrm>
        </p:grpSpPr>
        <p:sp>
          <p:nvSpPr>
            <p:cNvPr name="Freeform 24" id="24"/>
            <p:cNvSpPr/>
            <p:nvPr/>
          </p:nvSpPr>
          <p:spPr>
            <a:xfrm flipH="false" flipV="false" rot="0">
              <a:off x="0" y="0"/>
              <a:ext cx="128143" cy="2379345"/>
            </a:xfrm>
            <a:custGeom>
              <a:avLst/>
              <a:gdLst/>
              <a:ahLst/>
              <a:cxnLst/>
              <a:rect r="r" b="b" t="t" l="l"/>
              <a:pathLst>
                <a:path h="2379345" w="128143">
                  <a:moveTo>
                    <a:pt x="0" y="0"/>
                  </a:moveTo>
                  <a:lnTo>
                    <a:pt x="128143" y="0"/>
                  </a:lnTo>
                  <a:lnTo>
                    <a:pt x="128143" y="2379345"/>
                  </a:lnTo>
                  <a:lnTo>
                    <a:pt x="0" y="2379345"/>
                  </a:lnTo>
                  <a:close/>
                </a:path>
              </a:pathLst>
            </a:custGeom>
            <a:solidFill>
              <a:srgbClr val="41B45A"/>
            </a:solidFill>
          </p:spPr>
        </p:sp>
      </p:grpSp>
      <p:sp>
        <p:nvSpPr>
          <p:cNvPr name="TextBox 25" id="25"/>
          <p:cNvSpPr txBox="true"/>
          <p:nvPr/>
        </p:nvSpPr>
        <p:spPr>
          <a:xfrm rot="0">
            <a:off x="4813430" y="6505680"/>
            <a:ext cx="2356561" cy="311963"/>
          </a:xfrm>
          <a:prstGeom prst="rect">
            <a:avLst/>
          </a:prstGeom>
        </p:spPr>
        <p:txBody>
          <a:bodyPr anchor="t" rtlCol="false" tIns="0" lIns="0" bIns="0" rIns="0">
            <a:spAutoFit/>
          </a:bodyPr>
          <a:lstStyle/>
          <a:p>
            <a:pPr algn="l">
              <a:lnSpc>
                <a:spcPts val="1801"/>
              </a:lnSpc>
            </a:pPr>
            <a:r>
              <a:rPr lang="en-US" sz="1501" b="true">
                <a:solidFill>
                  <a:srgbClr val="5E6A71"/>
                </a:solidFill>
                <a:latin typeface="Arial Bold"/>
                <a:ea typeface="Arial Bold"/>
                <a:cs typeface="Arial Bold"/>
                <a:sym typeface="Arial Bold"/>
              </a:rPr>
              <a:t>VARIABLES</a:t>
            </a:r>
          </a:p>
        </p:txBody>
      </p:sp>
      <p:sp>
        <p:nvSpPr>
          <p:cNvPr name="TextBox 26" id="26"/>
          <p:cNvSpPr txBox="true"/>
          <p:nvPr/>
        </p:nvSpPr>
        <p:spPr>
          <a:xfrm rot="0">
            <a:off x="4813430" y="6921684"/>
            <a:ext cx="2356561" cy="623468"/>
          </a:xfrm>
          <a:prstGeom prst="rect">
            <a:avLst/>
          </a:prstGeom>
        </p:spPr>
        <p:txBody>
          <a:bodyPr anchor="t" rtlCol="false" tIns="0" lIns="0" bIns="0" rIns="0">
            <a:spAutoFit/>
          </a:bodyPr>
          <a:lstStyle/>
          <a:p>
            <a:pPr algn="l">
              <a:lnSpc>
                <a:spcPts val="3963"/>
              </a:lnSpc>
            </a:pPr>
            <a:r>
              <a:rPr lang="en-US" sz="3302" b="true">
                <a:solidFill>
                  <a:srgbClr val="41B45A"/>
                </a:solidFill>
                <a:latin typeface="Arial Bold"/>
                <a:ea typeface="Arial Bold"/>
                <a:cs typeface="Arial Bold"/>
                <a:sym typeface="Arial Bold"/>
              </a:rPr>
              <a:t>28</a:t>
            </a:r>
          </a:p>
        </p:txBody>
      </p:sp>
      <p:sp>
        <p:nvSpPr>
          <p:cNvPr name="TextBox 27" id="27"/>
          <p:cNvSpPr txBox="true"/>
          <p:nvPr/>
        </p:nvSpPr>
        <p:spPr>
          <a:xfrm rot="0">
            <a:off x="4813430" y="7681979"/>
            <a:ext cx="2356561" cy="165163"/>
          </a:xfrm>
          <a:prstGeom prst="rect">
            <a:avLst/>
          </a:prstGeom>
        </p:spPr>
        <p:txBody>
          <a:bodyPr anchor="t" rtlCol="false" tIns="0" lIns="0" bIns="0" rIns="0">
            <a:spAutoFit/>
          </a:bodyPr>
          <a:lstStyle/>
          <a:p>
            <a:pPr algn="l">
              <a:lnSpc>
                <a:spcPts val="1891"/>
              </a:lnSpc>
            </a:pPr>
            <a:r>
              <a:rPr lang="en-US" sz="1576">
                <a:solidFill>
                  <a:srgbClr val="313C42"/>
                </a:solidFill>
                <a:latin typeface="Arial"/>
                <a:ea typeface="Arial"/>
                <a:cs typeface="Arial"/>
                <a:sym typeface="Arial"/>
              </a:rPr>
              <a:t>fields across farm, environment, resources &amp; economics</a:t>
            </a:r>
          </a:p>
        </p:txBody>
      </p:sp>
      <p:grpSp>
        <p:nvGrpSpPr>
          <p:cNvPr name="Group 28" id="28"/>
          <p:cNvGrpSpPr/>
          <p:nvPr/>
        </p:nvGrpSpPr>
        <p:grpSpPr>
          <a:xfrm rot="0">
            <a:off x="7704887" y="6236122"/>
            <a:ext cx="3038942" cy="1803540"/>
            <a:chOff x="0" y="0"/>
            <a:chExt cx="4051922" cy="2404720"/>
          </a:xfrm>
        </p:grpSpPr>
        <p:sp>
          <p:nvSpPr>
            <p:cNvPr name="Freeform 29" id="29"/>
            <p:cNvSpPr/>
            <p:nvPr/>
          </p:nvSpPr>
          <p:spPr>
            <a:xfrm flipH="false" flipV="false" rot="0">
              <a:off x="0" y="0"/>
              <a:ext cx="4051935" cy="2404745"/>
            </a:xfrm>
            <a:custGeom>
              <a:avLst/>
              <a:gdLst/>
              <a:ahLst/>
              <a:cxnLst/>
              <a:rect r="r" b="b" t="t" l="l"/>
              <a:pathLst>
                <a:path h="2404745" w="4051935">
                  <a:moveTo>
                    <a:pt x="0" y="400812"/>
                  </a:moveTo>
                  <a:cubicBezTo>
                    <a:pt x="0" y="179451"/>
                    <a:pt x="179451" y="0"/>
                    <a:pt x="400812" y="0"/>
                  </a:cubicBezTo>
                  <a:lnTo>
                    <a:pt x="3651123" y="0"/>
                  </a:lnTo>
                  <a:cubicBezTo>
                    <a:pt x="3872484" y="0"/>
                    <a:pt x="4051935" y="179451"/>
                    <a:pt x="4051935" y="400812"/>
                  </a:cubicBezTo>
                  <a:lnTo>
                    <a:pt x="4051935" y="2003933"/>
                  </a:lnTo>
                  <a:cubicBezTo>
                    <a:pt x="4051935" y="2225294"/>
                    <a:pt x="3872484" y="2404745"/>
                    <a:pt x="3651123" y="2404745"/>
                  </a:cubicBezTo>
                  <a:lnTo>
                    <a:pt x="400812" y="2404745"/>
                  </a:lnTo>
                  <a:cubicBezTo>
                    <a:pt x="179451" y="2404745"/>
                    <a:pt x="0" y="2225294"/>
                    <a:pt x="0" y="2003933"/>
                  </a:cubicBezTo>
                  <a:close/>
                </a:path>
              </a:pathLst>
            </a:custGeom>
            <a:solidFill>
              <a:srgbClr val="FFFFFF"/>
            </a:solidFill>
            <a:ln w="19065" cap="sq">
              <a:solidFill>
                <a:srgbClr val="DCE4E8"/>
              </a:solidFill>
              <a:prstDash val="solid"/>
              <a:miter/>
            </a:ln>
          </p:spPr>
        </p:sp>
      </p:grpSp>
      <p:grpSp>
        <p:nvGrpSpPr>
          <p:cNvPr name="Group 30" id="30"/>
          <p:cNvGrpSpPr/>
          <p:nvPr/>
        </p:nvGrpSpPr>
        <p:grpSpPr>
          <a:xfrm rot="0">
            <a:off x="7714421" y="6245657"/>
            <a:ext cx="96088" cy="1784471"/>
            <a:chOff x="0" y="0"/>
            <a:chExt cx="128118" cy="2379294"/>
          </a:xfrm>
        </p:grpSpPr>
        <p:sp>
          <p:nvSpPr>
            <p:cNvPr name="Freeform 31" id="31"/>
            <p:cNvSpPr/>
            <p:nvPr/>
          </p:nvSpPr>
          <p:spPr>
            <a:xfrm flipH="false" flipV="false" rot="0">
              <a:off x="0" y="0"/>
              <a:ext cx="128143" cy="2379345"/>
            </a:xfrm>
            <a:custGeom>
              <a:avLst/>
              <a:gdLst/>
              <a:ahLst/>
              <a:cxnLst/>
              <a:rect r="r" b="b" t="t" l="l"/>
              <a:pathLst>
                <a:path h="2379345" w="128143">
                  <a:moveTo>
                    <a:pt x="0" y="0"/>
                  </a:moveTo>
                  <a:lnTo>
                    <a:pt x="128143" y="0"/>
                  </a:lnTo>
                  <a:lnTo>
                    <a:pt x="128143" y="2379345"/>
                  </a:lnTo>
                  <a:lnTo>
                    <a:pt x="0" y="2379345"/>
                  </a:lnTo>
                  <a:close/>
                </a:path>
              </a:pathLst>
            </a:custGeom>
            <a:solidFill>
              <a:srgbClr val="55C3E6"/>
            </a:solidFill>
          </p:spPr>
        </p:sp>
      </p:grpSp>
      <p:sp>
        <p:nvSpPr>
          <p:cNvPr name="TextBox 32" id="32"/>
          <p:cNvSpPr txBox="true"/>
          <p:nvPr/>
        </p:nvSpPr>
        <p:spPr>
          <a:xfrm rot="0">
            <a:off x="8107851" y="6505680"/>
            <a:ext cx="2356561" cy="311963"/>
          </a:xfrm>
          <a:prstGeom prst="rect">
            <a:avLst/>
          </a:prstGeom>
        </p:spPr>
        <p:txBody>
          <a:bodyPr anchor="t" rtlCol="false" tIns="0" lIns="0" bIns="0" rIns="0">
            <a:spAutoFit/>
          </a:bodyPr>
          <a:lstStyle/>
          <a:p>
            <a:pPr algn="l">
              <a:lnSpc>
                <a:spcPts val="1801"/>
              </a:lnSpc>
            </a:pPr>
            <a:r>
              <a:rPr lang="en-US" sz="1501" b="true">
                <a:solidFill>
                  <a:srgbClr val="5E6A71"/>
                </a:solidFill>
                <a:latin typeface="Arial Bold"/>
                <a:ea typeface="Arial Bold"/>
                <a:cs typeface="Arial Bold"/>
                <a:sym typeface="Arial Bold"/>
              </a:rPr>
              <a:t>SEASONS</a:t>
            </a:r>
          </a:p>
        </p:txBody>
      </p:sp>
      <p:sp>
        <p:nvSpPr>
          <p:cNvPr name="TextBox 33" id="33"/>
          <p:cNvSpPr txBox="true"/>
          <p:nvPr/>
        </p:nvSpPr>
        <p:spPr>
          <a:xfrm rot="0">
            <a:off x="8107851" y="6921684"/>
            <a:ext cx="2356561" cy="623468"/>
          </a:xfrm>
          <a:prstGeom prst="rect">
            <a:avLst/>
          </a:prstGeom>
        </p:spPr>
        <p:txBody>
          <a:bodyPr anchor="t" rtlCol="false" tIns="0" lIns="0" bIns="0" rIns="0">
            <a:spAutoFit/>
          </a:bodyPr>
          <a:lstStyle/>
          <a:p>
            <a:pPr algn="l">
              <a:lnSpc>
                <a:spcPts val="3963"/>
              </a:lnSpc>
            </a:pPr>
            <a:r>
              <a:rPr lang="en-US" sz="3302" b="true">
                <a:solidFill>
                  <a:srgbClr val="55C3E6"/>
                </a:solidFill>
                <a:latin typeface="Arial Bold"/>
                <a:ea typeface="Arial Bold"/>
                <a:cs typeface="Arial Bold"/>
                <a:sym typeface="Arial Bold"/>
              </a:rPr>
              <a:t>3</a:t>
            </a:r>
          </a:p>
        </p:txBody>
      </p:sp>
      <p:sp>
        <p:nvSpPr>
          <p:cNvPr name="TextBox 34" id="34"/>
          <p:cNvSpPr txBox="true"/>
          <p:nvPr/>
        </p:nvSpPr>
        <p:spPr>
          <a:xfrm rot="0">
            <a:off x="8107851" y="7681979"/>
            <a:ext cx="2356561" cy="165163"/>
          </a:xfrm>
          <a:prstGeom prst="rect">
            <a:avLst/>
          </a:prstGeom>
        </p:spPr>
        <p:txBody>
          <a:bodyPr anchor="t" rtlCol="false" tIns="0" lIns="0" bIns="0" rIns="0">
            <a:spAutoFit/>
          </a:bodyPr>
          <a:lstStyle/>
          <a:p>
            <a:pPr algn="l">
              <a:lnSpc>
                <a:spcPts val="1891"/>
              </a:lnSpc>
            </a:pPr>
            <a:r>
              <a:rPr lang="en-US" sz="1576">
                <a:solidFill>
                  <a:srgbClr val="313C42"/>
                </a:solidFill>
                <a:latin typeface="Arial"/>
                <a:ea typeface="Arial"/>
                <a:cs typeface="Arial"/>
                <a:sym typeface="Arial"/>
              </a:rPr>
              <a:t>Kharif • Rabi • Zaid</a:t>
            </a:r>
          </a:p>
        </p:txBody>
      </p:sp>
      <p:sp>
        <p:nvSpPr>
          <p:cNvPr name="TextBox 35" id="35"/>
          <p:cNvSpPr txBox="true"/>
          <p:nvPr/>
        </p:nvSpPr>
        <p:spPr>
          <a:xfrm rot="0">
            <a:off x="1217028" y="8537238"/>
            <a:ext cx="10318061" cy="819845"/>
          </a:xfrm>
          <a:prstGeom prst="rect">
            <a:avLst/>
          </a:prstGeom>
        </p:spPr>
        <p:txBody>
          <a:bodyPr anchor="t" rtlCol="false" tIns="0" lIns="0" bIns="0" rIns="0">
            <a:spAutoFit/>
          </a:bodyPr>
          <a:lstStyle/>
          <a:p>
            <a:pPr algn="l">
              <a:lnSpc>
                <a:spcPts val="2161"/>
              </a:lnSpc>
            </a:pPr>
            <a:r>
              <a:rPr lang="en-US" sz="1801">
                <a:solidFill>
                  <a:srgbClr val="1F5A86"/>
                </a:solidFill>
                <a:latin typeface="Arial"/>
                <a:ea typeface="Arial"/>
                <a:cs typeface="Arial"/>
                <a:sym typeface="Arial"/>
              </a:rPr>
              <a:t>Key questions: Which season performs best? Which crops and irrigation methods stand out? What relationships and regional differences matter?</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3726725" y="0"/>
            <a:ext cx="4575115" cy="10295039"/>
            <a:chOff x="0" y="0"/>
            <a:chExt cx="6100153" cy="13726719"/>
          </a:xfrm>
        </p:grpSpPr>
        <p:sp>
          <p:nvSpPr>
            <p:cNvPr name="Freeform 3" id="3" descr="agri_template_right_strip.png"/>
            <p:cNvSpPr/>
            <p:nvPr/>
          </p:nvSpPr>
          <p:spPr>
            <a:xfrm flipH="false" flipV="false" rot="0">
              <a:off x="0" y="0"/>
              <a:ext cx="6100191" cy="13726668"/>
            </a:xfrm>
            <a:custGeom>
              <a:avLst/>
              <a:gdLst/>
              <a:ahLst/>
              <a:cxnLst/>
              <a:rect r="r" b="b" t="t" l="l"/>
              <a:pathLst>
                <a:path h="13726668" w="6100191">
                  <a:moveTo>
                    <a:pt x="0" y="0"/>
                  </a:moveTo>
                  <a:lnTo>
                    <a:pt x="6100191" y="0"/>
                  </a:lnTo>
                  <a:lnTo>
                    <a:pt x="6100191" y="13726668"/>
                  </a:lnTo>
                  <a:lnTo>
                    <a:pt x="0" y="13726668"/>
                  </a:lnTo>
                  <a:lnTo>
                    <a:pt x="0" y="0"/>
                  </a:lnTo>
                  <a:close/>
                </a:path>
              </a:pathLst>
            </a:custGeom>
            <a:blipFill>
              <a:blip r:embed="rId2"/>
              <a:stretch>
                <a:fillRect l="-4" t="0" r="-4" b="0"/>
              </a:stretch>
            </a:blipFill>
          </p:spPr>
        </p:sp>
      </p:grpSp>
      <p:grpSp>
        <p:nvGrpSpPr>
          <p:cNvPr name="Group 4" id="4"/>
          <p:cNvGrpSpPr/>
          <p:nvPr/>
        </p:nvGrpSpPr>
        <p:grpSpPr>
          <a:xfrm rot="0">
            <a:off x="-466706" y="6890814"/>
            <a:ext cx="1372676" cy="3706216"/>
            <a:chOff x="0" y="0"/>
            <a:chExt cx="1830235" cy="4941621"/>
          </a:xfrm>
        </p:grpSpPr>
        <p:sp>
          <p:nvSpPr>
            <p:cNvPr name="Freeform 5" id="5"/>
            <p:cNvSpPr/>
            <p:nvPr/>
          </p:nvSpPr>
          <p:spPr>
            <a:xfrm flipH="false" flipV="false" rot="0">
              <a:off x="0" y="0"/>
              <a:ext cx="1830324" cy="4941570"/>
            </a:xfrm>
            <a:custGeom>
              <a:avLst/>
              <a:gdLst/>
              <a:ahLst/>
              <a:cxnLst/>
              <a:rect r="r" b="b" t="t" l="l"/>
              <a:pathLst>
                <a:path h="4941570" w="1830324">
                  <a:moveTo>
                    <a:pt x="0" y="4941570"/>
                  </a:moveTo>
                  <a:lnTo>
                    <a:pt x="915162" y="0"/>
                  </a:lnTo>
                  <a:lnTo>
                    <a:pt x="1830324" y="4941570"/>
                  </a:lnTo>
                  <a:close/>
                </a:path>
              </a:pathLst>
            </a:custGeom>
            <a:solidFill>
              <a:srgbClr val="55C3E6"/>
            </a:solidFill>
          </p:spPr>
        </p:sp>
      </p:grpSp>
      <p:grpSp>
        <p:nvGrpSpPr>
          <p:cNvPr name="Group 6" id="6"/>
          <p:cNvGrpSpPr/>
          <p:nvPr/>
        </p:nvGrpSpPr>
        <p:grpSpPr>
          <a:xfrm rot="0">
            <a:off x="9883245" y="2086461"/>
            <a:ext cx="274539" cy="274539"/>
            <a:chOff x="0" y="0"/>
            <a:chExt cx="366052" cy="366052"/>
          </a:xfrm>
        </p:grpSpPr>
        <p:sp>
          <p:nvSpPr>
            <p:cNvPr name="Freeform 7" id="7"/>
            <p:cNvSpPr/>
            <p:nvPr/>
          </p:nvSpPr>
          <p:spPr>
            <a:xfrm flipH="false" flipV="false" rot="0">
              <a:off x="0" y="0"/>
              <a:ext cx="366014" cy="366014"/>
            </a:xfrm>
            <a:custGeom>
              <a:avLst/>
              <a:gdLst/>
              <a:ahLst/>
              <a:cxnLst/>
              <a:rect r="r" b="b" t="t" l="l"/>
              <a:pathLst>
                <a:path h="366014" w="366014">
                  <a:moveTo>
                    <a:pt x="0" y="0"/>
                  </a:moveTo>
                  <a:lnTo>
                    <a:pt x="366014" y="0"/>
                  </a:lnTo>
                  <a:lnTo>
                    <a:pt x="366014" y="366014"/>
                  </a:lnTo>
                  <a:lnTo>
                    <a:pt x="0" y="366014"/>
                  </a:lnTo>
                  <a:close/>
                </a:path>
              </a:pathLst>
            </a:custGeom>
            <a:solidFill>
              <a:srgbClr val="2F86C1"/>
            </a:solidFill>
          </p:spPr>
        </p:sp>
      </p:grpSp>
      <p:sp>
        <p:nvSpPr>
          <p:cNvPr name="TextBox 8" id="8"/>
          <p:cNvSpPr txBox="true"/>
          <p:nvPr/>
        </p:nvSpPr>
        <p:spPr>
          <a:xfrm rot="0">
            <a:off x="13022018" y="9713538"/>
            <a:ext cx="297551" cy="165163"/>
          </a:xfrm>
          <a:prstGeom prst="rect">
            <a:avLst/>
          </a:prstGeom>
        </p:spPr>
        <p:txBody>
          <a:bodyPr anchor="t" rtlCol="false" tIns="0" lIns="0" bIns="0" rIns="0">
            <a:spAutoFit/>
          </a:bodyPr>
          <a:lstStyle/>
          <a:p>
            <a:pPr algn="r">
              <a:lnSpc>
                <a:spcPts val="1260"/>
              </a:lnSpc>
            </a:pPr>
            <a:r>
              <a:rPr lang="en-US" sz="1050">
                <a:solidFill>
                  <a:srgbClr val="5E6A71"/>
                </a:solidFill>
                <a:latin typeface="Arial"/>
                <a:ea typeface="Arial"/>
                <a:cs typeface="Arial"/>
                <a:sym typeface="Arial"/>
              </a:rPr>
              <a:t>03</a:t>
            </a:r>
          </a:p>
        </p:txBody>
      </p:sp>
      <p:sp>
        <p:nvSpPr>
          <p:cNvPr name="TextBox 9" id="9"/>
          <p:cNvSpPr txBox="true"/>
          <p:nvPr/>
        </p:nvSpPr>
        <p:spPr>
          <a:xfrm rot="0">
            <a:off x="1079764" y="685552"/>
            <a:ext cx="11896639" cy="819845"/>
          </a:xfrm>
          <a:prstGeom prst="rect">
            <a:avLst/>
          </a:prstGeom>
        </p:spPr>
        <p:txBody>
          <a:bodyPr anchor="t" rtlCol="false" tIns="0" lIns="0" bIns="0" rIns="0">
            <a:spAutoFit/>
          </a:bodyPr>
          <a:lstStyle/>
          <a:p>
            <a:pPr algn="l">
              <a:lnSpc>
                <a:spcPts val="5224"/>
              </a:lnSpc>
            </a:pPr>
            <a:r>
              <a:rPr lang="en-US" sz="4353" b="true">
                <a:solidFill>
                  <a:srgbClr val="121212"/>
                </a:solidFill>
                <a:latin typeface="Arial Bold"/>
                <a:ea typeface="Arial Bold"/>
                <a:cs typeface="Arial Bold"/>
                <a:sym typeface="Arial Bold"/>
              </a:rPr>
              <a:t>PROJECT DESCRIPTION</a:t>
            </a:r>
          </a:p>
        </p:txBody>
      </p:sp>
      <p:sp>
        <p:nvSpPr>
          <p:cNvPr name="TextBox 10" id="10"/>
          <p:cNvSpPr txBox="true"/>
          <p:nvPr/>
        </p:nvSpPr>
        <p:spPr>
          <a:xfrm rot="0">
            <a:off x="1162126" y="1811141"/>
            <a:ext cx="10661228" cy="408041"/>
          </a:xfrm>
          <a:prstGeom prst="rect">
            <a:avLst/>
          </a:prstGeom>
        </p:spPr>
        <p:txBody>
          <a:bodyPr anchor="t" rtlCol="false" tIns="0" lIns="0" bIns="0" rIns="0">
            <a:spAutoFit/>
          </a:bodyPr>
          <a:lstStyle/>
          <a:p>
            <a:pPr algn="l">
              <a:lnSpc>
                <a:spcPts val="2702"/>
              </a:lnSpc>
            </a:pPr>
            <a:r>
              <a:rPr lang="en-US" sz="2251" b="true">
                <a:solidFill>
                  <a:srgbClr val="1F5A86"/>
                </a:solidFill>
                <a:latin typeface="Arial Bold"/>
                <a:ea typeface="Arial Bold"/>
                <a:cs typeface="Arial Bold"/>
                <a:sym typeface="Arial Bold"/>
              </a:rPr>
              <a:t>A decision-oriented exploratory analysis of farm performance across seasons.</a:t>
            </a:r>
          </a:p>
        </p:txBody>
      </p:sp>
      <p:grpSp>
        <p:nvGrpSpPr>
          <p:cNvPr name="Group 11" id="11"/>
          <p:cNvGrpSpPr/>
          <p:nvPr/>
        </p:nvGrpSpPr>
        <p:grpSpPr>
          <a:xfrm rot="0">
            <a:off x="1116063" y="2529916"/>
            <a:ext cx="10382745" cy="1227020"/>
            <a:chOff x="0" y="0"/>
            <a:chExt cx="13843660" cy="1636027"/>
          </a:xfrm>
        </p:grpSpPr>
        <p:sp>
          <p:nvSpPr>
            <p:cNvPr name="Freeform 12" id="12"/>
            <p:cNvSpPr/>
            <p:nvPr/>
          </p:nvSpPr>
          <p:spPr>
            <a:xfrm flipH="false" flipV="false" rot="0">
              <a:off x="0" y="0"/>
              <a:ext cx="13843634" cy="1636014"/>
            </a:xfrm>
            <a:custGeom>
              <a:avLst/>
              <a:gdLst/>
              <a:ahLst/>
              <a:cxnLst/>
              <a:rect r="r" b="b" t="t" l="l"/>
              <a:pathLst>
                <a:path h="1636014" w="13843634">
                  <a:moveTo>
                    <a:pt x="0" y="272669"/>
                  </a:moveTo>
                  <a:cubicBezTo>
                    <a:pt x="0" y="122047"/>
                    <a:pt x="122047" y="0"/>
                    <a:pt x="272669" y="0"/>
                  </a:cubicBezTo>
                  <a:lnTo>
                    <a:pt x="13570965" y="0"/>
                  </a:lnTo>
                  <a:cubicBezTo>
                    <a:pt x="13721587" y="0"/>
                    <a:pt x="13843634" y="122047"/>
                    <a:pt x="13843634" y="272669"/>
                  </a:cubicBezTo>
                  <a:lnTo>
                    <a:pt x="13843634" y="1363345"/>
                  </a:lnTo>
                  <a:cubicBezTo>
                    <a:pt x="13843634" y="1513967"/>
                    <a:pt x="13721587" y="1636014"/>
                    <a:pt x="13570965" y="1636014"/>
                  </a:cubicBezTo>
                  <a:lnTo>
                    <a:pt x="272669" y="1636014"/>
                  </a:lnTo>
                  <a:cubicBezTo>
                    <a:pt x="122047" y="1636014"/>
                    <a:pt x="0" y="1513967"/>
                    <a:pt x="0" y="1363345"/>
                  </a:cubicBezTo>
                  <a:close/>
                </a:path>
              </a:pathLst>
            </a:custGeom>
            <a:solidFill>
              <a:srgbClr val="FFFFFF"/>
            </a:solidFill>
            <a:ln w="19065" cap="sq">
              <a:solidFill>
                <a:srgbClr val="DCE4E8"/>
              </a:solidFill>
              <a:prstDash val="solid"/>
              <a:miter/>
            </a:ln>
          </p:spPr>
        </p:sp>
      </p:grpSp>
      <p:grpSp>
        <p:nvGrpSpPr>
          <p:cNvPr name="Group 13" id="13"/>
          <p:cNvGrpSpPr/>
          <p:nvPr/>
        </p:nvGrpSpPr>
        <p:grpSpPr>
          <a:xfrm rot="0">
            <a:off x="1125588" y="2539441"/>
            <a:ext cx="96088" cy="1207951"/>
            <a:chOff x="0" y="0"/>
            <a:chExt cx="128118" cy="1610601"/>
          </a:xfrm>
        </p:grpSpPr>
        <p:sp>
          <p:nvSpPr>
            <p:cNvPr name="Freeform 14" id="14"/>
            <p:cNvSpPr/>
            <p:nvPr/>
          </p:nvSpPr>
          <p:spPr>
            <a:xfrm flipH="false" flipV="false" rot="0">
              <a:off x="0" y="0"/>
              <a:ext cx="128143" cy="1610614"/>
            </a:xfrm>
            <a:custGeom>
              <a:avLst/>
              <a:gdLst/>
              <a:ahLst/>
              <a:cxnLst/>
              <a:rect r="r" b="b" t="t" l="l"/>
              <a:pathLst>
                <a:path h="1610614" w="128143">
                  <a:moveTo>
                    <a:pt x="0" y="0"/>
                  </a:moveTo>
                  <a:lnTo>
                    <a:pt x="128143" y="0"/>
                  </a:lnTo>
                  <a:lnTo>
                    <a:pt x="128143" y="1610614"/>
                  </a:lnTo>
                  <a:lnTo>
                    <a:pt x="0" y="1610614"/>
                  </a:lnTo>
                  <a:close/>
                </a:path>
              </a:pathLst>
            </a:custGeom>
            <a:solidFill>
              <a:srgbClr val="2F86C1"/>
            </a:solidFill>
          </p:spPr>
        </p:sp>
      </p:grpSp>
      <p:sp>
        <p:nvSpPr>
          <p:cNvPr name="TextBox 15" id="15"/>
          <p:cNvSpPr txBox="true"/>
          <p:nvPr/>
        </p:nvSpPr>
        <p:spPr>
          <a:xfrm rot="0">
            <a:off x="1519018" y="2799464"/>
            <a:ext cx="9700365" cy="311963"/>
          </a:xfrm>
          <a:prstGeom prst="rect">
            <a:avLst/>
          </a:prstGeom>
        </p:spPr>
        <p:txBody>
          <a:bodyPr anchor="t" rtlCol="false" tIns="0" lIns="0" bIns="0" rIns="0">
            <a:spAutoFit/>
          </a:bodyPr>
          <a:lstStyle/>
          <a:p>
            <a:pPr algn="l">
              <a:lnSpc>
                <a:spcPts val="1801"/>
              </a:lnSpc>
            </a:pPr>
            <a:r>
              <a:rPr lang="en-US" sz="1501" b="true">
                <a:solidFill>
                  <a:srgbClr val="5E6A71"/>
                </a:solidFill>
                <a:latin typeface="Arial Bold"/>
                <a:ea typeface="Arial Bold"/>
                <a:cs typeface="Arial Bold"/>
                <a:sym typeface="Arial Bold"/>
              </a:rPr>
              <a:t>Explore</a:t>
            </a:r>
          </a:p>
        </p:txBody>
      </p:sp>
      <p:sp>
        <p:nvSpPr>
          <p:cNvPr name="TextBox 16" id="16"/>
          <p:cNvSpPr txBox="true"/>
          <p:nvPr/>
        </p:nvSpPr>
        <p:spPr>
          <a:xfrm rot="0">
            <a:off x="1519018" y="3215469"/>
            <a:ext cx="9700365" cy="623468"/>
          </a:xfrm>
          <a:prstGeom prst="rect">
            <a:avLst/>
          </a:prstGeom>
        </p:spPr>
        <p:txBody>
          <a:bodyPr anchor="t" rtlCol="false" tIns="0" lIns="0" bIns="0" rIns="0">
            <a:spAutoFit/>
          </a:bodyPr>
          <a:lstStyle/>
          <a:p>
            <a:pPr algn="l">
              <a:lnSpc>
                <a:spcPts val="3963"/>
              </a:lnSpc>
            </a:pPr>
            <a:r>
              <a:rPr lang="en-US" sz="3302" b="true">
                <a:solidFill>
                  <a:srgbClr val="2F86C1"/>
                </a:solidFill>
                <a:latin typeface="Arial Bold"/>
                <a:ea typeface="Arial Bold"/>
                <a:cs typeface="Arial Bold"/>
                <a:sym typeface="Arial Bold"/>
              </a:rPr>
              <a:t>01</a:t>
            </a:r>
          </a:p>
        </p:txBody>
      </p:sp>
      <p:grpSp>
        <p:nvGrpSpPr>
          <p:cNvPr name="Group 17" id="17"/>
          <p:cNvGrpSpPr/>
          <p:nvPr/>
        </p:nvGrpSpPr>
        <p:grpSpPr>
          <a:xfrm rot="0">
            <a:off x="1116063" y="3875132"/>
            <a:ext cx="10382745" cy="1227020"/>
            <a:chOff x="0" y="0"/>
            <a:chExt cx="13843660" cy="1636027"/>
          </a:xfrm>
        </p:grpSpPr>
        <p:sp>
          <p:nvSpPr>
            <p:cNvPr name="Freeform 18" id="18"/>
            <p:cNvSpPr/>
            <p:nvPr/>
          </p:nvSpPr>
          <p:spPr>
            <a:xfrm flipH="false" flipV="false" rot="0">
              <a:off x="0" y="0"/>
              <a:ext cx="13843634" cy="1636014"/>
            </a:xfrm>
            <a:custGeom>
              <a:avLst/>
              <a:gdLst/>
              <a:ahLst/>
              <a:cxnLst/>
              <a:rect r="r" b="b" t="t" l="l"/>
              <a:pathLst>
                <a:path h="1636014" w="13843634">
                  <a:moveTo>
                    <a:pt x="0" y="272669"/>
                  </a:moveTo>
                  <a:cubicBezTo>
                    <a:pt x="0" y="122047"/>
                    <a:pt x="122047" y="0"/>
                    <a:pt x="272669" y="0"/>
                  </a:cubicBezTo>
                  <a:lnTo>
                    <a:pt x="13570965" y="0"/>
                  </a:lnTo>
                  <a:cubicBezTo>
                    <a:pt x="13721587" y="0"/>
                    <a:pt x="13843634" y="122047"/>
                    <a:pt x="13843634" y="272669"/>
                  </a:cubicBezTo>
                  <a:lnTo>
                    <a:pt x="13843634" y="1363345"/>
                  </a:lnTo>
                  <a:cubicBezTo>
                    <a:pt x="13843634" y="1513967"/>
                    <a:pt x="13721587" y="1636014"/>
                    <a:pt x="13570965" y="1636014"/>
                  </a:cubicBezTo>
                  <a:lnTo>
                    <a:pt x="272669" y="1636014"/>
                  </a:lnTo>
                  <a:cubicBezTo>
                    <a:pt x="122047" y="1636014"/>
                    <a:pt x="0" y="1513967"/>
                    <a:pt x="0" y="1363345"/>
                  </a:cubicBezTo>
                  <a:close/>
                </a:path>
              </a:pathLst>
            </a:custGeom>
            <a:solidFill>
              <a:srgbClr val="FFFFFF"/>
            </a:solidFill>
            <a:ln w="19065" cap="sq">
              <a:solidFill>
                <a:srgbClr val="DCE4E8"/>
              </a:solidFill>
              <a:prstDash val="solid"/>
              <a:miter/>
            </a:ln>
          </p:spPr>
        </p:sp>
      </p:grpSp>
      <p:grpSp>
        <p:nvGrpSpPr>
          <p:cNvPr name="Group 19" id="19"/>
          <p:cNvGrpSpPr/>
          <p:nvPr/>
        </p:nvGrpSpPr>
        <p:grpSpPr>
          <a:xfrm rot="0">
            <a:off x="1125588" y="3884666"/>
            <a:ext cx="96088" cy="1207951"/>
            <a:chOff x="0" y="0"/>
            <a:chExt cx="128118" cy="1610601"/>
          </a:xfrm>
        </p:grpSpPr>
        <p:sp>
          <p:nvSpPr>
            <p:cNvPr name="Freeform 20" id="20"/>
            <p:cNvSpPr/>
            <p:nvPr/>
          </p:nvSpPr>
          <p:spPr>
            <a:xfrm flipH="false" flipV="false" rot="0">
              <a:off x="0" y="0"/>
              <a:ext cx="128143" cy="1610614"/>
            </a:xfrm>
            <a:custGeom>
              <a:avLst/>
              <a:gdLst/>
              <a:ahLst/>
              <a:cxnLst/>
              <a:rect r="r" b="b" t="t" l="l"/>
              <a:pathLst>
                <a:path h="1610614" w="128143">
                  <a:moveTo>
                    <a:pt x="0" y="0"/>
                  </a:moveTo>
                  <a:lnTo>
                    <a:pt x="128143" y="0"/>
                  </a:lnTo>
                  <a:lnTo>
                    <a:pt x="128143" y="1610614"/>
                  </a:lnTo>
                  <a:lnTo>
                    <a:pt x="0" y="1610614"/>
                  </a:lnTo>
                  <a:close/>
                </a:path>
              </a:pathLst>
            </a:custGeom>
            <a:solidFill>
              <a:srgbClr val="41B45A"/>
            </a:solidFill>
          </p:spPr>
        </p:sp>
      </p:grpSp>
      <p:sp>
        <p:nvSpPr>
          <p:cNvPr name="TextBox 21" id="21"/>
          <p:cNvSpPr txBox="true"/>
          <p:nvPr/>
        </p:nvSpPr>
        <p:spPr>
          <a:xfrm rot="0">
            <a:off x="1519018" y="4144689"/>
            <a:ext cx="9700365" cy="311963"/>
          </a:xfrm>
          <a:prstGeom prst="rect">
            <a:avLst/>
          </a:prstGeom>
        </p:spPr>
        <p:txBody>
          <a:bodyPr anchor="t" rtlCol="false" tIns="0" lIns="0" bIns="0" rIns="0">
            <a:spAutoFit/>
          </a:bodyPr>
          <a:lstStyle/>
          <a:p>
            <a:pPr algn="l">
              <a:lnSpc>
                <a:spcPts val="1801"/>
              </a:lnSpc>
            </a:pPr>
            <a:r>
              <a:rPr lang="en-US" sz="1501" b="true">
                <a:solidFill>
                  <a:srgbClr val="5E6A71"/>
                </a:solidFill>
                <a:latin typeface="Arial Bold"/>
                <a:ea typeface="Arial Bold"/>
                <a:cs typeface="Arial Bold"/>
                <a:sym typeface="Arial Bold"/>
              </a:rPr>
              <a:t>Clean</a:t>
            </a:r>
          </a:p>
        </p:txBody>
      </p:sp>
      <p:sp>
        <p:nvSpPr>
          <p:cNvPr name="TextBox 22" id="22"/>
          <p:cNvSpPr txBox="true"/>
          <p:nvPr/>
        </p:nvSpPr>
        <p:spPr>
          <a:xfrm rot="0">
            <a:off x="1519018" y="4560694"/>
            <a:ext cx="9700365" cy="623468"/>
          </a:xfrm>
          <a:prstGeom prst="rect">
            <a:avLst/>
          </a:prstGeom>
        </p:spPr>
        <p:txBody>
          <a:bodyPr anchor="t" rtlCol="false" tIns="0" lIns="0" bIns="0" rIns="0">
            <a:spAutoFit/>
          </a:bodyPr>
          <a:lstStyle/>
          <a:p>
            <a:pPr algn="l">
              <a:lnSpc>
                <a:spcPts val="3963"/>
              </a:lnSpc>
            </a:pPr>
            <a:r>
              <a:rPr lang="en-US" sz="3302" b="true">
                <a:solidFill>
                  <a:srgbClr val="41B45A"/>
                </a:solidFill>
                <a:latin typeface="Arial Bold"/>
                <a:ea typeface="Arial Bold"/>
                <a:cs typeface="Arial Bold"/>
                <a:sym typeface="Arial Bold"/>
              </a:rPr>
              <a:t>02</a:t>
            </a:r>
          </a:p>
        </p:txBody>
      </p:sp>
      <p:grpSp>
        <p:nvGrpSpPr>
          <p:cNvPr name="Group 23" id="23"/>
          <p:cNvGrpSpPr/>
          <p:nvPr/>
        </p:nvGrpSpPr>
        <p:grpSpPr>
          <a:xfrm rot="0">
            <a:off x="1116063" y="5220348"/>
            <a:ext cx="10382745" cy="1227020"/>
            <a:chOff x="0" y="0"/>
            <a:chExt cx="13843660" cy="1636027"/>
          </a:xfrm>
        </p:grpSpPr>
        <p:sp>
          <p:nvSpPr>
            <p:cNvPr name="Freeform 24" id="24"/>
            <p:cNvSpPr/>
            <p:nvPr/>
          </p:nvSpPr>
          <p:spPr>
            <a:xfrm flipH="false" flipV="false" rot="0">
              <a:off x="0" y="0"/>
              <a:ext cx="13843634" cy="1636014"/>
            </a:xfrm>
            <a:custGeom>
              <a:avLst/>
              <a:gdLst/>
              <a:ahLst/>
              <a:cxnLst/>
              <a:rect r="r" b="b" t="t" l="l"/>
              <a:pathLst>
                <a:path h="1636014" w="13843634">
                  <a:moveTo>
                    <a:pt x="0" y="272669"/>
                  </a:moveTo>
                  <a:cubicBezTo>
                    <a:pt x="0" y="122047"/>
                    <a:pt x="122047" y="0"/>
                    <a:pt x="272669" y="0"/>
                  </a:cubicBezTo>
                  <a:lnTo>
                    <a:pt x="13570965" y="0"/>
                  </a:lnTo>
                  <a:cubicBezTo>
                    <a:pt x="13721587" y="0"/>
                    <a:pt x="13843634" y="122047"/>
                    <a:pt x="13843634" y="272669"/>
                  </a:cubicBezTo>
                  <a:lnTo>
                    <a:pt x="13843634" y="1363345"/>
                  </a:lnTo>
                  <a:cubicBezTo>
                    <a:pt x="13843634" y="1513967"/>
                    <a:pt x="13721587" y="1636014"/>
                    <a:pt x="13570965" y="1636014"/>
                  </a:cubicBezTo>
                  <a:lnTo>
                    <a:pt x="272669" y="1636014"/>
                  </a:lnTo>
                  <a:cubicBezTo>
                    <a:pt x="122047" y="1636014"/>
                    <a:pt x="0" y="1513967"/>
                    <a:pt x="0" y="1363345"/>
                  </a:cubicBezTo>
                  <a:close/>
                </a:path>
              </a:pathLst>
            </a:custGeom>
            <a:solidFill>
              <a:srgbClr val="FFFFFF"/>
            </a:solidFill>
            <a:ln w="19065" cap="sq">
              <a:solidFill>
                <a:srgbClr val="DCE4E8"/>
              </a:solidFill>
              <a:prstDash val="solid"/>
              <a:miter/>
            </a:ln>
          </p:spPr>
        </p:sp>
      </p:grpSp>
      <p:grpSp>
        <p:nvGrpSpPr>
          <p:cNvPr name="Group 25" id="25"/>
          <p:cNvGrpSpPr/>
          <p:nvPr/>
        </p:nvGrpSpPr>
        <p:grpSpPr>
          <a:xfrm rot="0">
            <a:off x="1125588" y="5229882"/>
            <a:ext cx="96088" cy="1207951"/>
            <a:chOff x="0" y="0"/>
            <a:chExt cx="128118" cy="1610601"/>
          </a:xfrm>
        </p:grpSpPr>
        <p:sp>
          <p:nvSpPr>
            <p:cNvPr name="Freeform 26" id="26"/>
            <p:cNvSpPr/>
            <p:nvPr/>
          </p:nvSpPr>
          <p:spPr>
            <a:xfrm flipH="false" flipV="false" rot="0">
              <a:off x="0" y="0"/>
              <a:ext cx="128143" cy="1610614"/>
            </a:xfrm>
            <a:custGeom>
              <a:avLst/>
              <a:gdLst/>
              <a:ahLst/>
              <a:cxnLst/>
              <a:rect r="r" b="b" t="t" l="l"/>
              <a:pathLst>
                <a:path h="1610614" w="128143">
                  <a:moveTo>
                    <a:pt x="0" y="0"/>
                  </a:moveTo>
                  <a:lnTo>
                    <a:pt x="128143" y="0"/>
                  </a:lnTo>
                  <a:lnTo>
                    <a:pt x="128143" y="1610614"/>
                  </a:lnTo>
                  <a:lnTo>
                    <a:pt x="0" y="1610614"/>
                  </a:lnTo>
                  <a:close/>
                </a:path>
              </a:pathLst>
            </a:custGeom>
            <a:solidFill>
              <a:srgbClr val="55C3E6"/>
            </a:solidFill>
          </p:spPr>
        </p:sp>
      </p:grpSp>
      <p:sp>
        <p:nvSpPr>
          <p:cNvPr name="TextBox 27" id="27"/>
          <p:cNvSpPr txBox="true"/>
          <p:nvPr/>
        </p:nvSpPr>
        <p:spPr>
          <a:xfrm rot="0">
            <a:off x="1519018" y="5489905"/>
            <a:ext cx="9700365" cy="311963"/>
          </a:xfrm>
          <a:prstGeom prst="rect">
            <a:avLst/>
          </a:prstGeom>
        </p:spPr>
        <p:txBody>
          <a:bodyPr anchor="t" rtlCol="false" tIns="0" lIns="0" bIns="0" rIns="0">
            <a:spAutoFit/>
          </a:bodyPr>
          <a:lstStyle/>
          <a:p>
            <a:pPr algn="l">
              <a:lnSpc>
                <a:spcPts val="1801"/>
              </a:lnSpc>
            </a:pPr>
            <a:r>
              <a:rPr lang="en-US" sz="1501" b="true">
                <a:solidFill>
                  <a:srgbClr val="5E6A71"/>
                </a:solidFill>
                <a:latin typeface="Arial Bold"/>
                <a:ea typeface="Arial Bold"/>
                <a:cs typeface="Arial Bold"/>
                <a:sym typeface="Arial Bold"/>
              </a:rPr>
              <a:t>Engineer</a:t>
            </a:r>
          </a:p>
        </p:txBody>
      </p:sp>
      <p:sp>
        <p:nvSpPr>
          <p:cNvPr name="TextBox 28" id="28"/>
          <p:cNvSpPr txBox="true"/>
          <p:nvPr/>
        </p:nvSpPr>
        <p:spPr>
          <a:xfrm rot="0">
            <a:off x="1519018" y="5905910"/>
            <a:ext cx="9700365" cy="623468"/>
          </a:xfrm>
          <a:prstGeom prst="rect">
            <a:avLst/>
          </a:prstGeom>
        </p:spPr>
        <p:txBody>
          <a:bodyPr anchor="t" rtlCol="false" tIns="0" lIns="0" bIns="0" rIns="0">
            <a:spAutoFit/>
          </a:bodyPr>
          <a:lstStyle/>
          <a:p>
            <a:pPr algn="l">
              <a:lnSpc>
                <a:spcPts val="3963"/>
              </a:lnSpc>
            </a:pPr>
            <a:r>
              <a:rPr lang="en-US" sz="3302" b="true">
                <a:solidFill>
                  <a:srgbClr val="55C3E6"/>
                </a:solidFill>
                <a:latin typeface="Arial Bold"/>
                <a:ea typeface="Arial Bold"/>
                <a:cs typeface="Arial Bold"/>
                <a:sym typeface="Arial Bold"/>
              </a:rPr>
              <a:t>03</a:t>
            </a:r>
          </a:p>
        </p:txBody>
      </p:sp>
      <p:grpSp>
        <p:nvGrpSpPr>
          <p:cNvPr name="Group 29" id="29"/>
          <p:cNvGrpSpPr/>
          <p:nvPr/>
        </p:nvGrpSpPr>
        <p:grpSpPr>
          <a:xfrm rot="0">
            <a:off x="1116063" y="6565573"/>
            <a:ext cx="10382745" cy="1227020"/>
            <a:chOff x="0" y="0"/>
            <a:chExt cx="13843660" cy="1636027"/>
          </a:xfrm>
        </p:grpSpPr>
        <p:sp>
          <p:nvSpPr>
            <p:cNvPr name="Freeform 30" id="30"/>
            <p:cNvSpPr/>
            <p:nvPr/>
          </p:nvSpPr>
          <p:spPr>
            <a:xfrm flipH="false" flipV="false" rot="0">
              <a:off x="0" y="0"/>
              <a:ext cx="13843634" cy="1636014"/>
            </a:xfrm>
            <a:custGeom>
              <a:avLst/>
              <a:gdLst/>
              <a:ahLst/>
              <a:cxnLst/>
              <a:rect r="r" b="b" t="t" l="l"/>
              <a:pathLst>
                <a:path h="1636014" w="13843634">
                  <a:moveTo>
                    <a:pt x="0" y="272669"/>
                  </a:moveTo>
                  <a:cubicBezTo>
                    <a:pt x="0" y="122047"/>
                    <a:pt x="122047" y="0"/>
                    <a:pt x="272669" y="0"/>
                  </a:cubicBezTo>
                  <a:lnTo>
                    <a:pt x="13570965" y="0"/>
                  </a:lnTo>
                  <a:cubicBezTo>
                    <a:pt x="13721587" y="0"/>
                    <a:pt x="13843634" y="122047"/>
                    <a:pt x="13843634" y="272669"/>
                  </a:cubicBezTo>
                  <a:lnTo>
                    <a:pt x="13843634" y="1363345"/>
                  </a:lnTo>
                  <a:cubicBezTo>
                    <a:pt x="13843634" y="1513967"/>
                    <a:pt x="13721587" y="1636014"/>
                    <a:pt x="13570965" y="1636014"/>
                  </a:cubicBezTo>
                  <a:lnTo>
                    <a:pt x="272669" y="1636014"/>
                  </a:lnTo>
                  <a:cubicBezTo>
                    <a:pt x="122047" y="1636014"/>
                    <a:pt x="0" y="1513967"/>
                    <a:pt x="0" y="1363345"/>
                  </a:cubicBezTo>
                  <a:close/>
                </a:path>
              </a:pathLst>
            </a:custGeom>
            <a:solidFill>
              <a:srgbClr val="FFFFFF"/>
            </a:solidFill>
            <a:ln w="19065" cap="sq">
              <a:solidFill>
                <a:srgbClr val="DCE4E8"/>
              </a:solidFill>
              <a:prstDash val="solid"/>
              <a:miter/>
            </a:ln>
          </p:spPr>
        </p:sp>
      </p:grpSp>
      <p:grpSp>
        <p:nvGrpSpPr>
          <p:cNvPr name="Group 31" id="31"/>
          <p:cNvGrpSpPr/>
          <p:nvPr/>
        </p:nvGrpSpPr>
        <p:grpSpPr>
          <a:xfrm rot="0">
            <a:off x="1125588" y="6575098"/>
            <a:ext cx="96088" cy="1207951"/>
            <a:chOff x="0" y="0"/>
            <a:chExt cx="128118" cy="1610601"/>
          </a:xfrm>
        </p:grpSpPr>
        <p:sp>
          <p:nvSpPr>
            <p:cNvPr name="Freeform 32" id="32"/>
            <p:cNvSpPr/>
            <p:nvPr/>
          </p:nvSpPr>
          <p:spPr>
            <a:xfrm flipH="false" flipV="false" rot="0">
              <a:off x="0" y="0"/>
              <a:ext cx="128143" cy="1610614"/>
            </a:xfrm>
            <a:custGeom>
              <a:avLst/>
              <a:gdLst/>
              <a:ahLst/>
              <a:cxnLst/>
              <a:rect r="r" b="b" t="t" l="l"/>
              <a:pathLst>
                <a:path h="1610614" w="128143">
                  <a:moveTo>
                    <a:pt x="0" y="0"/>
                  </a:moveTo>
                  <a:lnTo>
                    <a:pt x="128143" y="0"/>
                  </a:lnTo>
                  <a:lnTo>
                    <a:pt x="128143" y="1610614"/>
                  </a:lnTo>
                  <a:lnTo>
                    <a:pt x="0" y="1610614"/>
                  </a:lnTo>
                  <a:close/>
                </a:path>
              </a:pathLst>
            </a:custGeom>
            <a:solidFill>
              <a:srgbClr val="1F5A86"/>
            </a:solidFill>
          </p:spPr>
        </p:sp>
      </p:grpSp>
      <p:sp>
        <p:nvSpPr>
          <p:cNvPr name="TextBox 33" id="33"/>
          <p:cNvSpPr txBox="true"/>
          <p:nvPr/>
        </p:nvSpPr>
        <p:spPr>
          <a:xfrm rot="0">
            <a:off x="1519018" y="6835121"/>
            <a:ext cx="9700365" cy="311963"/>
          </a:xfrm>
          <a:prstGeom prst="rect">
            <a:avLst/>
          </a:prstGeom>
        </p:spPr>
        <p:txBody>
          <a:bodyPr anchor="t" rtlCol="false" tIns="0" lIns="0" bIns="0" rIns="0">
            <a:spAutoFit/>
          </a:bodyPr>
          <a:lstStyle/>
          <a:p>
            <a:pPr algn="l">
              <a:lnSpc>
                <a:spcPts val="1801"/>
              </a:lnSpc>
            </a:pPr>
            <a:r>
              <a:rPr lang="en-US" sz="1501" b="true">
                <a:solidFill>
                  <a:srgbClr val="5E6A71"/>
                </a:solidFill>
                <a:latin typeface="Arial Bold"/>
                <a:ea typeface="Arial Bold"/>
                <a:cs typeface="Arial Bold"/>
                <a:sym typeface="Arial Bold"/>
              </a:rPr>
              <a:t>Compare</a:t>
            </a:r>
          </a:p>
        </p:txBody>
      </p:sp>
      <p:sp>
        <p:nvSpPr>
          <p:cNvPr name="TextBox 34" id="34"/>
          <p:cNvSpPr txBox="true"/>
          <p:nvPr/>
        </p:nvSpPr>
        <p:spPr>
          <a:xfrm rot="0">
            <a:off x="1519018" y="7251125"/>
            <a:ext cx="9700365" cy="623468"/>
          </a:xfrm>
          <a:prstGeom prst="rect">
            <a:avLst/>
          </a:prstGeom>
        </p:spPr>
        <p:txBody>
          <a:bodyPr anchor="t" rtlCol="false" tIns="0" lIns="0" bIns="0" rIns="0">
            <a:spAutoFit/>
          </a:bodyPr>
          <a:lstStyle/>
          <a:p>
            <a:pPr algn="l">
              <a:lnSpc>
                <a:spcPts val="3963"/>
              </a:lnSpc>
            </a:pPr>
            <a:r>
              <a:rPr lang="en-US" sz="3302" b="true">
                <a:solidFill>
                  <a:srgbClr val="1F5A86"/>
                </a:solidFill>
                <a:latin typeface="Arial Bold"/>
                <a:ea typeface="Arial Bold"/>
                <a:cs typeface="Arial Bold"/>
                <a:sym typeface="Arial Bold"/>
              </a:rPr>
              <a:t>04</a:t>
            </a:r>
          </a:p>
        </p:txBody>
      </p:sp>
      <p:grpSp>
        <p:nvGrpSpPr>
          <p:cNvPr name="Group 35" id="35"/>
          <p:cNvGrpSpPr/>
          <p:nvPr/>
        </p:nvGrpSpPr>
        <p:grpSpPr>
          <a:xfrm rot="0">
            <a:off x="1116063" y="7910789"/>
            <a:ext cx="10382745" cy="1227020"/>
            <a:chOff x="0" y="0"/>
            <a:chExt cx="13843660" cy="1636027"/>
          </a:xfrm>
        </p:grpSpPr>
        <p:sp>
          <p:nvSpPr>
            <p:cNvPr name="Freeform 36" id="36"/>
            <p:cNvSpPr/>
            <p:nvPr/>
          </p:nvSpPr>
          <p:spPr>
            <a:xfrm flipH="false" flipV="false" rot="0">
              <a:off x="0" y="0"/>
              <a:ext cx="13843634" cy="1636014"/>
            </a:xfrm>
            <a:custGeom>
              <a:avLst/>
              <a:gdLst/>
              <a:ahLst/>
              <a:cxnLst/>
              <a:rect r="r" b="b" t="t" l="l"/>
              <a:pathLst>
                <a:path h="1636014" w="13843634">
                  <a:moveTo>
                    <a:pt x="0" y="272669"/>
                  </a:moveTo>
                  <a:cubicBezTo>
                    <a:pt x="0" y="122047"/>
                    <a:pt x="122047" y="0"/>
                    <a:pt x="272669" y="0"/>
                  </a:cubicBezTo>
                  <a:lnTo>
                    <a:pt x="13570965" y="0"/>
                  </a:lnTo>
                  <a:cubicBezTo>
                    <a:pt x="13721587" y="0"/>
                    <a:pt x="13843634" y="122047"/>
                    <a:pt x="13843634" y="272669"/>
                  </a:cubicBezTo>
                  <a:lnTo>
                    <a:pt x="13843634" y="1363345"/>
                  </a:lnTo>
                  <a:cubicBezTo>
                    <a:pt x="13843634" y="1513967"/>
                    <a:pt x="13721587" y="1636014"/>
                    <a:pt x="13570965" y="1636014"/>
                  </a:cubicBezTo>
                  <a:lnTo>
                    <a:pt x="272669" y="1636014"/>
                  </a:lnTo>
                  <a:cubicBezTo>
                    <a:pt x="122047" y="1636014"/>
                    <a:pt x="0" y="1513967"/>
                    <a:pt x="0" y="1363345"/>
                  </a:cubicBezTo>
                  <a:close/>
                </a:path>
              </a:pathLst>
            </a:custGeom>
            <a:solidFill>
              <a:srgbClr val="FFFFFF"/>
            </a:solidFill>
            <a:ln w="19065" cap="sq">
              <a:solidFill>
                <a:srgbClr val="DCE4E8"/>
              </a:solidFill>
              <a:prstDash val="solid"/>
              <a:miter/>
            </a:ln>
          </p:spPr>
        </p:sp>
      </p:grpSp>
      <p:grpSp>
        <p:nvGrpSpPr>
          <p:cNvPr name="Group 37" id="37"/>
          <p:cNvGrpSpPr/>
          <p:nvPr/>
        </p:nvGrpSpPr>
        <p:grpSpPr>
          <a:xfrm rot="0">
            <a:off x="1125588" y="7920323"/>
            <a:ext cx="96088" cy="1207951"/>
            <a:chOff x="0" y="0"/>
            <a:chExt cx="128118" cy="1610601"/>
          </a:xfrm>
        </p:grpSpPr>
        <p:sp>
          <p:nvSpPr>
            <p:cNvPr name="Freeform 38" id="38"/>
            <p:cNvSpPr/>
            <p:nvPr/>
          </p:nvSpPr>
          <p:spPr>
            <a:xfrm flipH="false" flipV="false" rot="0">
              <a:off x="0" y="0"/>
              <a:ext cx="128143" cy="1610614"/>
            </a:xfrm>
            <a:custGeom>
              <a:avLst/>
              <a:gdLst/>
              <a:ahLst/>
              <a:cxnLst/>
              <a:rect r="r" b="b" t="t" l="l"/>
              <a:pathLst>
                <a:path h="1610614" w="128143">
                  <a:moveTo>
                    <a:pt x="0" y="0"/>
                  </a:moveTo>
                  <a:lnTo>
                    <a:pt x="128143" y="0"/>
                  </a:lnTo>
                  <a:lnTo>
                    <a:pt x="128143" y="1610614"/>
                  </a:lnTo>
                  <a:lnTo>
                    <a:pt x="0" y="1610614"/>
                  </a:lnTo>
                  <a:close/>
                </a:path>
              </a:pathLst>
            </a:custGeom>
            <a:solidFill>
              <a:srgbClr val="3CBF9B"/>
            </a:solidFill>
          </p:spPr>
        </p:sp>
      </p:grpSp>
      <p:sp>
        <p:nvSpPr>
          <p:cNvPr name="TextBox 39" id="39"/>
          <p:cNvSpPr txBox="true"/>
          <p:nvPr/>
        </p:nvSpPr>
        <p:spPr>
          <a:xfrm rot="0">
            <a:off x="1519018" y="8180346"/>
            <a:ext cx="9700365" cy="311963"/>
          </a:xfrm>
          <a:prstGeom prst="rect">
            <a:avLst/>
          </a:prstGeom>
        </p:spPr>
        <p:txBody>
          <a:bodyPr anchor="t" rtlCol="false" tIns="0" lIns="0" bIns="0" rIns="0">
            <a:spAutoFit/>
          </a:bodyPr>
          <a:lstStyle/>
          <a:p>
            <a:pPr algn="l">
              <a:lnSpc>
                <a:spcPts val="1801"/>
              </a:lnSpc>
            </a:pPr>
            <a:r>
              <a:rPr lang="en-US" sz="1501" b="true">
                <a:solidFill>
                  <a:srgbClr val="5E6A71"/>
                </a:solidFill>
                <a:latin typeface="Arial Bold"/>
                <a:ea typeface="Arial Bold"/>
                <a:cs typeface="Arial Bold"/>
                <a:sym typeface="Arial Bold"/>
              </a:rPr>
              <a:t>Explain</a:t>
            </a:r>
          </a:p>
        </p:txBody>
      </p:sp>
      <p:sp>
        <p:nvSpPr>
          <p:cNvPr name="TextBox 40" id="40"/>
          <p:cNvSpPr txBox="true"/>
          <p:nvPr/>
        </p:nvSpPr>
        <p:spPr>
          <a:xfrm rot="0">
            <a:off x="1519018" y="8596351"/>
            <a:ext cx="9700365" cy="623468"/>
          </a:xfrm>
          <a:prstGeom prst="rect">
            <a:avLst/>
          </a:prstGeom>
        </p:spPr>
        <p:txBody>
          <a:bodyPr anchor="t" rtlCol="false" tIns="0" lIns="0" bIns="0" rIns="0">
            <a:spAutoFit/>
          </a:bodyPr>
          <a:lstStyle/>
          <a:p>
            <a:pPr algn="l">
              <a:lnSpc>
                <a:spcPts val="3963"/>
              </a:lnSpc>
            </a:pPr>
            <a:r>
              <a:rPr lang="en-US" sz="3302" b="true">
                <a:solidFill>
                  <a:srgbClr val="3CBF9B"/>
                </a:solidFill>
                <a:latin typeface="Arial Bold"/>
                <a:ea typeface="Arial Bold"/>
                <a:cs typeface="Arial Bold"/>
                <a:sym typeface="Arial Bold"/>
              </a:rPr>
              <a:t>05</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3726725" y="0"/>
            <a:ext cx="4575115" cy="10295039"/>
            <a:chOff x="0" y="0"/>
            <a:chExt cx="6100153" cy="13726719"/>
          </a:xfrm>
        </p:grpSpPr>
        <p:sp>
          <p:nvSpPr>
            <p:cNvPr name="Freeform 3" id="3" descr="agri_template_right_strip.png"/>
            <p:cNvSpPr/>
            <p:nvPr/>
          </p:nvSpPr>
          <p:spPr>
            <a:xfrm flipH="false" flipV="false" rot="0">
              <a:off x="0" y="0"/>
              <a:ext cx="6100191" cy="13726668"/>
            </a:xfrm>
            <a:custGeom>
              <a:avLst/>
              <a:gdLst/>
              <a:ahLst/>
              <a:cxnLst/>
              <a:rect r="r" b="b" t="t" l="l"/>
              <a:pathLst>
                <a:path h="13726668" w="6100191">
                  <a:moveTo>
                    <a:pt x="0" y="0"/>
                  </a:moveTo>
                  <a:lnTo>
                    <a:pt x="6100191" y="0"/>
                  </a:lnTo>
                  <a:lnTo>
                    <a:pt x="6100191" y="13726668"/>
                  </a:lnTo>
                  <a:lnTo>
                    <a:pt x="0" y="13726668"/>
                  </a:lnTo>
                  <a:lnTo>
                    <a:pt x="0" y="0"/>
                  </a:lnTo>
                  <a:close/>
                </a:path>
              </a:pathLst>
            </a:custGeom>
            <a:blipFill>
              <a:blip r:embed="rId2"/>
              <a:stretch>
                <a:fillRect l="-4" t="0" r="-4" b="0"/>
              </a:stretch>
            </a:blipFill>
          </p:spPr>
        </p:sp>
      </p:grpSp>
      <p:grpSp>
        <p:nvGrpSpPr>
          <p:cNvPr name="Group 4" id="4"/>
          <p:cNvGrpSpPr/>
          <p:nvPr/>
        </p:nvGrpSpPr>
        <p:grpSpPr>
          <a:xfrm rot="0">
            <a:off x="-466706" y="6890814"/>
            <a:ext cx="1372676" cy="3706216"/>
            <a:chOff x="0" y="0"/>
            <a:chExt cx="1830235" cy="4941621"/>
          </a:xfrm>
        </p:grpSpPr>
        <p:sp>
          <p:nvSpPr>
            <p:cNvPr name="Freeform 5" id="5"/>
            <p:cNvSpPr/>
            <p:nvPr/>
          </p:nvSpPr>
          <p:spPr>
            <a:xfrm flipH="false" flipV="false" rot="0">
              <a:off x="0" y="0"/>
              <a:ext cx="1830324" cy="4941570"/>
            </a:xfrm>
            <a:custGeom>
              <a:avLst/>
              <a:gdLst/>
              <a:ahLst/>
              <a:cxnLst/>
              <a:rect r="r" b="b" t="t" l="l"/>
              <a:pathLst>
                <a:path h="4941570" w="1830324">
                  <a:moveTo>
                    <a:pt x="0" y="4941570"/>
                  </a:moveTo>
                  <a:lnTo>
                    <a:pt x="915162" y="0"/>
                  </a:lnTo>
                  <a:lnTo>
                    <a:pt x="1830324" y="4941570"/>
                  </a:lnTo>
                  <a:close/>
                </a:path>
              </a:pathLst>
            </a:custGeom>
            <a:solidFill>
              <a:srgbClr val="55C3E6"/>
            </a:solidFill>
          </p:spPr>
        </p:sp>
      </p:grpSp>
      <p:grpSp>
        <p:nvGrpSpPr>
          <p:cNvPr name="Group 6" id="6"/>
          <p:cNvGrpSpPr/>
          <p:nvPr/>
        </p:nvGrpSpPr>
        <p:grpSpPr>
          <a:xfrm rot="0">
            <a:off x="9883245" y="2086461"/>
            <a:ext cx="274539" cy="274539"/>
            <a:chOff x="0" y="0"/>
            <a:chExt cx="366052" cy="366052"/>
          </a:xfrm>
        </p:grpSpPr>
        <p:sp>
          <p:nvSpPr>
            <p:cNvPr name="Freeform 7" id="7"/>
            <p:cNvSpPr/>
            <p:nvPr/>
          </p:nvSpPr>
          <p:spPr>
            <a:xfrm flipH="false" flipV="false" rot="0">
              <a:off x="0" y="0"/>
              <a:ext cx="366014" cy="366014"/>
            </a:xfrm>
            <a:custGeom>
              <a:avLst/>
              <a:gdLst/>
              <a:ahLst/>
              <a:cxnLst/>
              <a:rect r="r" b="b" t="t" l="l"/>
              <a:pathLst>
                <a:path h="366014" w="366014">
                  <a:moveTo>
                    <a:pt x="0" y="0"/>
                  </a:moveTo>
                  <a:lnTo>
                    <a:pt x="366014" y="0"/>
                  </a:lnTo>
                  <a:lnTo>
                    <a:pt x="366014" y="366014"/>
                  </a:lnTo>
                  <a:lnTo>
                    <a:pt x="0" y="366014"/>
                  </a:lnTo>
                  <a:close/>
                </a:path>
              </a:pathLst>
            </a:custGeom>
            <a:solidFill>
              <a:srgbClr val="2F86C1"/>
            </a:solidFill>
          </p:spPr>
        </p:sp>
      </p:grpSp>
      <p:sp>
        <p:nvSpPr>
          <p:cNvPr name="TextBox 8" id="8"/>
          <p:cNvSpPr txBox="true"/>
          <p:nvPr/>
        </p:nvSpPr>
        <p:spPr>
          <a:xfrm rot="0">
            <a:off x="13022018" y="9713538"/>
            <a:ext cx="297551" cy="165163"/>
          </a:xfrm>
          <a:prstGeom prst="rect">
            <a:avLst/>
          </a:prstGeom>
        </p:spPr>
        <p:txBody>
          <a:bodyPr anchor="t" rtlCol="false" tIns="0" lIns="0" bIns="0" rIns="0">
            <a:spAutoFit/>
          </a:bodyPr>
          <a:lstStyle/>
          <a:p>
            <a:pPr algn="r">
              <a:lnSpc>
                <a:spcPts val="1260"/>
              </a:lnSpc>
            </a:pPr>
            <a:r>
              <a:rPr lang="en-US" sz="1050">
                <a:solidFill>
                  <a:srgbClr val="5E6A71"/>
                </a:solidFill>
                <a:latin typeface="Arial"/>
                <a:ea typeface="Arial"/>
                <a:cs typeface="Arial"/>
                <a:sym typeface="Arial"/>
              </a:rPr>
              <a:t>04</a:t>
            </a:r>
          </a:p>
        </p:txBody>
      </p:sp>
      <p:sp>
        <p:nvSpPr>
          <p:cNvPr name="TextBox 9" id="9"/>
          <p:cNvSpPr txBox="true"/>
          <p:nvPr/>
        </p:nvSpPr>
        <p:spPr>
          <a:xfrm rot="0">
            <a:off x="1079764" y="685552"/>
            <a:ext cx="11896639" cy="819845"/>
          </a:xfrm>
          <a:prstGeom prst="rect">
            <a:avLst/>
          </a:prstGeom>
        </p:spPr>
        <p:txBody>
          <a:bodyPr anchor="t" rtlCol="false" tIns="0" lIns="0" bIns="0" rIns="0">
            <a:spAutoFit/>
          </a:bodyPr>
          <a:lstStyle/>
          <a:p>
            <a:pPr algn="l">
              <a:lnSpc>
                <a:spcPts val="5224"/>
              </a:lnSpc>
            </a:pPr>
            <a:r>
              <a:rPr lang="en-US" sz="4353" b="true">
                <a:solidFill>
                  <a:srgbClr val="121212"/>
                </a:solidFill>
                <a:latin typeface="Arial Bold"/>
                <a:ea typeface="Arial Bold"/>
                <a:cs typeface="Arial Bold"/>
                <a:sym typeface="Arial Bold"/>
              </a:rPr>
              <a:t>WHO ARE THE END USERS?</a:t>
            </a:r>
          </a:p>
        </p:txBody>
      </p:sp>
      <p:grpSp>
        <p:nvGrpSpPr>
          <p:cNvPr name="Group 10" id="10"/>
          <p:cNvGrpSpPr/>
          <p:nvPr/>
        </p:nvGrpSpPr>
        <p:grpSpPr>
          <a:xfrm rot="0">
            <a:off x="1116063" y="2118112"/>
            <a:ext cx="4411618" cy="2558510"/>
            <a:chOff x="0" y="0"/>
            <a:chExt cx="5882157" cy="3411347"/>
          </a:xfrm>
        </p:grpSpPr>
        <p:sp>
          <p:nvSpPr>
            <p:cNvPr name="Freeform 11" id="11"/>
            <p:cNvSpPr/>
            <p:nvPr/>
          </p:nvSpPr>
          <p:spPr>
            <a:xfrm flipH="false" flipV="false" rot="0">
              <a:off x="0" y="0"/>
              <a:ext cx="5882132" cy="3411347"/>
            </a:xfrm>
            <a:custGeom>
              <a:avLst/>
              <a:gdLst/>
              <a:ahLst/>
              <a:cxnLst/>
              <a:rect r="r" b="b" t="t" l="l"/>
              <a:pathLst>
                <a:path h="3411347" w="5882132">
                  <a:moveTo>
                    <a:pt x="0" y="568579"/>
                  </a:moveTo>
                  <a:cubicBezTo>
                    <a:pt x="0" y="254508"/>
                    <a:pt x="254508" y="0"/>
                    <a:pt x="568579" y="0"/>
                  </a:cubicBezTo>
                  <a:lnTo>
                    <a:pt x="5313553" y="0"/>
                  </a:lnTo>
                  <a:cubicBezTo>
                    <a:pt x="5627624" y="0"/>
                    <a:pt x="5882132" y="254508"/>
                    <a:pt x="5882132" y="568579"/>
                  </a:cubicBezTo>
                  <a:lnTo>
                    <a:pt x="5882132" y="2842768"/>
                  </a:lnTo>
                  <a:cubicBezTo>
                    <a:pt x="5882132" y="3156839"/>
                    <a:pt x="5627624" y="3411347"/>
                    <a:pt x="5313553" y="3411347"/>
                  </a:cubicBezTo>
                  <a:lnTo>
                    <a:pt x="568579" y="3411347"/>
                  </a:lnTo>
                  <a:cubicBezTo>
                    <a:pt x="254508" y="3411347"/>
                    <a:pt x="0" y="3156839"/>
                    <a:pt x="0" y="2842768"/>
                  </a:cubicBezTo>
                  <a:close/>
                </a:path>
              </a:pathLst>
            </a:custGeom>
            <a:solidFill>
              <a:srgbClr val="FFFFFF"/>
            </a:solidFill>
            <a:ln w="19065" cap="sq">
              <a:solidFill>
                <a:srgbClr val="DCE4E8"/>
              </a:solidFill>
              <a:prstDash val="solid"/>
              <a:miter/>
            </a:ln>
          </p:spPr>
        </p:sp>
      </p:grpSp>
      <p:grpSp>
        <p:nvGrpSpPr>
          <p:cNvPr name="Group 12" id="12"/>
          <p:cNvGrpSpPr/>
          <p:nvPr/>
        </p:nvGrpSpPr>
        <p:grpSpPr>
          <a:xfrm rot="0">
            <a:off x="1125588" y="2127647"/>
            <a:ext cx="96088" cy="2539441"/>
            <a:chOff x="0" y="0"/>
            <a:chExt cx="128118" cy="3385922"/>
          </a:xfrm>
        </p:grpSpPr>
        <p:sp>
          <p:nvSpPr>
            <p:cNvPr name="Freeform 13" id="13"/>
            <p:cNvSpPr/>
            <p:nvPr/>
          </p:nvSpPr>
          <p:spPr>
            <a:xfrm flipH="false" flipV="false" rot="0">
              <a:off x="0" y="0"/>
              <a:ext cx="128143" cy="3385947"/>
            </a:xfrm>
            <a:custGeom>
              <a:avLst/>
              <a:gdLst/>
              <a:ahLst/>
              <a:cxnLst/>
              <a:rect r="r" b="b" t="t" l="l"/>
              <a:pathLst>
                <a:path h="3385947" w="128143">
                  <a:moveTo>
                    <a:pt x="0" y="0"/>
                  </a:moveTo>
                  <a:lnTo>
                    <a:pt x="128143" y="0"/>
                  </a:lnTo>
                  <a:lnTo>
                    <a:pt x="128143" y="3385947"/>
                  </a:lnTo>
                  <a:lnTo>
                    <a:pt x="0" y="3385947"/>
                  </a:lnTo>
                  <a:close/>
                </a:path>
              </a:pathLst>
            </a:custGeom>
            <a:solidFill>
              <a:srgbClr val="41B45A"/>
            </a:solidFill>
          </p:spPr>
        </p:sp>
      </p:grpSp>
      <p:sp>
        <p:nvSpPr>
          <p:cNvPr name="TextBox 14" id="14"/>
          <p:cNvSpPr txBox="true"/>
          <p:nvPr/>
        </p:nvSpPr>
        <p:spPr>
          <a:xfrm rot="0">
            <a:off x="1519018" y="2387670"/>
            <a:ext cx="3729238" cy="311963"/>
          </a:xfrm>
          <a:prstGeom prst="rect">
            <a:avLst/>
          </a:prstGeom>
        </p:spPr>
        <p:txBody>
          <a:bodyPr anchor="t" rtlCol="false" tIns="0" lIns="0" bIns="0" rIns="0">
            <a:spAutoFit/>
          </a:bodyPr>
          <a:lstStyle/>
          <a:p>
            <a:pPr algn="l">
              <a:lnSpc>
                <a:spcPts val="1801"/>
              </a:lnSpc>
            </a:pPr>
            <a:r>
              <a:rPr lang="en-US" sz="1501" b="true">
                <a:solidFill>
                  <a:srgbClr val="5E6A71"/>
                </a:solidFill>
                <a:latin typeface="Arial Bold"/>
                <a:ea typeface="Arial Bold"/>
                <a:cs typeface="Arial Bold"/>
                <a:sym typeface="Arial Bold"/>
              </a:rPr>
              <a:t>Farmers &amp; farm managers</a:t>
            </a:r>
          </a:p>
        </p:txBody>
      </p:sp>
      <p:sp>
        <p:nvSpPr>
          <p:cNvPr name="TextBox 15" id="15"/>
          <p:cNvSpPr txBox="true"/>
          <p:nvPr/>
        </p:nvSpPr>
        <p:spPr>
          <a:xfrm rot="0">
            <a:off x="1519018" y="3563960"/>
            <a:ext cx="3729238" cy="920134"/>
          </a:xfrm>
          <a:prstGeom prst="rect">
            <a:avLst/>
          </a:prstGeom>
        </p:spPr>
        <p:txBody>
          <a:bodyPr anchor="t" rtlCol="false" tIns="0" lIns="0" bIns="0" rIns="0">
            <a:spAutoFit/>
          </a:bodyPr>
          <a:lstStyle/>
          <a:p>
            <a:pPr algn="l">
              <a:lnSpc>
                <a:spcPts val="1891"/>
              </a:lnSpc>
            </a:pPr>
            <a:r>
              <a:rPr lang="en-US" sz="1576">
                <a:solidFill>
                  <a:srgbClr val="313C42"/>
                </a:solidFill>
                <a:latin typeface="Arial"/>
                <a:ea typeface="Arial"/>
                <a:cs typeface="Arial"/>
                <a:sym typeface="Arial"/>
              </a:rPr>
              <a:t>Compare seasonal profitability, crop choices and resource-use patterns before planning production.</a:t>
            </a:r>
          </a:p>
        </p:txBody>
      </p:sp>
      <p:grpSp>
        <p:nvGrpSpPr>
          <p:cNvPr name="Group 16" id="16"/>
          <p:cNvGrpSpPr/>
          <p:nvPr/>
        </p:nvGrpSpPr>
        <p:grpSpPr>
          <a:xfrm rot="0">
            <a:off x="6098858" y="2118112"/>
            <a:ext cx="4411618" cy="2558510"/>
            <a:chOff x="0" y="0"/>
            <a:chExt cx="5882157" cy="3411347"/>
          </a:xfrm>
        </p:grpSpPr>
        <p:sp>
          <p:nvSpPr>
            <p:cNvPr name="Freeform 17" id="17"/>
            <p:cNvSpPr/>
            <p:nvPr/>
          </p:nvSpPr>
          <p:spPr>
            <a:xfrm flipH="false" flipV="false" rot="0">
              <a:off x="0" y="0"/>
              <a:ext cx="5882132" cy="3411347"/>
            </a:xfrm>
            <a:custGeom>
              <a:avLst/>
              <a:gdLst/>
              <a:ahLst/>
              <a:cxnLst/>
              <a:rect r="r" b="b" t="t" l="l"/>
              <a:pathLst>
                <a:path h="3411347" w="5882132">
                  <a:moveTo>
                    <a:pt x="0" y="568579"/>
                  </a:moveTo>
                  <a:cubicBezTo>
                    <a:pt x="0" y="254508"/>
                    <a:pt x="254508" y="0"/>
                    <a:pt x="568579" y="0"/>
                  </a:cubicBezTo>
                  <a:lnTo>
                    <a:pt x="5313553" y="0"/>
                  </a:lnTo>
                  <a:cubicBezTo>
                    <a:pt x="5627624" y="0"/>
                    <a:pt x="5882132" y="254508"/>
                    <a:pt x="5882132" y="568579"/>
                  </a:cubicBezTo>
                  <a:lnTo>
                    <a:pt x="5882132" y="2842768"/>
                  </a:lnTo>
                  <a:cubicBezTo>
                    <a:pt x="5882132" y="3156839"/>
                    <a:pt x="5627624" y="3411347"/>
                    <a:pt x="5313553" y="3411347"/>
                  </a:cubicBezTo>
                  <a:lnTo>
                    <a:pt x="568579" y="3411347"/>
                  </a:lnTo>
                  <a:cubicBezTo>
                    <a:pt x="254508" y="3411347"/>
                    <a:pt x="0" y="3156839"/>
                    <a:pt x="0" y="2842768"/>
                  </a:cubicBezTo>
                  <a:close/>
                </a:path>
              </a:pathLst>
            </a:custGeom>
            <a:solidFill>
              <a:srgbClr val="FFFFFF"/>
            </a:solidFill>
            <a:ln w="19065" cap="sq">
              <a:solidFill>
                <a:srgbClr val="DCE4E8"/>
              </a:solidFill>
              <a:prstDash val="solid"/>
              <a:miter/>
            </a:ln>
          </p:spPr>
        </p:sp>
      </p:grpSp>
      <p:grpSp>
        <p:nvGrpSpPr>
          <p:cNvPr name="Group 18" id="18"/>
          <p:cNvGrpSpPr/>
          <p:nvPr/>
        </p:nvGrpSpPr>
        <p:grpSpPr>
          <a:xfrm rot="0">
            <a:off x="6108392" y="2127647"/>
            <a:ext cx="96088" cy="2539441"/>
            <a:chOff x="0" y="0"/>
            <a:chExt cx="128118" cy="3385922"/>
          </a:xfrm>
        </p:grpSpPr>
        <p:sp>
          <p:nvSpPr>
            <p:cNvPr name="Freeform 19" id="19"/>
            <p:cNvSpPr/>
            <p:nvPr/>
          </p:nvSpPr>
          <p:spPr>
            <a:xfrm flipH="false" flipV="false" rot="0">
              <a:off x="0" y="0"/>
              <a:ext cx="128143" cy="3385947"/>
            </a:xfrm>
            <a:custGeom>
              <a:avLst/>
              <a:gdLst/>
              <a:ahLst/>
              <a:cxnLst/>
              <a:rect r="r" b="b" t="t" l="l"/>
              <a:pathLst>
                <a:path h="3385947" w="128143">
                  <a:moveTo>
                    <a:pt x="0" y="0"/>
                  </a:moveTo>
                  <a:lnTo>
                    <a:pt x="128143" y="0"/>
                  </a:lnTo>
                  <a:lnTo>
                    <a:pt x="128143" y="3385947"/>
                  </a:lnTo>
                  <a:lnTo>
                    <a:pt x="0" y="3385947"/>
                  </a:lnTo>
                  <a:close/>
                </a:path>
              </a:pathLst>
            </a:custGeom>
            <a:solidFill>
              <a:srgbClr val="2F86C1"/>
            </a:solidFill>
          </p:spPr>
        </p:sp>
      </p:grpSp>
      <p:sp>
        <p:nvSpPr>
          <p:cNvPr name="TextBox 20" id="20"/>
          <p:cNvSpPr txBox="true"/>
          <p:nvPr/>
        </p:nvSpPr>
        <p:spPr>
          <a:xfrm rot="0">
            <a:off x="6501822" y="2387670"/>
            <a:ext cx="3729238" cy="311963"/>
          </a:xfrm>
          <a:prstGeom prst="rect">
            <a:avLst/>
          </a:prstGeom>
        </p:spPr>
        <p:txBody>
          <a:bodyPr anchor="t" rtlCol="false" tIns="0" lIns="0" bIns="0" rIns="0">
            <a:spAutoFit/>
          </a:bodyPr>
          <a:lstStyle/>
          <a:p>
            <a:pPr algn="l">
              <a:lnSpc>
                <a:spcPts val="1801"/>
              </a:lnSpc>
            </a:pPr>
            <a:r>
              <a:rPr lang="en-US" sz="1501" b="true">
                <a:solidFill>
                  <a:srgbClr val="5E6A71"/>
                </a:solidFill>
                <a:latin typeface="Arial Bold"/>
                <a:ea typeface="Arial Bold"/>
                <a:cs typeface="Arial Bold"/>
                <a:sym typeface="Arial Bold"/>
              </a:rPr>
              <a:t>Agricultural planners &amp; extension teams</a:t>
            </a:r>
          </a:p>
        </p:txBody>
      </p:sp>
      <p:sp>
        <p:nvSpPr>
          <p:cNvPr name="TextBox 21" id="21"/>
          <p:cNvSpPr txBox="true"/>
          <p:nvPr/>
        </p:nvSpPr>
        <p:spPr>
          <a:xfrm rot="0">
            <a:off x="6501822" y="3563960"/>
            <a:ext cx="3729238" cy="920134"/>
          </a:xfrm>
          <a:prstGeom prst="rect">
            <a:avLst/>
          </a:prstGeom>
        </p:spPr>
        <p:txBody>
          <a:bodyPr anchor="t" rtlCol="false" tIns="0" lIns="0" bIns="0" rIns="0">
            <a:spAutoFit/>
          </a:bodyPr>
          <a:lstStyle/>
          <a:p>
            <a:pPr algn="l">
              <a:lnSpc>
                <a:spcPts val="1891"/>
              </a:lnSpc>
            </a:pPr>
            <a:r>
              <a:rPr lang="en-US" sz="1576">
                <a:solidFill>
                  <a:srgbClr val="313C42"/>
                </a:solidFill>
                <a:latin typeface="Arial"/>
                <a:ea typeface="Arial"/>
                <a:cs typeface="Arial"/>
                <a:sym typeface="Arial"/>
              </a:rPr>
              <a:t>Identify regions, seasons and practices that deserve deeper field investigation.</a:t>
            </a:r>
          </a:p>
        </p:txBody>
      </p:sp>
      <p:grpSp>
        <p:nvGrpSpPr>
          <p:cNvPr name="Group 22" id="22"/>
          <p:cNvGrpSpPr/>
          <p:nvPr/>
        </p:nvGrpSpPr>
        <p:grpSpPr>
          <a:xfrm rot="0">
            <a:off x="1116063" y="5687054"/>
            <a:ext cx="4411618" cy="2558510"/>
            <a:chOff x="0" y="0"/>
            <a:chExt cx="5882157" cy="3411347"/>
          </a:xfrm>
        </p:grpSpPr>
        <p:sp>
          <p:nvSpPr>
            <p:cNvPr name="Freeform 23" id="23"/>
            <p:cNvSpPr/>
            <p:nvPr/>
          </p:nvSpPr>
          <p:spPr>
            <a:xfrm flipH="false" flipV="false" rot="0">
              <a:off x="0" y="0"/>
              <a:ext cx="5882132" cy="3411347"/>
            </a:xfrm>
            <a:custGeom>
              <a:avLst/>
              <a:gdLst/>
              <a:ahLst/>
              <a:cxnLst/>
              <a:rect r="r" b="b" t="t" l="l"/>
              <a:pathLst>
                <a:path h="3411347" w="5882132">
                  <a:moveTo>
                    <a:pt x="0" y="568579"/>
                  </a:moveTo>
                  <a:cubicBezTo>
                    <a:pt x="0" y="254508"/>
                    <a:pt x="254508" y="0"/>
                    <a:pt x="568579" y="0"/>
                  </a:cubicBezTo>
                  <a:lnTo>
                    <a:pt x="5313553" y="0"/>
                  </a:lnTo>
                  <a:cubicBezTo>
                    <a:pt x="5627624" y="0"/>
                    <a:pt x="5882132" y="254508"/>
                    <a:pt x="5882132" y="568579"/>
                  </a:cubicBezTo>
                  <a:lnTo>
                    <a:pt x="5882132" y="2842768"/>
                  </a:lnTo>
                  <a:cubicBezTo>
                    <a:pt x="5882132" y="3156839"/>
                    <a:pt x="5627624" y="3411347"/>
                    <a:pt x="5313553" y="3411347"/>
                  </a:cubicBezTo>
                  <a:lnTo>
                    <a:pt x="568579" y="3411347"/>
                  </a:lnTo>
                  <a:cubicBezTo>
                    <a:pt x="254508" y="3411347"/>
                    <a:pt x="0" y="3156839"/>
                    <a:pt x="0" y="2842768"/>
                  </a:cubicBezTo>
                  <a:close/>
                </a:path>
              </a:pathLst>
            </a:custGeom>
            <a:solidFill>
              <a:srgbClr val="FFFFFF"/>
            </a:solidFill>
            <a:ln w="19065" cap="sq">
              <a:solidFill>
                <a:srgbClr val="DCE4E8"/>
              </a:solidFill>
              <a:prstDash val="solid"/>
              <a:miter/>
            </a:ln>
          </p:spPr>
        </p:sp>
      </p:grpSp>
      <p:grpSp>
        <p:nvGrpSpPr>
          <p:cNvPr name="Group 24" id="24"/>
          <p:cNvGrpSpPr/>
          <p:nvPr/>
        </p:nvGrpSpPr>
        <p:grpSpPr>
          <a:xfrm rot="0">
            <a:off x="1125588" y="5696588"/>
            <a:ext cx="96088" cy="2539441"/>
            <a:chOff x="0" y="0"/>
            <a:chExt cx="128118" cy="3385922"/>
          </a:xfrm>
        </p:grpSpPr>
        <p:sp>
          <p:nvSpPr>
            <p:cNvPr name="Freeform 25" id="25"/>
            <p:cNvSpPr/>
            <p:nvPr/>
          </p:nvSpPr>
          <p:spPr>
            <a:xfrm flipH="false" flipV="false" rot="0">
              <a:off x="0" y="0"/>
              <a:ext cx="128143" cy="3385947"/>
            </a:xfrm>
            <a:custGeom>
              <a:avLst/>
              <a:gdLst/>
              <a:ahLst/>
              <a:cxnLst/>
              <a:rect r="r" b="b" t="t" l="l"/>
              <a:pathLst>
                <a:path h="3385947" w="128143">
                  <a:moveTo>
                    <a:pt x="0" y="0"/>
                  </a:moveTo>
                  <a:lnTo>
                    <a:pt x="128143" y="0"/>
                  </a:lnTo>
                  <a:lnTo>
                    <a:pt x="128143" y="3385947"/>
                  </a:lnTo>
                  <a:lnTo>
                    <a:pt x="0" y="3385947"/>
                  </a:lnTo>
                  <a:close/>
                </a:path>
              </a:pathLst>
            </a:custGeom>
            <a:solidFill>
              <a:srgbClr val="55C3E6"/>
            </a:solidFill>
          </p:spPr>
        </p:sp>
      </p:grpSp>
      <p:sp>
        <p:nvSpPr>
          <p:cNvPr name="TextBox 26" id="26"/>
          <p:cNvSpPr txBox="true"/>
          <p:nvPr/>
        </p:nvSpPr>
        <p:spPr>
          <a:xfrm rot="0">
            <a:off x="1519018" y="5956611"/>
            <a:ext cx="3729238" cy="311963"/>
          </a:xfrm>
          <a:prstGeom prst="rect">
            <a:avLst/>
          </a:prstGeom>
        </p:spPr>
        <p:txBody>
          <a:bodyPr anchor="t" rtlCol="false" tIns="0" lIns="0" bIns="0" rIns="0">
            <a:spAutoFit/>
          </a:bodyPr>
          <a:lstStyle/>
          <a:p>
            <a:pPr algn="l">
              <a:lnSpc>
                <a:spcPts val="1801"/>
              </a:lnSpc>
            </a:pPr>
            <a:r>
              <a:rPr lang="en-US" sz="1501" b="true">
                <a:solidFill>
                  <a:srgbClr val="5E6A71"/>
                </a:solidFill>
                <a:latin typeface="Arial Bold"/>
                <a:ea typeface="Arial Bold"/>
                <a:cs typeface="Arial Bold"/>
                <a:sym typeface="Arial Bold"/>
              </a:rPr>
              <a:t>Policy makers &amp; programme teams</a:t>
            </a:r>
          </a:p>
        </p:txBody>
      </p:sp>
      <p:sp>
        <p:nvSpPr>
          <p:cNvPr name="TextBox 27" id="27"/>
          <p:cNvSpPr txBox="true"/>
          <p:nvPr/>
        </p:nvSpPr>
        <p:spPr>
          <a:xfrm rot="0">
            <a:off x="1519018" y="7132911"/>
            <a:ext cx="3729238" cy="920134"/>
          </a:xfrm>
          <a:prstGeom prst="rect">
            <a:avLst/>
          </a:prstGeom>
        </p:spPr>
        <p:txBody>
          <a:bodyPr anchor="t" rtlCol="false" tIns="0" lIns="0" bIns="0" rIns="0">
            <a:spAutoFit/>
          </a:bodyPr>
          <a:lstStyle/>
          <a:p>
            <a:pPr algn="l">
              <a:lnSpc>
                <a:spcPts val="1891"/>
              </a:lnSpc>
            </a:pPr>
            <a:r>
              <a:rPr lang="en-US" sz="1576">
                <a:solidFill>
                  <a:srgbClr val="313C42"/>
                </a:solidFill>
                <a:latin typeface="Arial"/>
                <a:ea typeface="Arial"/>
                <a:cs typeface="Arial"/>
                <a:sym typeface="Arial"/>
              </a:rPr>
              <a:t>Use evidence on regional performance, water efficiency and seasonal risk for targeting.</a:t>
            </a:r>
          </a:p>
        </p:txBody>
      </p:sp>
      <p:grpSp>
        <p:nvGrpSpPr>
          <p:cNvPr name="Group 28" id="28"/>
          <p:cNvGrpSpPr/>
          <p:nvPr/>
        </p:nvGrpSpPr>
        <p:grpSpPr>
          <a:xfrm rot="0">
            <a:off x="6098858" y="5687054"/>
            <a:ext cx="4411618" cy="2558510"/>
            <a:chOff x="0" y="0"/>
            <a:chExt cx="5882157" cy="3411347"/>
          </a:xfrm>
        </p:grpSpPr>
        <p:sp>
          <p:nvSpPr>
            <p:cNvPr name="Freeform 29" id="29"/>
            <p:cNvSpPr/>
            <p:nvPr/>
          </p:nvSpPr>
          <p:spPr>
            <a:xfrm flipH="false" flipV="false" rot="0">
              <a:off x="0" y="0"/>
              <a:ext cx="5882132" cy="3411347"/>
            </a:xfrm>
            <a:custGeom>
              <a:avLst/>
              <a:gdLst/>
              <a:ahLst/>
              <a:cxnLst/>
              <a:rect r="r" b="b" t="t" l="l"/>
              <a:pathLst>
                <a:path h="3411347" w="5882132">
                  <a:moveTo>
                    <a:pt x="0" y="568579"/>
                  </a:moveTo>
                  <a:cubicBezTo>
                    <a:pt x="0" y="254508"/>
                    <a:pt x="254508" y="0"/>
                    <a:pt x="568579" y="0"/>
                  </a:cubicBezTo>
                  <a:lnTo>
                    <a:pt x="5313553" y="0"/>
                  </a:lnTo>
                  <a:cubicBezTo>
                    <a:pt x="5627624" y="0"/>
                    <a:pt x="5882132" y="254508"/>
                    <a:pt x="5882132" y="568579"/>
                  </a:cubicBezTo>
                  <a:lnTo>
                    <a:pt x="5882132" y="2842768"/>
                  </a:lnTo>
                  <a:cubicBezTo>
                    <a:pt x="5882132" y="3156839"/>
                    <a:pt x="5627624" y="3411347"/>
                    <a:pt x="5313553" y="3411347"/>
                  </a:cubicBezTo>
                  <a:lnTo>
                    <a:pt x="568579" y="3411347"/>
                  </a:lnTo>
                  <a:cubicBezTo>
                    <a:pt x="254508" y="3411347"/>
                    <a:pt x="0" y="3156839"/>
                    <a:pt x="0" y="2842768"/>
                  </a:cubicBezTo>
                  <a:close/>
                </a:path>
              </a:pathLst>
            </a:custGeom>
            <a:solidFill>
              <a:srgbClr val="FFFFFF"/>
            </a:solidFill>
            <a:ln w="19065" cap="sq">
              <a:solidFill>
                <a:srgbClr val="DCE4E8"/>
              </a:solidFill>
              <a:prstDash val="solid"/>
              <a:miter/>
            </a:ln>
          </p:spPr>
        </p:sp>
      </p:grpSp>
      <p:grpSp>
        <p:nvGrpSpPr>
          <p:cNvPr name="Group 30" id="30"/>
          <p:cNvGrpSpPr/>
          <p:nvPr/>
        </p:nvGrpSpPr>
        <p:grpSpPr>
          <a:xfrm rot="0">
            <a:off x="6108392" y="5696588"/>
            <a:ext cx="96088" cy="2539441"/>
            <a:chOff x="0" y="0"/>
            <a:chExt cx="128118" cy="3385922"/>
          </a:xfrm>
        </p:grpSpPr>
        <p:sp>
          <p:nvSpPr>
            <p:cNvPr name="Freeform 31" id="31"/>
            <p:cNvSpPr/>
            <p:nvPr/>
          </p:nvSpPr>
          <p:spPr>
            <a:xfrm flipH="false" flipV="false" rot="0">
              <a:off x="0" y="0"/>
              <a:ext cx="128143" cy="3385947"/>
            </a:xfrm>
            <a:custGeom>
              <a:avLst/>
              <a:gdLst/>
              <a:ahLst/>
              <a:cxnLst/>
              <a:rect r="r" b="b" t="t" l="l"/>
              <a:pathLst>
                <a:path h="3385947" w="128143">
                  <a:moveTo>
                    <a:pt x="0" y="0"/>
                  </a:moveTo>
                  <a:lnTo>
                    <a:pt x="128143" y="0"/>
                  </a:lnTo>
                  <a:lnTo>
                    <a:pt x="128143" y="3385947"/>
                  </a:lnTo>
                  <a:lnTo>
                    <a:pt x="0" y="3385947"/>
                  </a:lnTo>
                  <a:close/>
                </a:path>
              </a:pathLst>
            </a:custGeom>
            <a:solidFill>
              <a:srgbClr val="3CBF9B"/>
            </a:solidFill>
          </p:spPr>
        </p:sp>
      </p:grpSp>
      <p:sp>
        <p:nvSpPr>
          <p:cNvPr name="TextBox 32" id="32"/>
          <p:cNvSpPr txBox="true"/>
          <p:nvPr/>
        </p:nvSpPr>
        <p:spPr>
          <a:xfrm rot="0">
            <a:off x="6501822" y="5956611"/>
            <a:ext cx="3729238" cy="311963"/>
          </a:xfrm>
          <a:prstGeom prst="rect">
            <a:avLst/>
          </a:prstGeom>
        </p:spPr>
        <p:txBody>
          <a:bodyPr anchor="t" rtlCol="false" tIns="0" lIns="0" bIns="0" rIns="0">
            <a:spAutoFit/>
          </a:bodyPr>
          <a:lstStyle/>
          <a:p>
            <a:pPr algn="l">
              <a:lnSpc>
                <a:spcPts val="1801"/>
              </a:lnSpc>
            </a:pPr>
            <a:r>
              <a:rPr lang="en-US" sz="1501" b="true">
                <a:solidFill>
                  <a:srgbClr val="5E6A71"/>
                </a:solidFill>
                <a:latin typeface="Arial Bold"/>
                <a:ea typeface="Arial Bold"/>
                <a:cs typeface="Arial Bold"/>
                <a:sym typeface="Arial Bold"/>
              </a:rPr>
              <a:t>Researchers &amp; analysts</a:t>
            </a:r>
          </a:p>
        </p:txBody>
      </p:sp>
      <p:sp>
        <p:nvSpPr>
          <p:cNvPr name="TextBox 33" id="33"/>
          <p:cNvSpPr txBox="true"/>
          <p:nvPr/>
        </p:nvSpPr>
        <p:spPr>
          <a:xfrm rot="0">
            <a:off x="6501822" y="7132911"/>
            <a:ext cx="3729238" cy="920134"/>
          </a:xfrm>
          <a:prstGeom prst="rect">
            <a:avLst/>
          </a:prstGeom>
        </p:spPr>
        <p:txBody>
          <a:bodyPr anchor="t" rtlCol="false" tIns="0" lIns="0" bIns="0" rIns="0">
            <a:spAutoFit/>
          </a:bodyPr>
          <a:lstStyle/>
          <a:p>
            <a:pPr algn="l">
              <a:lnSpc>
                <a:spcPts val="1891"/>
              </a:lnSpc>
            </a:pPr>
            <a:r>
              <a:rPr lang="en-US" sz="1576">
                <a:solidFill>
                  <a:srgbClr val="313C42"/>
                </a:solidFill>
                <a:latin typeface="Arial"/>
                <a:ea typeface="Arial"/>
                <a:cs typeface="Arial"/>
                <a:sym typeface="Arial"/>
              </a:rPr>
              <a:t>Extend the work with multi-year weather, market and causal modelling.</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3726725" y="0"/>
            <a:ext cx="4575115" cy="10295039"/>
            <a:chOff x="0" y="0"/>
            <a:chExt cx="6100153" cy="13726719"/>
          </a:xfrm>
        </p:grpSpPr>
        <p:sp>
          <p:nvSpPr>
            <p:cNvPr name="Freeform 3" id="3" descr="agri_template_right_strip.png"/>
            <p:cNvSpPr/>
            <p:nvPr/>
          </p:nvSpPr>
          <p:spPr>
            <a:xfrm flipH="false" flipV="false" rot="0">
              <a:off x="0" y="0"/>
              <a:ext cx="6100191" cy="13726668"/>
            </a:xfrm>
            <a:custGeom>
              <a:avLst/>
              <a:gdLst/>
              <a:ahLst/>
              <a:cxnLst/>
              <a:rect r="r" b="b" t="t" l="l"/>
              <a:pathLst>
                <a:path h="13726668" w="6100191">
                  <a:moveTo>
                    <a:pt x="0" y="0"/>
                  </a:moveTo>
                  <a:lnTo>
                    <a:pt x="6100191" y="0"/>
                  </a:lnTo>
                  <a:lnTo>
                    <a:pt x="6100191" y="13726668"/>
                  </a:lnTo>
                  <a:lnTo>
                    <a:pt x="0" y="13726668"/>
                  </a:lnTo>
                  <a:lnTo>
                    <a:pt x="0" y="0"/>
                  </a:lnTo>
                  <a:close/>
                </a:path>
              </a:pathLst>
            </a:custGeom>
            <a:blipFill>
              <a:blip r:embed="rId2"/>
              <a:stretch>
                <a:fillRect l="-4" t="0" r="-4" b="0"/>
              </a:stretch>
            </a:blipFill>
          </p:spPr>
        </p:sp>
      </p:grpSp>
      <p:grpSp>
        <p:nvGrpSpPr>
          <p:cNvPr name="Group 4" id="4"/>
          <p:cNvGrpSpPr/>
          <p:nvPr/>
        </p:nvGrpSpPr>
        <p:grpSpPr>
          <a:xfrm rot="0">
            <a:off x="-466706" y="6890814"/>
            <a:ext cx="1372676" cy="3706216"/>
            <a:chOff x="0" y="0"/>
            <a:chExt cx="1830235" cy="4941621"/>
          </a:xfrm>
        </p:grpSpPr>
        <p:sp>
          <p:nvSpPr>
            <p:cNvPr name="Freeform 5" id="5"/>
            <p:cNvSpPr/>
            <p:nvPr/>
          </p:nvSpPr>
          <p:spPr>
            <a:xfrm flipH="false" flipV="false" rot="0">
              <a:off x="0" y="0"/>
              <a:ext cx="1830324" cy="4941570"/>
            </a:xfrm>
            <a:custGeom>
              <a:avLst/>
              <a:gdLst/>
              <a:ahLst/>
              <a:cxnLst/>
              <a:rect r="r" b="b" t="t" l="l"/>
              <a:pathLst>
                <a:path h="4941570" w="1830324">
                  <a:moveTo>
                    <a:pt x="0" y="4941570"/>
                  </a:moveTo>
                  <a:lnTo>
                    <a:pt x="915162" y="0"/>
                  </a:lnTo>
                  <a:lnTo>
                    <a:pt x="1830324" y="4941570"/>
                  </a:lnTo>
                  <a:close/>
                </a:path>
              </a:pathLst>
            </a:custGeom>
            <a:solidFill>
              <a:srgbClr val="55C3E6"/>
            </a:solidFill>
          </p:spPr>
        </p:sp>
      </p:grpSp>
      <p:grpSp>
        <p:nvGrpSpPr>
          <p:cNvPr name="Group 6" id="6"/>
          <p:cNvGrpSpPr/>
          <p:nvPr/>
        </p:nvGrpSpPr>
        <p:grpSpPr>
          <a:xfrm rot="0">
            <a:off x="9883245" y="2086461"/>
            <a:ext cx="274539" cy="274539"/>
            <a:chOff x="0" y="0"/>
            <a:chExt cx="366052" cy="366052"/>
          </a:xfrm>
        </p:grpSpPr>
        <p:sp>
          <p:nvSpPr>
            <p:cNvPr name="Freeform 7" id="7"/>
            <p:cNvSpPr/>
            <p:nvPr/>
          </p:nvSpPr>
          <p:spPr>
            <a:xfrm flipH="false" flipV="false" rot="0">
              <a:off x="0" y="0"/>
              <a:ext cx="366014" cy="366014"/>
            </a:xfrm>
            <a:custGeom>
              <a:avLst/>
              <a:gdLst/>
              <a:ahLst/>
              <a:cxnLst/>
              <a:rect r="r" b="b" t="t" l="l"/>
              <a:pathLst>
                <a:path h="366014" w="366014">
                  <a:moveTo>
                    <a:pt x="0" y="0"/>
                  </a:moveTo>
                  <a:lnTo>
                    <a:pt x="366014" y="0"/>
                  </a:lnTo>
                  <a:lnTo>
                    <a:pt x="366014" y="366014"/>
                  </a:lnTo>
                  <a:lnTo>
                    <a:pt x="0" y="366014"/>
                  </a:lnTo>
                  <a:close/>
                </a:path>
              </a:pathLst>
            </a:custGeom>
            <a:solidFill>
              <a:srgbClr val="2F86C1"/>
            </a:solidFill>
          </p:spPr>
        </p:sp>
      </p:grpSp>
      <p:sp>
        <p:nvSpPr>
          <p:cNvPr name="TextBox 8" id="8"/>
          <p:cNvSpPr txBox="true"/>
          <p:nvPr/>
        </p:nvSpPr>
        <p:spPr>
          <a:xfrm rot="0">
            <a:off x="13022018" y="9713538"/>
            <a:ext cx="297551" cy="165163"/>
          </a:xfrm>
          <a:prstGeom prst="rect">
            <a:avLst/>
          </a:prstGeom>
        </p:spPr>
        <p:txBody>
          <a:bodyPr anchor="t" rtlCol="false" tIns="0" lIns="0" bIns="0" rIns="0">
            <a:spAutoFit/>
          </a:bodyPr>
          <a:lstStyle/>
          <a:p>
            <a:pPr algn="r">
              <a:lnSpc>
                <a:spcPts val="1260"/>
              </a:lnSpc>
            </a:pPr>
            <a:r>
              <a:rPr lang="en-US" sz="1050">
                <a:solidFill>
                  <a:srgbClr val="5E6A71"/>
                </a:solidFill>
                <a:latin typeface="Arial"/>
                <a:ea typeface="Arial"/>
                <a:cs typeface="Arial"/>
                <a:sym typeface="Arial"/>
              </a:rPr>
              <a:t>05</a:t>
            </a:r>
          </a:p>
        </p:txBody>
      </p:sp>
      <p:sp>
        <p:nvSpPr>
          <p:cNvPr name="TextBox 9" id="9"/>
          <p:cNvSpPr txBox="true"/>
          <p:nvPr/>
        </p:nvSpPr>
        <p:spPr>
          <a:xfrm rot="0">
            <a:off x="1079764" y="685552"/>
            <a:ext cx="11896639" cy="819845"/>
          </a:xfrm>
          <a:prstGeom prst="rect">
            <a:avLst/>
          </a:prstGeom>
        </p:spPr>
        <p:txBody>
          <a:bodyPr anchor="t" rtlCol="false" tIns="0" lIns="0" bIns="0" rIns="0">
            <a:spAutoFit/>
          </a:bodyPr>
          <a:lstStyle/>
          <a:p>
            <a:pPr algn="l">
              <a:lnSpc>
                <a:spcPts val="5224"/>
              </a:lnSpc>
            </a:pPr>
            <a:r>
              <a:rPr lang="en-US" sz="4353" b="true">
                <a:solidFill>
                  <a:srgbClr val="121212"/>
                </a:solidFill>
                <a:latin typeface="Arial Bold"/>
                <a:ea typeface="Arial Bold"/>
                <a:cs typeface="Arial Bold"/>
                <a:sym typeface="Arial Bold"/>
              </a:rPr>
              <a:t>TECHNOLOGY USED</a:t>
            </a:r>
          </a:p>
        </p:txBody>
      </p:sp>
      <p:grpSp>
        <p:nvGrpSpPr>
          <p:cNvPr name="Group 10" id="10"/>
          <p:cNvGrpSpPr/>
          <p:nvPr/>
        </p:nvGrpSpPr>
        <p:grpSpPr>
          <a:xfrm rot="0">
            <a:off x="1116063" y="2118112"/>
            <a:ext cx="2764412" cy="1734903"/>
            <a:chOff x="0" y="0"/>
            <a:chExt cx="3685883" cy="2313203"/>
          </a:xfrm>
        </p:grpSpPr>
        <p:sp>
          <p:nvSpPr>
            <p:cNvPr name="Freeform 11" id="11"/>
            <p:cNvSpPr/>
            <p:nvPr/>
          </p:nvSpPr>
          <p:spPr>
            <a:xfrm flipH="false" flipV="false" rot="0">
              <a:off x="0" y="0"/>
              <a:ext cx="3685921" cy="2313178"/>
            </a:xfrm>
            <a:custGeom>
              <a:avLst/>
              <a:gdLst/>
              <a:ahLst/>
              <a:cxnLst/>
              <a:rect r="r" b="b" t="t" l="l"/>
              <a:pathLst>
                <a:path h="2313178" w="3685921">
                  <a:moveTo>
                    <a:pt x="0" y="385572"/>
                  </a:moveTo>
                  <a:cubicBezTo>
                    <a:pt x="0" y="172593"/>
                    <a:pt x="172593" y="0"/>
                    <a:pt x="385572" y="0"/>
                  </a:cubicBezTo>
                  <a:lnTo>
                    <a:pt x="3300349" y="0"/>
                  </a:lnTo>
                  <a:cubicBezTo>
                    <a:pt x="3513328" y="0"/>
                    <a:pt x="3685921" y="172593"/>
                    <a:pt x="3685921" y="385572"/>
                  </a:cubicBezTo>
                  <a:lnTo>
                    <a:pt x="3685921" y="1927606"/>
                  </a:lnTo>
                  <a:cubicBezTo>
                    <a:pt x="3685921" y="2140585"/>
                    <a:pt x="3513328" y="2313178"/>
                    <a:pt x="3300349" y="2313178"/>
                  </a:cubicBezTo>
                  <a:lnTo>
                    <a:pt x="385572" y="2313178"/>
                  </a:lnTo>
                  <a:cubicBezTo>
                    <a:pt x="172593" y="2313178"/>
                    <a:pt x="0" y="2140585"/>
                    <a:pt x="0" y="1927606"/>
                  </a:cubicBezTo>
                  <a:close/>
                </a:path>
              </a:pathLst>
            </a:custGeom>
            <a:solidFill>
              <a:srgbClr val="FFFFFF"/>
            </a:solidFill>
            <a:ln w="19065" cap="sq">
              <a:solidFill>
                <a:srgbClr val="DCE4E8"/>
              </a:solidFill>
              <a:prstDash val="solid"/>
              <a:miter/>
            </a:ln>
          </p:spPr>
        </p:sp>
      </p:grpSp>
      <p:grpSp>
        <p:nvGrpSpPr>
          <p:cNvPr name="Group 12" id="12"/>
          <p:cNvGrpSpPr/>
          <p:nvPr/>
        </p:nvGrpSpPr>
        <p:grpSpPr>
          <a:xfrm rot="0">
            <a:off x="1125588" y="2127647"/>
            <a:ext cx="96088" cy="1715843"/>
            <a:chOff x="0" y="0"/>
            <a:chExt cx="128118" cy="2287791"/>
          </a:xfrm>
        </p:grpSpPr>
        <p:sp>
          <p:nvSpPr>
            <p:cNvPr name="Freeform 13" id="13"/>
            <p:cNvSpPr/>
            <p:nvPr/>
          </p:nvSpPr>
          <p:spPr>
            <a:xfrm flipH="false" flipV="false" rot="0">
              <a:off x="0" y="0"/>
              <a:ext cx="128143" cy="2287778"/>
            </a:xfrm>
            <a:custGeom>
              <a:avLst/>
              <a:gdLst/>
              <a:ahLst/>
              <a:cxnLst/>
              <a:rect r="r" b="b" t="t" l="l"/>
              <a:pathLst>
                <a:path h="2287778" w="128143">
                  <a:moveTo>
                    <a:pt x="0" y="0"/>
                  </a:moveTo>
                  <a:lnTo>
                    <a:pt x="128143" y="0"/>
                  </a:lnTo>
                  <a:lnTo>
                    <a:pt x="128143" y="2287778"/>
                  </a:lnTo>
                  <a:lnTo>
                    <a:pt x="0" y="2287778"/>
                  </a:lnTo>
                  <a:close/>
                </a:path>
              </a:pathLst>
            </a:custGeom>
            <a:solidFill>
              <a:srgbClr val="2F86C1"/>
            </a:solidFill>
          </p:spPr>
        </p:sp>
      </p:grpSp>
      <p:sp>
        <p:nvSpPr>
          <p:cNvPr name="TextBox 14" id="14"/>
          <p:cNvSpPr txBox="true"/>
          <p:nvPr/>
        </p:nvSpPr>
        <p:spPr>
          <a:xfrm rot="0">
            <a:off x="1519018" y="2387670"/>
            <a:ext cx="2082032" cy="311963"/>
          </a:xfrm>
          <a:prstGeom prst="rect">
            <a:avLst/>
          </a:prstGeom>
        </p:spPr>
        <p:txBody>
          <a:bodyPr anchor="t" rtlCol="false" tIns="0" lIns="0" bIns="0" rIns="0">
            <a:spAutoFit/>
          </a:bodyPr>
          <a:lstStyle/>
          <a:p>
            <a:pPr algn="l">
              <a:lnSpc>
                <a:spcPts val="1801"/>
              </a:lnSpc>
            </a:pPr>
            <a:r>
              <a:rPr lang="en-US" sz="1501" b="true">
                <a:solidFill>
                  <a:srgbClr val="5E6A71"/>
                </a:solidFill>
                <a:latin typeface="Arial Bold"/>
                <a:ea typeface="Arial Bold"/>
                <a:cs typeface="Arial Bold"/>
                <a:sym typeface="Arial Bold"/>
              </a:rPr>
              <a:t>Python</a:t>
            </a:r>
          </a:p>
        </p:txBody>
      </p:sp>
      <p:sp>
        <p:nvSpPr>
          <p:cNvPr name="TextBox 15" id="15"/>
          <p:cNvSpPr txBox="true"/>
          <p:nvPr/>
        </p:nvSpPr>
        <p:spPr>
          <a:xfrm rot="0">
            <a:off x="1342615" y="2763045"/>
            <a:ext cx="2082032" cy="96526"/>
          </a:xfrm>
          <a:prstGeom prst="rect">
            <a:avLst/>
          </a:prstGeom>
        </p:spPr>
        <p:txBody>
          <a:bodyPr anchor="t" rtlCol="false" tIns="0" lIns="0" bIns="0" rIns="0">
            <a:spAutoFit/>
          </a:bodyPr>
          <a:lstStyle/>
          <a:p>
            <a:pPr algn="l">
              <a:lnSpc>
                <a:spcPts val="1891"/>
              </a:lnSpc>
            </a:pPr>
            <a:r>
              <a:rPr lang="en-US" sz="1576">
                <a:solidFill>
                  <a:srgbClr val="313C42"/>
                </a:solidFill>
                <a:latin typeface="Arial"/>
                <a:ea typeface="Arial"/>
                <a:cs typeface="Arial"/>
                <a:sym typeface="Arial"/>
              </a:rPr>
              <a:t>Core analysis and workflow</a:t>
            </a:r>
          </a:p>
        </p:txBody>
      </p:sp>
      <p:grpSp>
        <p:nvGrpSpPr>
          <p:cNvPr name="Group 16" id="16"/>
          <p:cNvGrpSpPr/>
          <p:nvPr/>
        </p:nvGrpSpPr>
        <p:grpSpPr>
          <a:xfrm rot="0">
            <a:off x="4177122" y="2118112"/>
            <a:ext cx="2764412" cy="1734903"/>
            <a:chOff x="0" y="0"/>
            <a:chExt cx="3685883" cy="2313203"/>
          </a:xfrm>
        </p:grpSpPr>
        <p:sp>
          <p:nvSpPr>
            <p:cNvPr name="Freeform 17" id="17"/>
            <p:cNvSpPr/>
            <p:nvPr/>
          </p:nvSpPr>
          <p:spPr>
            <a:xfrm flipH="false" flipV="false" rot="0">
              <a:off x="0" y="0"/>
              <a:ext cx="3685921" cy="2313178"/>
            </a:xfrm>
            <a:custGeom>
              <a:avLst/>
              <a:gdLst/>
              <a:ahLst/>
              <a:cxnLst/>
              <a:rect r="r" b="b" t="t" l="l"/>
              <a:pathLst>
                <a:path h="2313178" w="3685921">
                  <a:moveTo>
                    <a:pt x="0" y="385572"/>
                  </a:moveTo>
                  <a:cubicBezTo>
                    <a:pt x="0" y="172593"/>
                    <a:pt x="172593" y="0"/>
                    <a:pt x="385572" y="0"/>
                  </a:cubicBezTo>
                  <a:lnTo>
                    <a:pt x="3300349" y="0"/>
                  </a:lnTo>
                  <a:cubicBezTo>
                    <a:pt x="3513328" y="0"/>
                    <a:pt x="3685921" y="172593"/>
                    <a:pt x="3685921" y="385572"/>
                  </a:cubicBezTo>
                  <a:lnTo>
                    <a:pt x="3685921" y="1927606"/>
                  </a:lnTo>
                  <a:cubicBezTo>
                    <a:pt x="3685921" y="2140585"/>
                    <a:pt x="3513328" y="2313178"/>
                    <a:pt x="3300349" y="2313178"/>
                  </a:cubicBezTo>
                  <a:lnTo>
                    <a:pt x="385572" y="2313178"/>
                  </a:lnTo>
                  <a:cubicBezTo>
                    <a:pt x="172593" y="2313178"/>
                    <a:pt x="0" y="2140585"/>
                    <a:pt x="0" y="1927606"/>
                  </a:cubicBezTo>
                  <a:close/>
                </a:path>
              </a:pathLst>
            </a:custGeom>
            <a:solidFill>
              <a:srgbClr val="FFFFFF"/>
            </a:solidFill>
            <a:ln w="19065" cap="sq">
              <a:solidFill>
                <a:srgbClr val="DCE4E8"/>
              </a:solidFill>
              <a:prstDash val="solid"/>
              <a:miter/>
            </a:ln>
          </p:spPr>
        </p:sp>
      </p:grpSp>
      <p:grpSp>
        <p:nvGrpSpPr>
          <p:cNvPr name="Group 18" id="18"/>
          <p:cNvGrpSpPr/>
          <p:nvPr/>
        </p:nvGrpSpPr>
        <p:grpSpPr>
          <a:xfrm rot="0">
            <a:off x="4186647" y="2127647"/>
            <a:ext cx="96088" cy="1715843"/>
            <a:chOff x="0" y="0"/>
            <a:chExt cx="128118" cy="2287791"/>
          </a:xfrm>
        </p:grpSpPr>
        <p:sp>
          <p:nvSpPr>
            <p:cNvPr name="Freeform 19" id="19"/>
            <p:cNvSpPr/>
            <p:nvPr/>
          </p:nvSpPr>
          <p:spPr>
            <a:xfrm flipH="false" flipV="false" rot="0">
              <a:off x="0" y="0"/>
              <a:ext cx="128143" cy="2287778"/>
            </a:xfrm>
            <a:custGeom>
              <a:avLst/>
              <a:gdLst/>
              <a:ahLst/>
              <a:cxnLst/>
              <a:rect r="r" b="b" t="t" l="l"/>
              <a:pathLst>
                <a:path h="2287778" w="128143">
                  <a:moveTo>
                    <a:pt x="0" y="0"/>
                  </a:moveTo>
                  <a:lnTo>
                    <a:pt x="128143" y="0"/>
                  </a:lnTo>
                  <a:lnTo>
                    <a:pt x="128143" y="2287778"/>
                  </a:lnTo>
                  <a:lnTo>
                    <a:pt x="0" y="2287778"/>
                  </a:lnTo>
                  <a:close/>
                </a:path>
              </a:pathLst>
            </a:custGeom>
            <a:solidFill>
              <a:srgbClr val="41B45A"/>
            </a:solidFill>
          </p:spPr>
        </p:sp>
      </p:grpSp>
      <p:sp>
        <p:nvSpPr>
          <p:cNvPr name="TextBox 20" id="20"/>
          <p:cNvSpPr txBox="true"/>
          <p:nvPr/>
        </p:nvSpPr>
        <p:spPr>
          <a:xfrm rot="0">
            <a:off x="4580077" y="2387670"/>
            <a:ext cx="2082032" cy="311963"/>
          </a:xfrm>
          <a:prstGeom prst="rect">
            <a:avLst/>
          </a:prstGeom>
        </p:spPr>
        <p:txBody>
          <a:bodyPr anchor="t" rtlCol="false" tIns="0" lIns="0" bIns="0" rIns="0">
            <a:spAutoFit/>
          </a:bodyPr>
          <a:lstStyle/>
          <a:p>
            <a:pPr algn="l">
              <a:lnSpc>
                <a:spcPts val="1801"/>
              </a:lnSpc>
            </a:pPr>
            <a:r>
              <a:rPr lang="en-US" sz="1501" b="true">
                <a:solidFill>
                  <a:srgbClr val="5E6A71"/>
                </a:solidFill>
                <a:latin typeface="Arial Bold"/>
                <a:ea typeface="Arial Bold"/>
                <a:cs typeface="Arial Bold"/>
                <a:sym typeface="Arial Bold"/>
              </a:rPr>
              <a:t>Pandas</a:t>
            </a:r>
          </a:p>
        </p:txBody>
      </p:sp>
      <p:sp>
        <p:nvSpPr>
          <p:cNvPr name="TextBox 21" id="21"/>
          <p:cNvSpPr txBox="true"/>
          <p:nvPr/>
        </p:nvSpPr>
        <p:spPr>
          <a:xfrm rot="0">
            <a:off x="4403307" y="2763045"/>
            <a:ext cx="2092404" cy="723900"/>
          </a:xfrm>
          <a:prstGeom prst="rect">
            <a:avLst/>
          </a:prstGeom>
        </p:spPr>
        <p:txBody>
          <a:bodyPr anchor="t" rtlCol="false" tIns="0" lIns="0" bIns="0" rIns="0">
            <a:spAutoFit/>
          </a:bodyPr>
          <a:lstStyle/>
          <a:p>
            <a:pPr algn="l">
              <a:lnSpc>
                <a:spcPts val="1891"/>
              </a:lnSpc>
            </a:pPr>
            <a:r>
              <a:rPr lang="en-US" sz="1576">
                <a:solidFill>
                  <a:srgbClr val="313C42"/>
                </a:solidFill>
                <a:latin typeface="Arial"/>
                <a:ea typeface="Arial"/>
                <a:cs typeface="Arial"/>
                <a:sym typeface="Arial"/>
              </a:rPr>
              <a:t>Data loading, cleaning, </a:t>
            </a:r>
          </a:p>
          <a:p>
            <a:pPr algn="l">
              <a:lnSpc>
                <a:spcPts val="1891"/>
              </a:lnSpc>
            </a:pPr>
            <a:r>
              <a:rPr lang="en-US" sz="1576">
                <a:solidFill>
                  <a:srgbClr val="313C42"/>
                </a:solidFill>
                <a:latin typeface="Arial"/>
                <a:ea typeface="Arial"/>
                <a:cs typeface="Arial"/>
                <a:sym typeface="Arial"/>
              </a:rPr>
              <a:t>grouping and feature</a:t>
            </a:r>
          </a:p>
          <a:p>
            <a:pPr algn="l">
              <a:lnSpc>
                <a:spcPts val="1891"/>
              </a:lnSpc>
            </a:pPr>
            <a:r>
              <a:rPr lang="en-US" sz="1576">
                <a:solidFill>
                  <a:srgbClr val="313C42"/>
                </a:solidFill>
                <a:latin typeface="Arial"/>
                <a:ea typeface="Arial"/>
                <a:cs typeface="Arial"/>
                <a:sym typeface="Arial"/>
              </a:rPr>
              <a:t> engineering</a:t>
            </a:r>
          </a:p>
        </p:txBody>
      </p:sp>
      <p:grpSp>
        <p:nvGrpSpPr>
          <p:cNvPr name="Group 22" id="22"/>
          <p:cNvGrpSpPr/>
          <p:nvPr/>
        </p:nvGrpSpPr>
        <p:grpSpPr>
          <a:xfrm rot="0">
            <a:off x="7238181" y="2118112"/>
            <a:ext cx="2764412" cy="1734903"/>
            <a:chOff x="0" y="0"/>
            <a:chExt cx="3685883" cy="2313203"/>
          </a:xfrm>
        </p:grpSpPr>
        <p:sp>
          <p:nvSpPr>
            <p:cNvPr name="Freeform 23" id="23"/>
            <p:cNvSpPr/>
            <p:nvPr/>
          </p:nvSpPr>
          <p:spPr>
            <a:xfrm flipH="false" flipV="false" rot="0">
              <a:off x="0" y="0"/>
              <a:ext cx="3685921" cy="2313178"/>
            </a:xfrm>
            <a:custGeom>
              <a:avLst/>
              <a:gdLst/>
              <a:ahLst/>
              <a:cxnLst/>
              <a:rect r="r" b="b" t="t" l="l"/>
              <a:pathLst>
                <a:path h="2313178" w="3685921">
                  <a:moveTo>
                    <a:pt x="0" y="385572"/>
                  </a:moveTo>
                  <a:cubicBezTo>
                    <a:pt x="0" y="172593"/>
                    <a:pt x="172593" y="0"/>
                    <a:pt x="385572" y="0"/>
                  </a:cubicBezTo>
                  <a:lnTo>
                    <a:pt x="3300349" y="0"/>
                  </a:lnTo>
                  <a:cubicBezTo>
                    <a:pt x="3513328" y="0"/>
                    <a:pt x="3685921" y="172593"/>
                    <a:pt x="3685921" y="385572"/>
                  </a:cubicBezTo>
                  <a:lnTo>
                    <a:pt x="3685921" y="1927606"/>
                  </a:lnTo>
                  <a:cubicBezTo>
                    <a:pt x="3685921" y="2140585"/>
                    <a:pt x="3513328" y="2313178"/>
                    <a:pt x="3300349" y="2313178"/>
                  </a:cubicBezTo>
                  <a:lnTo>
                    <a:pt x="385572" y="2313178"/>
                  </a:lnTo>
                  <a:cubicBezTo>
                    <a:pt x="172593" y="2313178"/>
                    <a:pt x="0" y="2140585"/>
                    <a:pt x="0" y="1927606"/>
                  </a:cubicBezTo>
                  <a:close/>
                </a:path>
              </a:pathLst>
            </a:custGeom>
            <a:solidFill>
              <a:srgbClr val="FFFFFF"/>
            </a:solidFill>
            <a:ln w="19065" cap="sq">
              <a:solidFill>
                <a:srgbClr val="DCE4E8"/>
              </a:solidFill>
              <a:prstDash val="solid"/>
              <a:miter/>
            </a:ln>
          </p:spPr>
        </p:sp>
      </p:grpSp>
      <p:grpSp>
        <p:nvGrpSpPr>
          <p:cNvPr name="Group 24" id="24"/>
          <p:cNvGrpSpPr/>
          <p:nvPr/>
        </p:nvGrpSpPr>
        <p:grpSpPr>
          <a:xfrm rot="0">
            <a:off x="7247706" y="2127647"/>
            <a:ext cx="96088" cy="1715843"/>
            <a:chOff x="0" y="0"/>
            <a:chExt cx="128118" cy="2287791"/>
          </a:xfrm>
        </p:grpSpPr>
        <p:sp>
          <p:nvSpPr>
            <p:cNvPr name="Freeform 25" id="25"/>
            <p:cNvSpPr/>
            <p:nvPr/>
          </p:nvSpPr>
          <p:spPr>
            <a:xfrm flipH="false" flipV="false" rot="0">
              <a:off x="0" y="0"/>
              <a:ext cx="128143" cy="2287778"/>
            </a:xfrm>
            <a:custGeom>
              <a:avLst/>
              <a:gdLst/>
              <a:ahLst/>
              <a:cxnLst/>
              <a:rect r="r" b="b" t="t" l="l"/>
              <a:pathLst>
                <a:path h="2287778" w="128143">
                  <a:moveTo>
                    <a:pt x="0" y="0"/>
                  </a:moveTo>
                  <a:lnTo>
                    <a:pt x="128143" y="0"/>
                  </a:lnTo>
                  <a:lnTo>
                    <a:pt x="128143" y="2287778"/>
                  </a:lnTo>
                  <a:lnTo>
                    <a:pt x="0" y="2287778"/>
                  </a:lnTo>
                  <a:close/>
                </a:path>
              </a:pathLst>
            </a:custGeom>
            <a:solidFill>
              <a:srgbClr val="55C3E6"/>
            </a:solidFill>
          </p:spPr>
        </p:sp>
      </p:grpSp>
      <p:sp>
        <p:nvSpPr>
          <p:cNvPr name="TextBox 26" id="26"/>
          <p:cNvSpPr txBox="true"/>
          <p:nvPr/>
        </p:nvSpPr>
        <p:spPr>
          <a:xfrm rot="0">
            <a:off x="7641136" y="2387670"/>
            <a:ext cx="2082032" cy="311963"/>
          </a:xfrm>
          <a:prstGeom prst="rect">
            <a:avLst/>
          </a:prstGeom>
        </p:spPr>
        <p:txBody>
          <a:bodyPr anchor="t" rtlCol="false" tIns="0" lIns="0" bIns="0" rIns="0">
            <a:spAutoFit/>
          </a:bodyPr>
          <a:lstStyle/>
          <a:p>
            <a:pPr algn="l">
              <a:lnSpc>
                <a:spcPts val="1801"/>
              </a:lnSpc>
            </a:pPr>
            <a:r>
              <a:rPr lang="en-US" sz="1501" b="true">
                <a:solidFill>
                  <a:srgbClr val="5E6A71"/>
                </a:solidFill>
                <a:latin typeface="Arial Bold"/>
                <a:ea typeface="Arial Bold"/>
                <a:cs typeface="Arial Bold"/>
                <a:sym typeface="Arial Bold"/>
              </a:rPr>
              <a:t>NumPy</a:t>
            </a:r>
          </a:p>
        </p:txBody>
      </p:sp>
      <p:sp>
        <p:nvSpPr>
          <p:cNvPr name="TextBox 27" id="27"/>
          <p:cNvSpPr txBox="true"/>
          <p:nvPr/>
        </p:nvSpPr>
        <p:spPr>
          <a:xfrm rot="0">
            <a:off x="7451967" y="2737918"/>
            <a:ext cx="2336840" cy="485775"/>
          </a:xfrm>
          <a:prstGeom prst="rect">
            <a:avLst/>
          </a:prstGeom>
        </p:spPr>
        <p:txBody>
          <a:bodyPr anchor="t" rtlCol="false" tIns="0" lIns="0" bIns="0" rIns="0">
            <a:spAutoFit/>
          </a:bodyPr>
          <a:lstStyle/>
          <a:p>
            <a:pPr algn="l">
              <a:lnSpc>
                <a:spcPts val="1891"/>
              </a:lnSpc>
            </a:pPr>
            <a:r>
              <a:rPr lang="en-US" sz="1576">
                <a:solidFill>
                  <a:srgbClr val="313C42"/>
                </a:solidFill>
                <a:latin typeface="Arial"/>
                <a:ea typeface="Arial"/>
                <a:cs typeface="Arial"/>
                <a:sym typeface="Arial"/>
              </a:rPr>
              <a:t>Numerical operations and </a:t>
            </a:r>
          </a:p>
          <a:p>
            <a:pPr algn="l">
              <a:lnSpc>
                <a:spcPts val="1891"/>
              </a:lnSpc>
            </a:pPr>
            <a:r>
              <a:rPr lang="en-US" sz="1576">
                <a:solidFill>
                  <a:srgbClr val="313C42"/>
                </a:solidFill>
                <a:latin typeface="Arial"/>
                <a:ea typeface="Arial"/>
                <a:cs typeface="Arial"/>
                <a:sym typeface="Arial"/>
              </a:rPr>
              <a:t>missing-value handling</a:t>
            </a:r>
          </a:p>
        </p:txBody>
      </p:sp>
      <p:grpSp>
        <p:nvGrpSpPr>
          <p:cNvPr name="Group 28" id="28"/>
          <p:cNvGrpSpPr/>
          <p:nvPr/>
        </p:nvGrpSpPr>
        <p:grpSpPr>
          <a:xfrm rot="0">
            <a:off x="1116063" y="4314387"/>
            <a:ext cx="2764412" cy="1734903"/>
            <a:chOff x="0" y="0"/>
            <a:chExt cx="3685883" cy="2313203"/>
          </a:xfrm>
        </p:grpSpPr>
        <p:sp>
          <p:nvSpPr>
            <p:cNvPr name="Freeform 29" id="29"/>
            <p:cNvSpPr/>
            <p:nvPr/>
          </p:nvSpPr>
          <p:spPr>
            <a:xfrm flipH="false" flipV="false" rot="0">
              <a:off x="0" y="0"/>
              <a:ext cx="3685921" cy="2313178"/>
            </a:xfrm>
            <a:custGeom>
              <a:avLst/>
              <a:gdLst/>
              <a:ahLst/>
              <a:cxnLst/>
              <a:rect r="r" b="b" t="t" l="l"/>
              <a:pathLst>
                <a:path h="2313178" w="3685921">
                  <a:moveTo>
                    <a:pt x="0" y="385572"/>
                  </a:moveTo>
                  <a:cubicBezTo>
                    <a:pt x="0" y="172593"/>
                    <a:pt x="172593" y="0"/>
                    <a:pt x="385572" y="0"/>
                  </a:cubicBezTo>
                  <a:lnTo>
                    <a:pt x="3300349" y="0"/>
                  </a:lnTo>
                  <a:cubicBezTo>
                    <a:pt x="3513328" y="0"/>
                    <a:pt x="3685921" y="172593"/>
                    <a:pt x="3685921" y="385572"/>
                  </a:cubicBezTo>
                  <a:lnTo>
                    <a:pt x="3685921" y="1927606"/>
                  </a:lnTo>
                  <a:cubicBezTo>
                    <a:pt x="3685921" y="2140585"/>
                    <a:pt x="3513328" y="2313178"/>
                    <a:pt x="3300349" y="2313178"/>
                  </a:cubicBezTo>
                  <a:lnTo>
                    <a:pt x="385572" y="2313178"/>
                  </a:lnTo>
                  <a:cubicBezTo>
                    <a:pt x="172593" y="2313178"/>
                    <a:pt x="0" y="2140585"/>
                    <a:pt x="0" y="1927606"/>
                  </a:cubicBezTo>
                  <a:close/>
                </a:path>
              </a:pathLst>
            </a:custGeom>
            <a:solidFill>
              <a:srgbClr val="FFFFFF"/>
            </a:solidFill>
            <a:ln w="19065" cap="sq">
              <a:solidFill>
                <a:srgbClr val="DCE4E8"/>
              </a:solidFill>
              <a:prstDash val="solid"/>
              <a:miter/>
            </a:ln>
          </p:spPr>
        </p:sp>
      </p:grpSp>
      <p:grpSp>
        <p:nvGrpSpPr>
          <p:cNvPr name="Group 30" id="30"/>
          <p:cNvGrpSpPr/>
          <p:nvPr/>
        </p:nvGrpSpPr>
        <p:grpSpPr>
          <a:xfrm rot="0">
            <a:off x="1125588" y="4323921"/>
            <a:ext cx="96088" cy="1715843"/>
            <a:chOff x="0" y="0"/>
            <a:chExt cx="128118" cy="2287791"/>
          </a:xfrm>
        </p:grpSpPr>
        <p:sp>
          <p:nvSpPr>
            <p:cNvPr name="Freeform 31" id="31"/>
            <p:cNvSpPr/>
            <p:nvPr/>
          </p:nvSpPr>
          <p:spPr>
            <a:xfrm flipH="false" flipV="false" rot="0">
              <a:off x="0" y="0"/>
              <a:ext cx="128143" cy="2287778"/>
            </a:xfrm>
            <a:custGeom>
              <a:avLst/>
              <a:gdLst/>
              <a:ahLst/>
              <a:cxnLst/>
              <a:rect r="r" b="b" t="t" l="l"/>
              <a:pathLst>
                <a:path h="2287778" w="128143">
                  <a:moveTo>
                    <a:pt x="0" y="0"/>
                  </a:moveTo>
                  <a:lnTo>
                    <a:pt x="128143" y="0"/>
                  </a:lnTo>
                  <a:lnTo>
                    <a:pt x="128143" y="2287778"/>
                  </a:lnTo>
                  <a:lnTo>
                    <a:pt x="0" y="2287778"/>
                  </a:lnTo>
                  <a:close/>
                </a:path>
              </a:pathLst>
            </a:custGeom>
            <a:solidFill>
              <a:srgbClr val="1F5A86"/>
            </a:solidFill>
          </p:spPr>
        </p:sp>
      </p:grpSp>
      <p:sp>
        <p:nvSpPr>
          <p:cNvPr name="TextBox 32" id="32"/>
          <p:cNvSpPr txBox="true"/>
          <p:nvPr/>
        </p:nvSpPr>
        <p:spPr>
          <a:xfrm rot="0">
            <a:off x="1519018" y="4583944"/>
            <a:ext cx="2082032" cy="311963"/>
          </a:xfrm>
          <a:prstGeom prst="rect">
            <a:avLst/>
          </a:prstGeom>
        </p:spPr>
        <p:txBody>
          <a:bodyPr anchor="t" rtlCol="false" tIns="0" lIns="0" bIns="0" rIns="0">
            <a:spAutoFit/>
          </a:bodyPr>
          <a:lstStyle/>
          <a:p>
            <a:pPr algn="l">
              <a:lnSpc>
                <a:spcPts val="1801"/>
              </a:lnSpc>
            </a:pPr>
            <a:r>
              <a:rPr lang="en-US" sz="1501" b="true">
                <a:solidFill>
                  <a:srgbClr val="5E6A71"/>
                </a:solidFill>
                <a:latin typeface="Arial Bold"/>
                <a:ea typeface="Arial Bold"/>
                <a:cs typeface="Arial Bold"/>
                <a:sym typeface="Arial Bold"/>
              </a:rPr>
              <a:t>Matplotlib</a:t>
            </a:r>
          </a:p>
        </p:txBody>
      </p:sp>
      <p:sp>
        <p:nvSpPr>
          <p:cNvPr name="TextBox 33" id="33"/>
          <p:cNvSpPr txBox="true"/>
          <p:nvPr/>
        </p:nvSpPr>
        <p:spPr>
          <a:xfrm rot="0">
            <a:off x="1342615" y="4937760"/>
            <a:ext cx="2403515" cy="485775"/>
          </a:xfrm>
          <a:prstGeom prst="rect">
            <a:avLst/>
          </a:prstGeom>
        </p:spPr>
        <p:txBody>
          <a:bodyPr anchor="t" rtlCol="false" tIns="0" lIns="0" bIns="0" rIns="0">
            <a:spAutoFit/>
          </a:bodyPr>
          <a:lstStyle/>
          <a:p>
            <a:pPr algn="l">
              <a:lnSpc>
                <a:spcPts val="1891"/>
              </a:lnSpc>
            </a:pPr>
            <a:r>
              <a:rPr lang="en-US" sz="1576">
                <a:solidFill>
                  <a:srgbClr val="313C42"/>
                </a:solidFill>
                <a:latin typeface="Arial"/>
                <a:ea typeface="Arial"/>
                <a:cs typeface="Arial"/>
                <a:sym typeface="Arial"/>
              </a:rPr>
              <a:t>Charts, distributions, </a:t>
            </a:r>
          </a:p>
          <a:p>
            <a:pPr algn="l">
              <a:lnSpc>
                <a:spcPts val="1891"/>
              </a:lnSpc>
            </a:pPr>
            <a:r>
              <a:rPr lang="en-US" sz="1576">
                <a:solidFill>
                  <a:srgbClr val="313C42"/>
                </a:solidFill>
                <a:latin typeface="Arial"/>
                <a:ea typeface="Arial"/>
                <a:cs typeface="Arial"/>
                <a:sym typeface="Arial"/>
              </a:rPr>
              <a:t>scatter plots and heatmaps</a:t>
            </a:r>
          </a:p>
        </p:txBody>
      </p:sp>
      <p:grpSp>
        <p:nvGrpSpPr>
          <p:cNvPr name="Group 34" id="34"/>
          <p:cNvGrpSpPr/>
          <p:nvPr/>
        </p:nvGrpSpPr>
        <p:grpSpPr>
          <a:xfrm rot="0">
            <a:off x="4177122" y="4314387"/>
            <a:ext cx="2764412" cy="1734903"/>
            <a:chOff x="0" y="0"/>
            <a:chExt cx="3685883" cy="2313203"/>
          </a:xfrm>
        </p:grpSpPr>
        <p:sp>
          <p:nvSpPr>
            <p:cNvPr name="Freeform 35" id="35"/>
            <p:cNvSpPr/>
            <p:nvPr/>
          </p:nvSpPr>
          <p:spPr>
            <a:xfrm flipH="false" flipV="false" rot="0">
              <a:off x="0" y="0"/>
              <a:ext cx="3685921" cy="2313178"/>
            </a:xfrm>
            <a:custGeom>
              <a:avLst/>
              <a:gdLst/>
              <a:ahLst/>
              <a:cxnLst/>
              <a:rect r="r" b="b" t="t" l="l"/>
              <a:pathLst>
                <a:path h="2313178" w="3685921">
                  <a:moveTo>
                    <a:pt x="0" y="385572"/>
                  </a:moveTo>
                  <a:cubicBezTo>
                    <a:pt x="0" y="172593"/>
                    <a:pt x="172593" y="0"/>
                    <a:pt x="385572" y="0"/>
                  </a:cubicBezTo>
                  <a:lnTo>
                    <a:pt x="3300349" y="0"/>
                  </a:lnTo>
                  <a:cubicBezTo>
                    <a:pt x="3513328" y="0"/>
                    <a:pt x="3685921" y="172593"/>
                    <a:pt x="3685921" y="385572"/>
                  </a:cubicBezTo>
                  <a:lnTo>
                    <a:pt x="3685921" y="1927606"/>
                  </a:lnTo>
                  <a:cubicBezTo>
                    <a:pt x="3685921" y="2140585"/>
                    <a:pt x="3513328" y="2313178"/>
                    <a:pt x="3300349" y="2313178"/>
                  </a:cubicBezTo>
                  <a:lnTo>
                    <a:pt x="385572" y="2313178"/>
                  </a:lnTo>
                  <a:cubicBezTo>
                    <a:pt x="172593" y="2313178"/>
                    <a:pt x="0" y="2140585"/>
                    <a:pt x="0" y="1927606"/>
                  </a:cubicBezTo>
                  <a:close/>
                </a:path>
              </a:pathLst>
            </a:custGeom>
            <a:solidFill>
              <a:srgbClr val="FFFFFF"/>
            </a:solidFill>
            <a:ln w="19065" cap="sq">
              <a:solidFill>
                <a:srgbClr val="DCE4E8"/>
              </a:solidFill>
              <a:prstDash val="solid"/>
              <a:miter/>
            </a:ln>
          </p:spPr>
        </p:sp>
      </p:grpSp>
      <p:grpSp>
        <p:nvGrpSpPr>
          <p:cNvPr name="Group 36" id="36"/>
          <p:cNvGrpSpPr/>
          <p:nvPr/>
        </p:nvGrpSpPr>
        <p:grpSpPr>
          <a:xfrm rot="0">
            <a:off x="4186647" y="4323921"/>
            <a:ext cx="96088" cy="1715843"/>
            <a:chOff x="0" y="0"/>
            <a:chExt cx="128118" cy="2287791"/>
          </a:xfrm>
        </p:grpSpPr>
        <p:sp>
          <p:nvSpPr>
            <p:cNvPr name="Freeform 37" id="37"/>
            <p:cNvSpPr/>
            <p:nvPr/>
          </p:nvSpPr>
          <p:spPr>
            <a:xfrm flipH="false" flipV="false" rot="0">
              <a:off x="0" y="0"/>
              <a:ext cx="128143" cy="2287778"/>
            </a:xfrm>
            <a:custGeom>
              <a:avLst/>
              <a:gdLst/>
              <a:ahLst/>
              <a:cxnLst/>
              <a:rect r="r" b="b" t="t" l="l"/>
              <a:pathLst>
                <a:path h="2287778" w="128143">
                  <a:moveTo>
                    <a:pt x="0" y="0"/>
                  </a:moveTo>
                  <a:lnTo>
                    <a:pt x="128143" y="0"/>
                  </a:lnTo>
                  <a:lnTo>
                    <a:pt x="128143" y="2287778"/>
                  </a:lnTo>
                  <a:lnTo>
                    <a:pt x="0" y="2287778"/>
                  </a:lnTo>
                  <a:close/>
                </a:path>
              </a:pathLst>
            </a:custGeom>
            <a:solidFill>
              <a:srgbClr val="3CBF9B"/>
            </a:solidFill>
          </p:spPr>
        </p:sp>
      </p:grpSp>
      <p:sp>
        <p:nvSpPr>
          <p:cNvPr name="TextBox 38" id="38"/>
          <p:cNvSpPr txBox="true"/>
          <p:nvPr/>
        </p:nvSpPr>
        <p:spPr>
          <a:xfrm rot="0">
            <a:off x="4580077" y="4583944"/>
            <a:ext cx="2082032" cy="311963"/>
          </a:xfrm>
          <a:prstGeom prst="rect">
            <a:avLst/>
          </a:prstGeom>
        </p:spPr>
        <p:txBody>
          <a:bodyPr anchor="t" rtlCol="false" tIns="0" lIns="0" bIns="0" rIns="0">
            <a:spAutoFit/>
          </a:bodyPr>
          <a:lstStyle/>
          <a:p>
            <a:pPr algn="l">
              <a:lnSpc>
                <a:spcPts val="1801"/>
              </a:lnSpc>
            </a:pPr>
            <a:r>
              <a:rPr lang="en-US" sz="1501" b="true">
                <a:solidFill>
                  <a:srgbClr val="5E6A71"/>
                </a:solidFill>
                <a:latin typeface="Arial Bold"/>
                <a:ea typeface="Arial Bold"/>
                <a:cs typeface="Arial Bold"/>
                <a:sym typeface="Arial Bold"/>
              </a:rPr>
              <a:t>SciPy</a:t>
            </a:r>
          </a:p>
        </p:txBody>
      </p:sp>
      <p:sp>
        <p:nvSpPr>
          <p:cNvPr name="TextBox 39" id="39"/>
          <p:cNvSpPr txBox="true"/>
          <p:nvPr/>
        </p:nvSpPr>
        <p:spPr>
          <a:xfrm rot="0">
            <a:off x="4403307" y="4962582"/>
            <a:ext cx="2082032" cy="96526"/>
          </a:xfrm>
          <a:prstGeom prst="rect">
            <a:avLst/>
          </a:prstGeom>
        </p:spPr>
        <p:txBody>
          <a:bodyPr anchor="t" rtlCol="false" tIns="0" lIns="0" bIns="0" rIns="0">
            <a:spAutoFit/>
          </a:bodyPr>
          <a:lstStyle/>
          <a:p>
            <a:pPr algn="l">
              <a:lnSpc>
                <a:spcPts val="1891"/>
              </a:lnSpc>
            </a:pPr>
            <a:r>
              <a:rPr lang="en-US" sz="1576">
                <a:solidFill>
                  <a:srgbClr val="313C42"/>
                </a:solidFill>
                <a:latin typeface="Arial"/>
                <a:ea typeface="Arial"/>
                <a:cs typeface="Arial"/>
                <a:sym typeface="Arial"/>
              </a:rPr>
              <a:t>Kruskal–Wallis statistical test</a:t>
            </a:r>
          </a:p>
        </p:txBody>
      </p:sp>
      <p:grpSp>
        <p:nvGrpSpPr>
          <p:cNvPr name="Group 40" id="40"/>
          <p:cNvGrpSpPr/>
          <p:nvPr/>
        </p:nvGrpSpPr>
        <p:grpSpPr>
          <a:xfrm rot="0">
            <a:off x="7238181" y="4314387"/>
            <a:ext cx="2764412" cy="1734903"/>
            <a:chOff x="0" y="0"/>
            <a:chExt cx="3685883" cy="2313203"/>
          </a:xfrm>
        </p:grpSpPr>
        <p:sp>
          <p:nvSpPr>
            <p:cNvPr name="Freeform 41" id="41"/>
            <p:cNvSpPr/>
            <p:nvPr/>
          </p:nvSpPr>
          <p:spPr>
            <a:xfrm flipH="false" flipV="false" rot="0">
              <a:off x="0" y="0"/>
              <a:ext cx="3685921" cy="2313178"/>
            </a:xfrm>
            <a:custGeom>
              <a:avLst/>
              <a:gdLst/>
              <a:ahLst/>
              <a:cxnLst/>
              <a:rect r="r" b="b" t="t" l="l"/>
              <a:pathLst>
                <a:path h="2313178" w="3685921">
                  <a:moveTo>
                    <a:pt x="0" y="385572"/>
                  </a:moveTo>
                  <a:cubicBezTo>
                    <a:pt x="0" y="172593"/>
                    <a:pt x="172593" y="0"/>
                    <a:pt x="385572" y="0"/>
                  </a:cubicBezTo>
                  <a:lnTo>
                    <a:pt x="3300349" y="0"/>
                  </a:lnTo>
                  <a:cubicBezTo>
                    <a:pt x="3513328" y="0"/>
                    <a:pt x="3685921" y="172593"/>
                    <a:pt x="3685921" y="385572"/>
                  </a:cubicBezTo>
                  <a:lnTo>
                    <a:pt x="3685921" y="1927606"/>
                  </a:lnTo>
                  <a:cubicBezTo>
                    <a:pt x="3685921" y="2140585"/>
                    <a:pt x="3513328" y="2313178"/>
                    <a:pt x="3300349" y="2313178"/>
                  </a:cubicBezTo>
                  <a:lnTo>
                    <a:pt x="385572" y="2313178"/>
                  </a:lnTo>
                  <a:cubicBezTo>
                    <a:pt x="172593" y="2313178"/>
                    <a:pt x="0" y="2140585"/>
                    <a:pt x="0" y="1927606"/>
                  </a:cubicBezTo>
                  <a:close/>
                </a:path>
              </a:pathLst>
            </a:custGeom>
            <a:solidFill>
              <a:srgbClr val="FFFFFF"/>
            </a:solidFill>
            <a:ln w="19065" cap="sq">
              <a:solidFill>
                <a:srgbClr val="DCE4E8"/>
              </a:solidFill>
              <a:prstDash val="solid"/>
              <a:miter/>
            </a:ln>
          </p:spPr>
        </p:sp>
      </p:grpSp>
      <p:grpSp>
        <p:nvGrpSpPr>
          <p:cNvPr name="Group 42" id="42"/>
          <p:cNvGrpSpPr/>
          <p:nvPr/>
        </p:nvGrpSpPr>
        <p:grpSpPr>
          <a:xfrm rot="0">
            <a:off x="7247706" y="4323921"/>
            <a:ext cx="96088" cy="1715843"/>
            <a:chOff x="0" y="0"/>
            <a:chExt cx="128118" cy="2287791"/>
          </a:xfrm>
        </p:grpSpPr>
        <p:sp>
          <p:nvSpPr>
            <p:cNvPr name="Freeform 43" id="43"/>
            <p:cNvSpPr/>
            <p:nvPr/>
          </p:nvSpPr>
          <p:spPr>
            <a:xfrm flipH="false" flipV="false" rot="0">
              <a:off x="0" y="0"/>
              <a:ext cx="128143" cy="2287778"/>
            </a:xfrm>
            <a:custGeom>
              <a:avLst/>
              <a:gdLst/>
              <a:ahLst/>
              <a:cxnLst/>
              <a:rect r="r" b="b" t="t" l="l"/>
              <a:pathLst>
                <a:path h="2287778" w="128143">
                  <a:moveTo>
                    <a:pt x="0" y="0"/>
                  </a:moveTo>
                  <a:lnTo>
                    <a:pt x="128143" y="0"/>
                  </a:lnTo>
                  <a:lnTo>
                    <a:pt x="128143" y="2287778"/>
                  </a:lnTo>
                  <a:lnTo>
                    <a:pt x="0" y="2287778"/>
                  </a:lnTo>
                  <a:close/>
                </a:path>
              </a:pathLst>
            </a:custGeom>
            <a:solidFill>
              <a:srgbClr val="41B45A"/>
            </a:solidFill>
          </p:spPr>
        </p:sp>
      </p:grpSp>
      <p:sp>
        <p:nvSpPr>
          <p:cNvPr name="TextBox 44" id="44"/>
          <p:cNvSpPr txBox="true"/>
          <p:nvPr/>
        </p:nvSpPr>
        <p:spPr>
          <a:xfrm rot="0">
            <a:off x="7641136" y="4583944"/>
            <a:ext cx="2082032" cy="311963"/>
          </a:xfrm>
          <a:prstGeom prst="rect">
            <a:avLst/>
          </a:prstGeom>
        </p:spPr>
        <p:txBody>
          <a:bodyPr anchor="t" rtlCol="false" tIns="0" lIns="0" bIns="0" rIns="0">
            <a:spAutoFit/>
          </a:bodyPr>
          <a:lstStyle/>
          <a:p>
            <a:pPr algn="l">
              <a:lnSpc>
                <a:spcPts val="1801"/>
              </a:lnSpc>
            </a:pPr>
            <a:r>
              <a:rPr lang="en-US" sz="1501" b="true">
                <a:solidFill>
                  <a:srgbClr val="5E6A71"/>
                </a:solidFill>
                <a:latin typeface="Arial Bold"/>
                <a:ea typeface="Arial Bold"/>
                <a:cs typeface="Arial Bold"/>
                <a:sym typeface="Arial Bold"/>
              </a:rPr>
              <a:t>Excel / Jupyter / Colab</a:t>
            </a:r>
          </a:p>
        </p:txBody>
      </p:sp>
      <p:sp>
        <p:nvSpPr>
          <p:cNvPr name="TextBox 45" id="45"/>
          <p:cNvSpPr txBox="true"/>
          <p:nvPr/>
        </p:nvSpPr>
        <p:spPr>
          <a:xfrm rot="0">
            <a:off x="7579371" y="4875581"/>
            <a:ext cx="2303874" cy="485775"/>
          </a:xfrm>
          <a:prstGeom prst="rect">
            <a:avLst/>
          </a:prstGeom>
        </p:spPr>
        <p:txBody>
          <a:bodyPr anchor="t" rtlCol="false" tIns="0" lIns="0" bIns="0" rIns="0">
            <a:spAutoFit/>
          </a:bodyPr>
          <a:lstStyle/>
          <a:p>
            <a:pPr algn="l">
              <a:lnSpc>
                <a:spcPts val="1891"/>
              </a:lnSpc>
            </a:pPr>
            <a:r>
              <a:rPr lang="en-US" sz="1576">
                <a:solidFill>
                  <a:srgbClr val="313C42"/>
                </a:solidFill>
                <a:latin typeface="Arial"/>
                <a:ea typeface="Arial"/>
                <a:cs typeface="Arial"/>
                <a:sym typeface="Arial"/>
              </a:rPr>
              <a:t>Dataset + executed notebook workflow</a:t>
            </a:r>
          </a:p>
        </p:txBody>
      </p:sp>
      <p:grpSp>
        <p:nvGrpSpPr>
          <p:cNvPr name="Group 46" id="46"/>
          <p:cNvGrpSpPr/>
          <p:nvPr/>
        </p:nvGrpSpPr>
        <p:grpSpPr>
          <a:xfrm rot="0">
            <a:off x="1116063" y="6510661"/>
            <a:ext cx="2764412" cy="1734903"/>
            <a:chOff x="0" y="0"/>
            <a:chExt cx="3685883" cy="2313203"/>
          </a:xfrm>
        </p:grpSpPr>
        <p:sp>
          <p:nvSpPr>
            <p:cNvPr name="Freeform 47" id="47"/>
            <p:cNvSpPr/>
            <p:nvPr/>
          </p:nvSpPr>
          <p:spPr>
            <a:xfrm flipH="false" flipV="false" rot="0">
              <a:off x="0" y="0"/>
              <a:ext cx="3685921" cy="2313178"/>
            </a:xfrm>
            <a:custGeom>
              <a:avLst/>
              <a:gdLst/>
              <a:ahLst/>
              <a:cxnLst/>
              <a:rect r="r" b="b" t="t" l="l"/>
              <a:pathLst>
                <a:path h="2313178" w="3685921">
                  <a:moveTo>
                    <a:pt x="0" y="385572"/>
                  </a:moveTo>
                  <a:cubicBezTo>
                    <a:pt x="0" y="172593"/>
                    <a:pt x="172593" y="0"/>
                    <a:pt x="385572" y="0"/>
                  </a:cubicBezTo>
                  <a:lnTo>
                    <a:pt x="3300349" y="0"/>
                  </a:lnTo>
                  <a:cubicBezTo>
                    <a:pt x="3513328" y="0"/>
                    <a:pt x="3685921" y="172593"/>
                    <a:pt x="3685921" y="385572"/>
                  </a:cubicBezTo>
                  <a:lnTo>
                    <a:pt x="3685921" y="1927606"/>
                  </a:lnTo>
                  <a:cubicBezTo>
                    <a:pt x="3685921" y="2140585"/>
                    <a:pt x="3513328" y="2313178"/>
                    <a:pt x="3300349" y="2313178"/>
                  </a:cubicBezTo>
                  <a:lnTo>
                    <a:pt x="385572" y="2313178"/>
                  </a:lnTo>
                  <a:cubicBezTo>
                    <a:pt x="172593" y="2313178"/>
                    <a:pt x="0" y="2140585"/>
                    <a:pt x="0" y="1927606"/>
                  </a:cubicBezTo>
                  <a:close/>
                </a:path>
              </a:pathLst>
            </a:custGeom>
            <a:solidFill>
              <a:srgbClr val="FFFFFF"/>
            </a:solidFill>
            <a:ln w="19065" cap="sq">
              <a:solidFill>
                <a:srgbClr val="DCE4E8"/>
              </a:solidFill>
              <a:prstDash val="solid"/>
              <a:miter/>
            </a:ln>
          </p:spPr>
        </p:sp>
      </p:grpSp>
      <p:grpSp>
        <p:nvGrpSpPr>
          <p:cNvPr name="Group 48" id="48"/>
          <p:cNvGrpSpPr/>
          <p:nvPr/>
        </p:nvGrpSpPr>
        <p:grpSpPr>
          <a:xfrm rot="0">
            <a:off x="1125588" y="6520196"/>
            <a:ext cx="96088" cy="1715843"/>
            <a:chOff x="0" y="0"/>
            <a:chExt cx="128118" cy="2287791"/>
          </a:xfrm>
        </p:grpSpPr>
        <p:sp>
          <p:nvSpPr>
            <p:cNvPr name="Freeform 49" id="49"/>
            <p:cNvSpPr/>
            <p:nvPr/>
          </p:nvSpPr>
          <p:spPr>
            <a:xfrm flipH="false" flipV="false" rot="0">
              <a:off x="0" y="0"/>
              <a:ext cx="128143" cy="2287778"/>
            </a:xfrm>
            <a:custGeom>
              <a:avLst/>
              <a:gdLst/>
              <a:ahLst/>
              <a:cxnLst/>
              <a:rect r="r" b="b" t="t" l="l"/>
              <a:pathLst>
                <a:path h="2287778" w="128143">
                  <a:moveTo>
                    <a:pt x="0" y="0"/>
                  </a:moveTo>
                  <a:lnTo>
                    <a:pt x="128143" y="0"/>
                  </a:lnTo>
                  <a:lnTo>
                    <a:pt x="128143" y="2287778"/>
                  </a:lnTo>
                  <a:lnTo>
                    <a:pt x="0" y="2287778"/>
                  </a:lnTo>
                  <a:close/>
                </a:path>
              </a:pathLst>
            </a:custGeom>
            <a:solidFill>
              <a:srgbClr val="2F86C1"/>
            </a:solidFill>
          </p:spPr>
        </p:sp>
      </p:grpSp>
      <p:sp>
        <p:nvSpPr>
          <p:cNvPr name="TextBox 50" id="50"/>
          <p:cNvSpPr txBox="true"/>
          <p:nvPr/>
        </p:nvSpPr>
        <p:spPr>
          <a:xfrm rot="0">
            <a:off x="1519018" y="6780219"/>
            <a:ext cx="2082032" cy="311963"/>
          </a:xfrm>
          <a:prstGeom prst="rect">
            <a:avLst/>
          </a:prstGeom>
        </p:spPr>
        <p:txBody>
          <a:bodyPr anchor="t" rtlCol="false" tIns="0" lIns="0" bIns="0" rIns="0">
            <a:spAutoFit/>
          </a:bodyPr>
          <a:lstStyle/>
          <a:p>
            <a:pPr algn="l">
              <a:lnSpc>
                <a:spcPts val="1801"/>
              </a:lnSpc>
            </a:pPr>
            <a:r>
              <a:rPr lang="en-US" sz="1501" b="true">
                <a:solidFill>
                  <a:srgbClr val="5E6A71"/>
                </a:solidFill>
                <a:latin typeface="Arial Bold"/>
                <a:ea typeface="Arial Bold"/>
                <a:cs typeface="Arial Bold"/>
                <a:sym typeface="Arial Bold"/>
              </a:rPr>
              <a:t>GitHub</a:t>
            </a:r>
          </a:p>
        </p:txBody>
      </p:sp>
      <p:sp>
        <p:nvSpPr>
          <p:cNvPr name="TextBox 51" id="51"/>
          <p:cNvSpPr txBox="true"/>
          <p:nvPr/>
        </p:nvSpPr>
        <p:spPr>
          <a:xfrm rot="0">
            <a:off x="1440752" y="7158857"/>
            <a:ext cx="2516920" cy="485775"/>
          </a:xfrm>
          <a:prstGeom prst="rect">
            <a:avLst/>
          </a:prstGeom>
        </p:spPr>
        <p:txBody>
          <a:bodyPr anchor="t" rtlCol="false" tIns="0" lIns="0" bIns="0" rIns="0">
            <a:spAutoFit/>
          </a:bodyPr>
          <a:lstStyle/>
          <a:p>
            <a:pPr algn="l">
              <a:lnSpc>
                <a:spcPts val="1891"/>
              </a:lnSpc>
            </a:pPr>
            <a:r>
              <a:rPr lang="en-US" sz="1576">
                <a:solidFill>
                  <a:srgbClr val="313C42"/>
                </a:solidFill>
                <a:latin typeface="Arial"/>
                <a:ea typeface="Arial"/>
                <a:cs typeface="Arial"/>
                <a:sym typeface="Arial"/>
              </a:rPr>
              <a:t>Project versioning / deliverable link</a:t>
            </a:r>
          </a:p>
        </p:txBody>
      </p:sp>
      <p:sp>
        <p:nvSpPr>
          <p:cNvPr name="TextBox 52" id="52"/>
          <p:cNvSpPr txBox="true"/>
          <p:nvPr/>
        </p:nvSpPr>
        <p:spPr>
          <a:xfrm rot="0">
            <a:off x="1217028" y="8711489"/>
            <a:ext cx="12658056" cy="823535"/>
          </a:xfrm>
          <a:prstGeom prst="rect">
            <a:avLst/>
          </a:prstGeom>
        </p:spPr>
        <p:txBody>
          <a:bodyPr anchor="t" rtlCol="false" tIns="0" lIns="0" bIns="0" rIns="0">
            <a:spAutoFit/>
          </a:bodyPr>
          <a:lstStyle/>
          <a:p>
            <a:pPr algn="l">
              <a:lnSpc>
                <a:spcPts val="2541"/>
              </a:lnSpc>
            </a:pPr>
            <a:r>
              <a:rPr lang="en-US" sz="2117" b="true">
                <a:solidFill>
                  <a:srgbClr val="313C42"/>
                </a:solidFill>
                <a:latin typeface="Arial Bold"/>
                <a:ea typeface="Arial Bold"/>
                <a:cs typeface="Arial Bold"/>
                <a:sym typeface="Arial Bold"/>
              </a:rPr>
              <a:t>Analytical pipeline: Excel → Pandas → cleaning &amp; feature engineering → visualization → statistical testing → recommendations</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3726725" y="0"/>
            <a:ext cx="4575115" cy="10295039"/>
            <a:chOff x="0" y="0"/>
            <a:chExt cx="6100153" cy="13726719"/>
          </a:xfrm>
        </p:grpSpPr>
        <p:sp>
          <p:nvSpPr>
            <p:cNvPr name="Freeform 3" id="3" descr="agri_template_right_strip.png"/>
            <p:cNvSpPr/>
            <p:nvPr/>
          </p:nvSpPr>
          <p:spPr>
            <a:xfrm flipH="false" flipV="false" rot="0">
              <a:off x="0" y="0"/>
              <a:ext cx="6100191" cy="13726668"/>
            </a:xfrm>
            <a:custGeom>
              <a:avLst/>
              <a:gdLst/>
              <a:ahLst/>
              <a:cxnLst/>
              <a:rect r="r" b="b" t="t" l="l"/>
              <a:pathLst>
                <a:path h="13726668" w="6100191">
                  <a:moveTo>
                    <a:pt x="0" y="0"/>
                  </a:moveTo>
                  <a:lnTo>
                    <a:pt x="6100191" y="0"/>
                  </a:lnTo>
                  <a:lnTo>
                    <a:pt x="6100191" y="13726668"/>
                  </a:lnTo>
                  <a:lnTo>
                    <a:pt x="0" y="13726668"/>
                  </a:lnTo>
                  <a:lnTo>
                    <a:pt x="0" y="0"/>
                  </a:lnTo>
                  <a:close/>
                </a:path>
              </a:pathLst>
            </a:custGeom>
            <a:blipFill>
              <a:blip r:embed="rId2"/>
              <a:stretch>
                <a:fillRect l="-4" t="0" r="-4" b="0"/>
              </a:stretch>
            </a:blipFill>
          </p:spPr>
        </p:sp>
      </p:grpSp>
      <p:grpSp>
        <p:nvGrpSpPr>
          <p:cNvPr name="Group 4" id="4"/>
          <p:cNvGrpSpPr/>
          <p:nvPr/>
        </p:nvGrpSpPr>
        <p:grpSpPr>
          <a:xfrm rot="0">
            <a:off x="-811854" y="6199946"/>
            <a:ext cx="1516705" cy="4095093"/>
            <a:chOff x="0" y="0"/>
            <a:chExt cx="1830235" cy="4941621"/>
          </a:xfrm>
        </p:grpSpPr>
        <p:sp>
          <p:nvSpPr>
            <p:cNvPr name="Freeform 5" id="5"/>
            <p:cNvSpPr/>
            <p:nvPr/>
          </p:nvSpPr>
          <p:spPr>
            <a:xfrm flipH="false" flipV="false" rot="0">
              <a:off x="0" y="0"/>
              <a:ext cx="1830324" cy="4941570"/>
            </a:xfrm>
            <a:custGeom>
              <a:avLst/>
              <a:gdLst/>
              <a:ahLst/>
              <a:cxnLst/>
              <a:rect r="r" b="b" t="t" l="l"/>
              <a:pathLst>
                <a:path h="4941570" w="1830324">
                  <a:moveTo>
                    <a:pt x="0" y="4941570"/>
                  </a:moveTo>
                  <a:lnTo>
                    <a:pt x="915162" y="0"/>
                  </a:lnTo>
                  <a:lnTo>
                    <a:pt x="1830324" y="4941570"/>
                  </a:lnTo>
                  <a:close/>
                </a:path>
              </a:pathLst>
            </a:custGeom>
            <a:solidFill>
              <a:srgbClr val="55C3E6"/>
            </a:solidFill>
          </p:spPr>
        </p:sp>
      </p:grpSp>
      <p:grpSp>
        <p:nvGrpSpPr>
          <p:cNvPr name="Group 6" id="6"/>
          <p:cNvGrpSpPr/>
          <p:nvPr/>
        </p:nvGrpSpPr>
        <p:grpSpPr>
          <a:xfrm rot="0">
            <a:off x="9883245" y="2086461"/>
            <a:ext cx="274539" cy="274539"/>
            <a:chOff x="0" y="0"/>
            <a:chExt cx="366052" cy="366052"/>
          </a:xfrm>
        </p:grpSpPr>
        <p:sp>
          <p:nvSpPr>
            <p:cNvPr name="Freeform 7" id="7"/>
            <p:cNvSpPr/>
            <p:nvPr/>
          </p:nvSpPr>
          <p:spPr>
            <a:xfrm flipH="false" flipV="false" rot="0">
              <a:off x="0" y="0"/>
              <a:ext cx="366014" cy="366014"/>
            </a:xfrm>
            <a:custGeom>
              <a:avLst/>
              <a:gdLst/>
              <a:ahLst/>
              <a:cxnLst/>
              <a:rect r="r" b="b" t="t" l="l"/>
              <a:pathLst>
                <a:path h="366014" w="366014">
                  <a:moveTo>
                    <a:pt x="0" y="0"/>
                  </a:moveTo>
                  <a:lnTo>
                    <a:pt x="366014" y="0"/>
                  </a:lnTo>
                  <a:lnTo>
                    <a:pt x="366014" y="366014"/>
                  </a:lnTo>
                  <a:lnTo>
                    <a:pt x="0" y="366014"/>
                  </a:lnTo>
                  <a:close/>
                </a:path>
              </a:pathLst>
            </a:custGeom>
            <a:solidFill>
              <a:srgbClr val="2F86C1"/>
            </a:solidFill>
          </p:spPr>
        </p:sp>
      </p:grpSp>
      <p:sp>
        <p:nvSpPr>
          <p:cNvPr name="TextBox 8" id="8"/>
          <p:cNvSpPr txBox="true"/>
          <p:nvPr/>
        </p:nvSpPr>
        <p:spPr>
          <a:xfrm rot="0">
            <a:off x="13022018" y="9713538"/>
            <a:ext cx="297551" cy="165163"/>
          </a:xfrm>
          <a:prstGeom prst="rect">
            <a:avLst/>
          </a:prstGeom>
        </p:spPr>
        <p:txBody>
          <a:bodyPr anchor="t" rtlCol="false" tIns="0" lIns="0" bIns="0" rIns="0">
            <a:spAutoFit/>
          </a:bodyPr>
          <a:lstStyle/>
          <a:p>
            <a:pPr algn="r">
              <a:lnSpc>
                <a:spcPts val="1260"/>
              </a:lnSpc>
            </a:pPr>
            <a:r>
              <a:rPr lang="en-US" sz="1050">
                <a:solidFill>
                  <a:srgbClr val="5E6A71"/>
                </a:solidFill>
                <a:latin typeface="Arial"/>
                <a:ea typeface="Arial"/>
                <a:cs typeface="Arial"/>
                <a:sym typeface="Arial"/>
              </a:rPr>
              <a:t>06</a:t>
            </a:r>
          </a:p>
        </p:txBody>
      </p:sp>
      <p:sp>
        <p:nvSpPr>
          <p:cNvPr name="TextBox 9" id="9"/>
          <p:cNvSpPr txBox="true"/>
          <p:nvPr/>
        </p:nvSpPr>
        <p:spPr>
          <a:xfrm rot="0">
            <a:off x="1079764" y="685552"/>
            <a:ext cx="11896639" cy="819845"/>
          </a:xfrm>
          <a:prstGeom prst="rect">
            <a:avLst/>
          </a:prstGeom>
        </p:spPr>
        <p:txBody>
          <a:bodyPr anchor="t" rtlCol="false" tIns="0" lIns="0" bIns="0" rIns="0">
            <a:spAutoFit/>
          </a:bodyPr>
          <a:lstStyle/>
          <a:p>
            <a:pPr algn="l">
              <a:lnSpc>
                <a:spcPts val="5224"/>
              </a:lnSpc>
            </a:pPr>
            <a:r>
              <a:rPr lang="en-US" sz="4353" b="true">
                <a:solidFill>
                  <a:srgbClr val="121212"/>
                </a:solidFill>
                <a:latin typeface="Arial Bold"/>
                <a:ea typeface="Arial Bold"/>
                <a:cs typeface="Arial Bold"/>
                <a:sym typeface="Arial Bold"/>
              </a:rPr>
              <a:t>RESULTS</a:t>
            </a:r>
          </a:p>
        </p:txBody>
      </p:sp>
      <p:sp>
        <p:nvSpPr>
          <p:cNvPr name="TextBox 10" id="10"/>
          <p:cNvSpPr txBox="true"/>
          <p:nvPr/>
        </p:nvSpPr>
        <p:spPr>
          <a:xfrm rot="0">
            <a:off x="1107215" y="1536611"/>
            <a:ext cx="11896639" cy="408041"/>
          </a:xfrm>
          <a:prstGeom prst="rect">
            <a:avLst/>
          </a:prstGeom>
        </p:spPr>
        <p:txBody>
          <a:bodyPr anchor="t" rtlCol="false" tIns="0" lIns="0" bIns="0" rIns="0">
            <a:spAutoFit/>
          </a:bodyPr>
          <a:lstStyle/>
          <a:p>
            <a:pPr algn="l">
              <a:lnSpc>
                <a:spcPts val="1981"/>
              </a:lnSpc>
            </a:pPr>
            <a:r>
              <a:rPr lang="en-US" sz="1651">
                <a:solidFill>
                  <a:srgbClr val="5E6A71"/>
                </a:solidFill>
                <a:latin typeface="Arial"/>
                <a:ea typeface="Arial"/>
                <a:cs typeface="Arial"/>
                <a:sym typeface="Arial"/>
              </a:rPr>
              <a:t>Seasonal performance is the central comparison</a:t>
            </a:r>
          </a:p>
        </p:txBody>
      </p:sp>
      <p:grpSp>
        <p:nvGrpSpPr>
          <p:cNvPr name="Group 11" id="11"/>
          <p:cNvGrpSpPr/>
          <p:nvPr/>
        </p:nvGrpSpPr>
        <p:grpSpPr>
          <a:xfrm rot="0">
            <a:off x="960872" y="2059010"/>
            <a:ext cx="9128274" cy="5422059"/>
            <a:chOff x="0" y="0"/>
            <a:chExt cx="12171032" cy="7229412"/>
          </a:xfrm>
        </p:grpSpPr>
        <p:sp>
          <p:nvSpPr>
            <p:cNvPr name="Freeform 12" id="12" descr="seasonal_performance.png"/>
            <p:cNvSpPr/>
            <p:nvPr/>
          </p:nvSpPr>
          <p:spPr>
            <a:xfrm flipH="false" flipV="false" rot="0">
              <a:off x="0" y="0"/>
              <a:ext cx="12171045" cy="7229348"/>
            </a:xfrm>
            <a:custGeom>
              <a:avLst/>
              <a:gdLst/>
              <a:ahLst/>
              <a:cxnLst/>
              <a:rect r="r" b="b" t="t" l="l"/>
              <a:pathLst>
                <a:path h="7229348" w="12171045">
                  <a:moveTo>
                    <a:pt x="0" y="0"/>
                  </a:moveTo>
                  <a:lnTo>
                    <a:pt x="12171045" y="0"/>
                  </a:lnTo>
                  <a:lnTo>
                    <a:pt x="12171045" y="7229348"/>
                  </a:lnTo>
                  <a:lnTo>
                    <a:pt x="0" y="7229348"/>
                  </a:lnTo>
                  <a:lnTo>
                    <a:pt x="0" y="0"/>
                  </a:lnTo>
                  <a:close/>
                </a:path>
              </a:pathLst>
            </a:custGeom>
            <a:blipFill>
              <a:blip r:embed="rId3"/>
              <a:stretch>
                <a:fillRect l="-1295" t="0" r="-1295" b="0"/>
              </a:stretch>
            </a:blipFill>
          </p:spPr>
        </p:sp>
      </p:grpSp>
      <p:grpSp>
        <p:nvGrpSpPr>
          <p:cNvPr name="Group 13" id="13"/>
          <p:cNvGrpSpPr/>
          <p:nvPr/>
        </p:nvGrpSpPr>
        <p:grpSpPr>
          <a:xfrm rot="0">
            <a:off x="10079612" y="2118112"/>
            <a:ext cx="3244844" cy="1693726"/>
            <a:chOff x="0" y="0"/>
            <a:chExt cx="4326458" cy="2258301"/>
          </a:xfrm>
        </p:grpSpPr>
        <p:sp>
          <p:nvSpPr>
            <p:cNvPr name="Freeform 14" id="14"/>
            <p:cNvSpPr/>
            <p:nvPr/>
          </p:nvSpPr>
          <p:spPr>
            <a:xfrm flipH="false" flipV="false" rot="0">
              <a:off x="0" y="0"/>
              <a:ext cx="4326509" cy="2258314"/>
            </a:xfrm>
            <a:custGeom>
              <a:avLst/>
              <a:gdLst/>
              <a:ahLst/>
              <a:cxnLst/>
              <a:rect r="r" b="b" t="t" l="l"/>
              <a:pathLst>
                <a:path h="2258314" w="4326509">
                  <a:moveTo>
                    <a:pt x="0" y="376428"/>
                  </a:moveTo>
                  <a:cubicBezTo>
                    <a:pt x="0" y="168529"/>
                    <a:pt x="168529" y="0"/>
                    <a:pt x="376428" y="0"/>
                  </a:cubicBezTo>
                  <a:lnTo>
                    <a:pt x="3950081" y="0"/>
                  </a:lnTo>
                  <a:cubicBezTo>
                    <a:pt x="4157980" y="0"/>
                    <a:pt x="4326509" y="168529"/>
                    <a:pt x="4326509" y="376428"/>
                  </a:cubicBezTo>
                  <a:lnTo>
                    <a:pt x="4326509" y="1881886"/>
                  </a:lnTo>
                  <a:cubicBezTo>
                    <a:pt x="4326509" y="2089785"/>
                    <a:pt x="4157980" y="2258314"/>
                    <a:pt x="3950081" y="2258314"/>
                  </a:cubicBezTo>
                  <a:lnTo>
                    <a:pt x="376428" y="2258314"/>
                  </a:lnTo>
                  <a:cubicBezTo>
                    <a:pt x="168529" y="2258314"/>
                    <a:pt x="0" y="2089785"/>
                    <a:pt x="0" y="1881886"/>
                  </a:cubicBezTo>
                  <a:close/>
                </a:path>
              </a:pathLst>
            </a:custGeom>
            <a:solidFill>
              <a:srgbClr val="FFFFFF"/>
            </a:solidFill>
            <a:ln w="19065" cap="sq">
              <a:solidFill>
                <a:srgbClr val="DCE4E8"/>
              </a:solidFill>
              <a:prstDash val="solid"/>
              <a:miter/>
            </a:ln>
          </p:spPr>
        </p:sp>
      </p:grpSp>
      <p:grpSp>
        <p:nvGrpSpPr>
          <p:cNvPr name="Group 15" id="15"/>
          <p:cNvGrpSpPr/>
          <p:nvPr/>
        </p:nvGrpSpPr>
        <p:grpSpPr>
          <a:xfrm rot="0">
            <a:off x="10089147" y="2127647"/>
            <a:ext cx="96088" cy="1674657"/>
            <a:chOff x="0" y="0"/>
            <a:chExt cx="128118" cy="2232876"/>
          </a:xfrm>
        </p:grpSpPr>
        <p:sp>
          <p:nvSpPr>
            <p:cNvPr name="Freeform 16" id="16"/>
            <p:cNvSpPr/>
            <p:nvPr/>
          </p:nvSpPr>
          <p:spPr>
            <a:xfrm flipH="false" flipV="false" rot="0">
              <a:off x="0" y="0"/>
              <a:ext cx="128143" cy="2232914"/>
            </a:xfrm>
            <a:custGeom>
              <a:avLst/>
              <a:gdLst/>
              <a:ahLst/>
              <a:cxnLst/>
              <a:rect r="r" b="b" t="t" l="l"/>
              <a:pathLst>
                <a:path h="2232914" w="128143">
                  <a:moveTo>
                    <a:pt x="0" y="0"/>
                  </a:moveTo>
                  <a:lnTo>
                    <a:pt x="128143" y="0"/>
                  </a:lnTo>
                  <a:lnTo>
                    <a:pt x="128143" y="2232914"/>
                  </a:lnTo>
                  <a:lnTo>
                    <a:pt x="0" y="2232914"/>
                  </a:lnTo>
                  <a:close/>
                </a:path>
              </a:pathLst>
            </a:custGeom>
            <a:solidFill>
              <a:srgbClr val="41B45A"/>
            </a:solidFill>
          </p:spPr>
        </p:sp>
      </p:grpSp>
      <p:sp>
        <p:nvSpPr>
          <p:cNvPr name="TextBox 17" id="17"/>
          <p:cNvSpPr txBox="true"/>
          <p:nvPr/>
        </p:nvSpPr>
        <p:spPr>
          <a:xfrm rot="0">
            <a:off x="10496293" y="2387670"/>
            <a:ext cx="2452649" cy="311963"/>
          </a:xfrm>
          <a:prstGeom prst="rect">
            <a:avLst/>
          </a:prstGeom>
        </p:spPr>
        <p:txBody>
          <a:bodyPr anchor="t" rtlCol="false" tIns="0" lIns="0" bIns="0" rIns="0">
            <a:spAutoFit/>
          </a:bodyPr>
          <a:lstStyle/>
          <a:p>
            <a:pPr algn="l">
              <a:lnSpc>
                <a:spcPts val="1711"/>
              </a:lnSpc>
            </a:pPr>
            <a:r>
              <a:rPr lang="en-US" sz="1426" b="true">
                <a:solidFill>
                  <a:srgbClr val="5E6A71"/>
                </a:solidFill>
                <a:latin typeface="Arial Bold"/>
                <a:ea typeface="Arial Bold"/>
                <a:cs typeface="Arial Bold"/>
                <a:sym typeface="Arial Bold"/>
              </a:rPr>
              <a:t>KHARIF YIELD</a:t>
            </a:r>
          </a:p>
        </p:txBody>
      </p:sp>
      <p:sp>
        <p:nvSpPr>
          <p:cNvPr name="TextBox 18" id="18"/>
          <p:cNvSpPr txBox="true"/>
          <p:nvPr/>
        </p:nvSpPr>
        <p:spPr>
          <a:xfrm rot="0">
            <a:off x="10496293" y="2813199"/>
            <a:ext cx="2452649" cy="613943"/>
          </a:xfrm>
          <a:prstGeom prst="rect">
            <a:avLst/>
          </a:prstGeom>
        </p:spPr>
        <p:txBody>
          <a:bodyPr anchor="t" rtlCol="false" tIns="0" lIns="0" bIns="0" rIns="0">
            <a:spAutoFit/>
          </a:bodyPr>
          <a:lstStyle/>
          <a:p>
            <a:pPr algn="l">
              <a:lnSpc>
                <a:spcPts val="3242"/>
              </a:lnSpc>
            </a:pPr>
            <a:r>
              <a:rPr lang="en-US" sz="2702" b="true">
                <a:solidFill>
                  <a:srgbClr val="41B45A"/>
                </a:solidFill>
                <a:latin typeface="Arial Bold"/>
                <a:ea typeface="Arial Bold"/>
                <a:cs typeface="Arial Bold"/>
                <a:sym typeface="Arial Bold"/>
              </a:rPr>
              <a:t>5.63 t/ha</a:t>
            </a:r>
          </a:p>
        </p:txBody>
      </p:sp>
      <p:sp>
        <p:nvSpPr>
          <p:cNvPr name="TextBox 19" id="19"/>
          <p:cNvSpPr txBox="true"/>
          <p:nvPr/>
        </p:nvSpPr>
        <p:spPr>
          <a:xfrm rot="0">
            <a:off x="10475709" y="3408093"/>
            <a:ext cx="2452649" cy="339414"/>
          </a:xfrm>
          <a:prstGeom prst="rect">
            <a:avLst/>
          </a:prstGeom>
        </p:spPr>
        <p:txBody>
          <a:bodyPr anchor="t" rtlCol="false" tIns="0" lIns="0" bIns="0" rIns="0">
            <a:spAutoFit/>
          </a:bodyPr>
          <a:lstStyle/>
          <a:p>
            <a:pPr algn="l">
              <a:lnSpc>
                <a:spcPts val="1531"/>
              </a:lnSpc>
            </a:pPr>
            <a:r>
              <a:rPr lang="en-US" sz="1275">
                <a:solidFill>
                  <a:srgbClr val="313C42"/>
                </a:solidFill>
                <a:latin typeface="Arial"/>
                <a:ea typeface="Arial"/>
                <a:cs typeface="Arial"/>
                <a:sym typeface="Arial"/>
              </a:rPr>
              <a:t>Highest average yield</a:t>
            </a:r>
          </a:p>
        </p:txBody>
      </p:sp>
      <p:grpSp>
        <p:nvGrpSpPr>
          <p:cNvPr name="Group 20" id="20"/>
          <p:cNvGrpSpPr/>
          <p:nvPr/>
        </p:nvGrpSpPr>
        <p:grpSpPr>
          <a:xfrm rot="0">
            <a:off x="10079612" y="3998671"/>
            <a:ext cx="3244844" cy="1693726"/>
            <a:chOff x="0" y="0"/>
            <a:chExt cx="4326458" cy="2258301"/>
          </a:xfrm>
        </p:grpSpPr>
        <p:sp>
          <p:nvSpPr>
            <p:cNvPr name="Freeform 21" id="21"/>
            <p:cNvSpPr/>
            <p:nvPr/>
          </p:nvSpPr>
          <p:spPr>
            <a:xfrm flipH="false" flipV="false" rot="0">
              <a:off x="0" y="0"/>
              <a:ext cx="4326509" cy="2258314"/>
            </a:xfrm>
            <a:custGeom>
              <a:avLst/>
              <a:gdLst/>
              <a:ahLst/>
              <a:cxnLst/>
              <a:rect r="r" b="b" t="t" l="l"/>
              <a:pathLst>
                <a:path h="2258314" w="4326509">
                  <a:moveTo>
                    <a:pt x="0" y="376428"/>
                  </a:moveTo>
                  <a:cubicBezTo>
                    <a:pt x="0" y="168529"/>
                    <a:pt x="168529" y="0"/>
                    <a:pt x="376428" y="0"/>
                  </a:cubicBezTo>
                  <a:lnTo>
                    <a:pt x="3950081" y="0"/>
                  </a:lnTo>
                  <a:cubicBezTo>
                    <a:pt x="4157980" y="0"/>
                    <a:pt x="4326509" y="168529"/>
                    <a:pt x="4326509" y="376428"/>
                  </a:cubicBezTo>
                  <a:lnTo>
                    <a:pt x="4326509" y="1881886"/>
                  </a:lnTo>
                  <a:cubicBezTo>
                    <a:pt x="4326509" y="2089785"/>
                    <a:pt x="4157980" y="2258314"/>
                    <a:pt x="3950081" y="2258314"/>
                  </a:cubicBezTo>
                  <a:lnTo>
                    <a:pt x="376428" y="2258314"/>
                  </a:lnTo>
                  <a:cubicBezTo>
                    <a:pt x="168529" y="2258314"/>
                    <a:pt x="0" y="2089785"/>
                    <a:pt x="0" y="1881886"/>
                  </a:cubicBezTo>
                  <a:close/>
                </a:path>
              </a:pathLst>
            </a:custGeom>
            <a:solidFill>
              <a:srgbClr val="FFFFFF"/>
            </a:solidFill>
            <a:ln w="19065" cap="sq">
              <a:solidFill>
                <a:srgbClr val="DCE4E8"/>
              </a:solidFill>
              <a:prstDash val="solid"/>
              <a:miter/>
            </a:ln>
          </p:spPr>
        </p:sp>
      </p:grpSp>
      <p:grpSp>
        <p:nvGrpSpPr>
          <p:cNvPr name="Group 22" id="22"/>
          <p:cNvGrpSpPr/>
          <p:nvPr/>
        </p:nvGrpSpPr>
        <p:grpSpPr>
          <a:xfrm rot="0">
            <a:off x="10089147" y="4008206"/>
            <a:ext cx="96088" cy="1674657"/>
            <a:chOff x="0" y="0"/>
            <a:chExt cx="128118" cy="2232876"/>
          </a:xfrm>
        </p:grpSpPr>
        <p:sp>
          <p:nvSpPr>
            <p:cNvPr name="Freeform 23" id="23"/>
            <p:cNvSpPr/>
            <p:nvPr/>
          </p:nvSpPr>
          <p:spPr>
            <a:xfrm flipH="false" flipV="false" rot="0">
              <a:off x="0" y="0"/>
              <a:ext cx="128143" cy="2232914"/>
            </a:xfrm>
            <a:custGeom>
              <a:avLst/>
              <a:gdLst/>
              <a:ahLst/>
              <a:cxnLst/>
              <a:rect r="r" b="b" t="t" l="l"/>
              <a:pathLst>
                <a:path h="2232914" w="128143">
                  <a:moveTo>
                    <a:pt x="0" y="0"/>
                  </a:moveTo>
                  <a:lnTo>
                    <a:pt x="128143" y="0"/>
                  </a:lnTo>
                  <a:lnTo>
                    <a:pt x="128143" y="2232914"/>
                  </a:lnTo>
                  <a:lnTo>
                    <a:pt x="0" y="2232914"/>
                  </a:lnTo>
                  <a:close/>
                </a:path>
              </a:pathLst>
            </a:custGeom>
            <a:solidFill>
              <a:srgbClr val="2F86C1"/>
            </a:solidFill>
          </p:spPr>
        </p:sp>
      </p:grpSp>
      <p:sp>
        <p:nvSpPr>
          <p:cNvPr name="TextBox 24" id="24"/>
          <p:cNvSpPr txBox="true"/>
          <p:nvPr/>
        </p:nvSpPr>
        <p:spPr>
          <a:xfrm rot="0">
            <a:off x="10496293" y="4268229"/>
            <a:ext cx="2452649" cy="311963"/>
          </a:xfrm>
          <a:prstGeom prst="rect">
            <a:avLst/>
          </a:prstGeom>
        </p:spPr>
        <p:txBody>
          <a:bodyPr anchor="t" rtlCol="false" tIns="0" lIns="0" bIns="0" rIns="0">
            <a:spAutoFit/>
          </a:bodyPr>
          <a:lstStyle/>
          <a:p>
            <a:pPr algn="l">
              <a:lnSpc>
                <a:spcPts val="1711"/>
              </a:lnSpc>
            </a:pPr>
            <a:r>
              <a:rPr lang="en-US" sz="1426" b="true">
                <a:solidFill>
                  <a:srgbClr val="5E6A71"/>
                </a:solidFill>
                <a:latin typeface="Arial Bold"/>
                <a:ea typeface="Arial Bold"/>
                <a:cs typeface="Arial Bold"/>
                <a:sym typeface="Arial Bold"/>
              </a:rPr>
              <a:t>KHARIF PROFIT</a:t>
            </a:r>
          </a:p>
        </p:txBody>
      </p:sp>
      <p:sp>
        <p:nvSpPr>
          <p:cNvPr name="TextBox 25" id="25"/>
          <p:cNvSpPr txBox="true"/>
          <p:nvPr/>
        </p:nvSpPr>
        <p:spPr>
          <a:xfrm rot="0">
            <a:off x="10496293" y="4693758"/>
            <a:ext cx="2452649" cy="613943"/>
          </a:xfrm>
          <a:prstGeom prst="rect">
            <a:avLst/>
          </a:prstGeom>
        </p:spPr>
        <p:txBody>
          <a:bodyPr anchor="t" rtlCol="false" tIns="0" lIns="0" bIns="0" rIns="0">
            <a:spAutoFit/>
          </a:bodyPr>
          <a:lstStyle/>
          <a:p>
            <a:pPr algn="l">
              <a:lnSpc>
                <a:spcPts val="3242"/>
              </a:lnSpc>
            </a:pPr>
            <a:r>
              <a:rPr lang="en-US" sz="2702" b="true">
                <a:solidFill>
                  <a:srgbClr val="2F86C1"/>
                </a:solidFill>
                <a:latin typeface="Arial Bold"/>
                <a:ea typeface="Arial Bold"/>
                <a:cs typeface="Arial Bold"/>
                <a:sym typeface="Arial Bold"/>
              </a:rPr>
              <a:t>₹178,915</a:t>
            </a:r>
          </a:p>
        </p:txBody>
      </p:sp>
      <p:sp>
        <p:nvSpPr>
          <p:cNvPr name="TextBox 26" id="26"/>
          <p:cNvSpPr txBox="true"/>
          <p:nvPr/>
        </p:nvSpPr>
        <p:spPr>
          <a:xfrm rot="0">
            <a:off x="10496293" y="5215966"/>
            <a:ext cx="2452649" cy="339414"/>
          </a:xfrm>
          <a:prstGeom prst="rect">
            <a:avLst/>
          </a:prstGeom>
        </p:spPr>
        <p:txBody>
          <a:bodyPr anchor="t" rtlCol="false" tIns="0" lIns="0" bIns="0" rIns="0">
            <a:spAutoFit/>
          </a:bodyPr>
          <a:lstStyle/>
          <a:p>
            <a:pPr algn="l">
              <a:lnSpc>
                <a:spcPts val="1531"/>
              </a:lnSpc>
            </a:pPr>
            <a:r>
              <a:rPr lang="en-US" sz="1275">
                <a:solidFill>
                  <a:srgbClr val="313C42"/>
                </a:solidFill>
                <a:latin typeface="Arial"/>
                <a:ea typeface="Arial"/>
                <a:cs typeface="Arial"/>
                <a:sym typeface="Arial"/>
              </a:rPr>
              <a:t>Highest average profit</a:t>
            </a:r>
          </a:p>
        </p:txBody>
      </p:sp>
      <p:grpSp>
        <p:nvGrpSpPr>
          <p:cNvPr name="Group 27" id="27"/>
          <p:cNvGrpSpPr/>
          <p:nvPr/>
        </p:nvGrpSpPr>
        <p:grpSpPr>
          <a:xfrm rot="0">
            <a:off x="10079612" y="5879230"/>
            <a:ext cx="3244844" cy="1693726"/>
            <a:chOff x="0" y="0"/>
            <a:chExt cx="4326458" cy="2258301"/>
          </a:xfrm>
        </p:grpSpPr>
        <p:sp>
          <p:nvSpPr>
            <p:cNvPr name="Freeform 28" id="28"/>
            <p:cNvSpPr/>
            <p:nvPr/>
          </p:nvSpPr>
          <p:spPr>
            <a:xfrm flipH="false" flipV="false" rot="0">
              <a:off x="0" y="0"/>
              <a:ext cx="4326509" cy="2258314"/>
            </a:xfrm>
            <a:custGeom>
              <a:avLst/>
              <a:gdLst/>
              <a:ahLst/>
              <a:cxnLst/>
              <a:rect r="r" b="b" t="t" l="l"/>
              <a:pathLst>
                <a:path h="2258314" w="4326509">
                  <a:moveTo>
                    <a:pt x="0" y="376428"/>
                  </a:moveTo>
                  <a:cubicBezTo>
                    <a:pt x="0" y="168529"/>
                    <a:pt x="168529" y="0"/>
                    <a:pt x="376428" y="0"/>
                  </a:cubicBezTo>
                  <a:lnTo>
                    <a:pt x="3950081" y="0"/>
                  </a:lnTo>
                  <a:cubicBezTo>
                    <a:pt x="4157980" y="0"/>
                    <a:pt x="4326509" y="168529"/>
                    <a:pt x="4326509" y="376428"/>
                  </a:cubicBezTo>
                  <a:lnTo>
                    <a:pt x="4326509" y="1881886"/>
                  </a:lnTo>
                  <a:cubicBezTo>
                    <a:pt x="4326509" y="2089785"/>
                    <a:pt x="4157980" y="2258314"/>
                    <a:pt x="3950081" y="2258314"/>
                  </a:cubicBezTo>
                  <a:lnTo>
                    <a:pt x="376428" y="2258314"/>
                  </a:lnTo>
                  <a:cubicBezTo>
                    <a:pt x="168529" y="2258314"/>
                    <a:pt x="0" y="2089785"/>
                    <a:pt x="0" y="1881886"/>
                  </a:cubicBezTo>
                  <a:close/>
                </a:path>
              </a:pathLst>
            </a:custGeom>
            <a:solidFill>
              <a:srgbClr val="FFFFFF"/>
            </a:solidFill>
            <a:ln w="19065" cap="sq">
              <a:solidFill>
                <a:srgbClr val="DCE4E8"/>
              </a:solidFill>
              <a:prstDash val="solid"/>
              <a:miter/>
            </a:ln>
          </p:spPr>
        </p:sp>
      </p:grpSp>
      <p:grpSp>
        <p:nvGrpSpPr>
          <p:cNvPr name="Group 29" id="29"/>
          <p:cNvGrpSpPr/>
          <p:nvPr/>
        </p:nvGrpSpPr>
        <p:grpSpPr>
          <a:xfrm rot="0">
            <a:off x="10089147" y="5888765"/>
            <a:ext cx="96088" cy="1674657"/>
            <a:chOff x="0" y="0"/>
            <a:chExt cx="128118" cy="2232876"/>
          </a:xfrm>
        </p:grpSpPr>
        <p:sp>
          <p:nvSpPr>
            <p:cNvPr name="Freeform 30" id="30"/>
            <p:cNvSpPr/>
            <p:nvPr/>
          </p:nvSpPr>
          <p:spPr>
            <a:xfrm flipH="false" flipV="false" rot="0">
              <a:off x="0" y="0"/>
              <a:ext cx="128143" cy="2232914"/>
            </a:xfrm>
            <a:custGeom>
              <a:avLst/>
              <a:gdLst/>
              <a:ahLst/>
              <a:cxnLst/>
              <a:rect r="r" b="b" t="t" l="l"/>
              <a:pathLst>
                <a:path h="2232914" w="128143">
                  <a:moveTo>
                    <a:pt x="0" y="0"/>
                  </a:moveTo>
                  <a:lnTo>
                    <a:pt x="128143" y="0"/>
                  </a:lnTo>
                  <a:lnTo>
                    <a:pt x="128143" y="2232914"/>
                  </a:lnTo>
                  <a:lnTo>
                    <a:pt x="0" y="2232914"/>
                  </a:lnTo>
                  <a:close/>
                </a:path>
              </a:pathLst>
            </a:custGeom>
            <a:solidFill>
              <a:srgbClr val="C25252"/>
            </a:solidFill>
          </p:spPr>
        </p:sp>
      </p:grpSp>
      <p:sp>
        <p:nvSpPr>
          <p:cNvPr name="TextBox 31" id="31"/>
          <p:cNvSpPr txBox="true"/>
          <p:nvPr/>
        </p:nvSpPr>
        <p:spPr>
          <a:xfrm rot="0">
            <a:off x="10496293" y="6148788"/>
            <a:ext cx="2452649" cy="311963"/>
          </a:xfrm>
          <a:prstGeom prst="rect">
            <a:avLst/>
          </a:prstGeom>
        </p:spPr>
        <p:txBody>
          <a:bodyPr anchor="t" rtlCol="false" tIns="0" lIns="0" bIns="0" rIns="0">
            <a:spAutoFit/>
          </a:bodyPr>
          <a:lstStyle/>
          <a:p>
            <a:pPr algn="l">
              <a:lnSpc>
                <a:spcPts val="1711"/>
              </a:lnSpc>
            </a:pPr>
            <a:r>
              <a:rPr lang="en-US" sz="1426" b="true">
                <a:solidFill>
                  <a:srgbClr val="5E6A71"/>
                </a:solidFill>
                <a:latin typeface="Arial Bold"/>
                <a:ea typeface="Arial Bold"/>
                <a:cs typeface="Arial Bold"/>
                <a:sym typeface="Arial Bold"/>
              </a:rPr>
              <a:t>ZAID PROFIT</a:t>
            </a:r>
          </a:p>
        </p:txBody>
      </p:sp>
      <p:sp>
        <p:nvSpPr>
          <p:cNvPr name="TextBox 32" id="32"/>
          <p:cNvSpPr txBox="true"/>
          <p:nvPr/>
        </p:nvSpPr>
        <p:spPr>
          <a:xfrm rot="0">
            <a:off x="10496293" y="6574317"/>
            <a:ext cx="2452649" cy="613943"/>
          </a:xfrm>
          <a:prstGeom prst="rect">
            <a:avLst/>
          </a:prstGeom>
        </p:spPr>
        <p:txBody>
          <a:bodyPr anchor="t" rtlCol="false" tIns="0" lIns="0" bIns="0" rIns="0">
            <a:spAutoFit/>
          </a:bodyPr>
          <a:lstStyle/>
          <a:p>
            <a:pPr algn="l">
              <a:lnSpc>
                <a:spcPts val="3242"/>
              </a:lnSpc>
            </a:pPr>
            <a:r>
              <a:rPr lang="en-US" sz="2702" b="true">
                <a:solidFill>
                  <a:srgbClr val="C25252"/>
                </a:solidFill>
                <a:latin typeface="Arial Bold"/>
                <a:ea typeface="Arial Bold"/>
                <a:cs typeface="Arial Bold"/>
                <a:sym typeface="Arial Bold"/>
              </a:rPr>
              <a:t>₹-24,805</a:t>
            </a:r>
          </a:p>
        </p:txBody>
      </p:sp>
      <p:sp>
        <p:nvSpPr>
          <p:cNvPr name="TextBox 33" id="33"/>
          <p:cNvSpPr txBox="true"/>
          <p:nvPr/>
        </p:nvSpPr>
        <p:spPr>
          <a:xfrm rot="0">
            <a:off x="10475709" y="7141654"/>
            <a:ext cx="2452649" cy="339414"/>
          </a:xfrm>
          <a:prstGeom prst="rect">
            <a:avLst/>
          </a:prstGeom>
        </p:spPr>
        <p:txBody>
          <a:bodyPr anchor="t" rtlCol="false" tIns="0" lIns="0" bIns="0" rIns="0">
            <a:spAutoFit/>
          </a:bodyPr>
          <a:lstStyle/>
          <a:p>
            <a:pPr algn="l">
              <a:lnSpc>
                <a:spcPts val="1531"/>
              </a:lnSpc>
            </a:pPr>
            <a:r>
              <a:rPr lang="en-US" sz="1275">
                <a:solidFill>
                  <a:srgbClr val="313C42"/>
                </a:solidFill>
                <a:latin typeface="Arial"/>
                <a:ea typeface="Arial"/>
                <a:cs typeface="Arial"/>
                <a:sym typeface="Arial"/>
              </a:rPr>
              <a:t>Only season with negative average profit</a:t>
            </a:r>
          </a:p>
        </p:txBody>
      </p:sp>
      <p:sp>
        <p:nvSpPr>
          <p:cNvPr name="TextBox 34" id="34"/>
          <p:cNvSpPr txBox="true"/>
          <p:nvPr/>
        </p:nvSpPr>
        <p:spPr>
          <a:xfrm rot="0">
            <a:off x="10180587" y="7878356"/>
            <a:ext cx="3708938" cy="1379944"/>
          </a:xfrm>
          <a:prstGeom prst="rect">
            <a:avLst/>
          </a:prstGeom>
        </p:spPr>
        <p:txBody>
          <a:bodyPr anchor="t" rtlCol="false" tIns="0" lIns="0" bIns="0" rIns="0">
            <a:spAutoFit/>
          </a:bodyPr>
          <a:lstStyle/>
          <a:p>
            <a:pPr algn="l">
              <a:lnSpc>
                <a:spcPts val="1822"/>
              </a:lnSpc>
            </a:pPr>
            <a:r>
              <a:rPr lang="en-US" sz="1518">
                <a:solidFill>
                  <a:srgbClr val="313C42"/>
                </a:solidFill>
                <a:latin typeface="Arial"/>
                <a:ea typeface="Arial"/>
                <a:cs typeface="Arial"/>
                <a:sym typeface="Arial"/>
              </a:rPr>
              <a:t>Kharif also has the highest average rainfall (849.2 mm), water efficiency (5.89 t/1,000 m³) and disease/pest risk (54.47%).</a:t>
            </a:r>
          </a:p>
        </p:txBody>
      </p:sp>
      <p:grpSp>
        <p:nvGrpSpPr>
          <p:cNvPr name="Group 35" id="35"/>
          <p:cNvGrpSpPr/>
          <p:nvPr/>
        </p:nvGrpSpPr>
        <p:grpSpPr>
          <a:xfrm rot="0">
            <a:off x="960872" y="7714421"/>
            <a:ext cx="9128274" cy="1441304"/>
            <a:chOff x="0" y="0"/>
            <a:chExt cx="12171032" cy="1921739"/>
          </a:xfrm>
        </p:grpSpPr>
        <p:sp>
          <p:nvSpPr>
            <p:cNvPr name="Freeform 36" id="36"/>
            <p:cNvSpPr/>
            <p:nvPr/>
          </p:nvSpPr>
          <p:spPr>
            <a:xfrm flipH="false" flipV="false" rot="0">
              <a:off x="0" y="0"/>
              <a:ext cx="12171045" cy="1921764"/>
            </a:xfrm>
            <a:custGeom>
              <a:avLst/>
              <a:gdLst/>
              <a:ahLst/>
              <a:cxnLst/>
              <a:rect r="r" b="b" t="t" l="l"/>
              <a:pathLst>
                <a:path h="1921764" w="12171045">
                  <a:moveTo>
                    <a:pt x="0" y="320294"/>
                  </a:moveTo>
                  <a:cubicBezTo>
                    <a:pt x="0" y="143383"/>
                    <a:pt x="143383" y="0"/>
                    <a:pt x="320294" y="0"/>
                  </a:cubicBezTo>
                  <a:lnTo>
                    <a:pt x="11850751" y="0"/>
                  </a:lnTo>
                  <a:cubicBezTo>
                    <a:pt x="12027662" y="0"/>
                    <a:pt x="12171045" y="143383"/>
                    <a:pt x="12171045" y="320294"/>
                  </a:cubicBezTo>
                  <a:lnTo>
                    <a:pt x="12171045" y="1601470"/>
                  </a:lnTo>
                  <a:cubicBezTo>
                    <a:pt x="12171045" y="1778381"/>
                    <a:pt x="12027662" y="1921764"/>
                    <a:pt x="11850751" y="1921764"/>
                  </a:cubicBezTo>
                  <a:lnTo>
                    <a:pt x="320294" y="1921764"/>
                  </a:lnTo>
                  <a:cubicBezTo>
                    <a:pt x="143383" y="1921764"/>
                    <a:pt x="0" y="1778381"/>
                    <a:pt x="0" y="1601470"/>
                  </a:cubicBezTo>
                  <a:close/>
                </a:path>
              </a:pathLst>
            </a:custGeom>
            <a:solidFill>
              <a:srgbClr val="1F5A86"/>
            </a:solidFill>
          </p:spPr>
        </p:sp>
      </p:grpSp>
      <p:sp>
        <p:nvSpPr>
          <p:cNvPr name="TextBox 37" id="37"/>
          <p:cNvSpPr txBox="true"/>
          <p:nvPr/>
        </p:nvSpPr>
        <p:spPr>
          <a:xfrm rot="0">
            <a:off x="1258214" y="7878356"/>
            <a:ext cx="8533590" cy="229600"/>
          </a:xfrm>
          <a:prstGeom prst="rect">
            <a:avLst/>
          </a:prstGeom>
        </p:spPr>
        <p:txBody>
          <a:bodyPr anchor="t" rtlCol="false" tIns="0" lIns="0" bIns="0" rIns="0">
            <a:spAutoFit/>
          </a:bodyPr>
          <a:lstStyle/>
          <a:p>
            <a:pPr algn="l">
              <a:lnSpc>
                <a:spcPts val="1441"/>
              </a:lnSpc>
            </a:pPr>
            <a:r>
              <a:rPr lang="en-US" sz="1200" b="true">
                <a:solidFill>
                  <a:srgbClr val="55C3E6"/>
                </a:solidFill>
                <a:latin typeface="Arial Bold"/>
                <a:ea typeface="Arial Bold"/>
                <a:cs typeface="Arial Bold"/>
                <a:sym typeface="Arial Bold"/>
              </a:rPr>
              <a:t>ANALYSIS STEP</a:t>
            </a:r>
          </a:p>
        </p:txBody>
      </p:sp>
      <p:sp>
        <p:nvSpPr>
          <p:cNvPr name="TextBox 38" id="38"/>
          <p:cNvSpPr txBox="true"/>
          <p:nvPr/>
        </p:nvSpPr>
        <p:spPr>
          <a:xfrm rot="0">
            <a:off x="1258214" y="8225723"/>
            <a:ext cx="8533590" cy="760743"/>
          </a:xfrm>
          <a:prstGeom prst="rect">
            <a:avLst/>
          </a:prstGeom>
        </p:spPr>
        <p:txBody>
          <a:bodyPr anchor="t" rtlCol="false" tIns="0" lIns="0" bIns="0" rIns="0">
            <a:spAutoFit/>
          </a:bodyPr>
          <a:lstStyle/>
          <a:p>
            <a:pPr algn="l">
              <a:lnSpc>
                <a:spcPts val="1531"/>
              </a:lnSpc>
            </a:pPr>
            <a:r>
              <a:rPr lang="en-US" sz="1275">
                <a:solidFill>
                  <a:srgbClr val="FFFFFF"/>
                </a:solidFill>
                <a:latin typeface="Consolas"/>
                <a:ea typeface="Consolas"/>
                <a:cs typeface="Consolas"/>
                <a:sym typeface="Consolas"/>
              </a:rPr>
              <a:t>season.groupby('Season').agg(</a:t>
            </a:r>
          </a:p>
          <a:p>
            <a:pPr algn="l">
              <a:lnSpc>
                <a:spcPts val="1531"/>
              </a:lnSpc>
            </a:pPr>
            <a:r>
              <a:rPr lang="en-US" sz="1275">
                <a:solidFill>
                  <a:srgbClr val="FFFFFF"/>
                </a:solidFill>
                <a:latin typeface="Consolas"/>
                <a:ea typeface="Consolas"/>
                <a:cs typeface="Consolas"/>
                <a:sym typeface="Consolas"/>
              </a:rPr>
              <a:t>  Yield='mean', Profit='mean',</a:t>
            </a:r>
          </a:p>
          <a:p>
            <a:pPr algn="l">
              <a:lnSpc>
                <a:spcPts val="1531"/>
              </a:lnSpc>
            </a:pPr>
            <a:r>
              <a:rPr lang="en-US" sz="1275">
                <a:solidFill>
                  <a:srgbClr val="FFFFFF"/>
                </a:solidFill>
                <a:latin typeface="Consolas"/>
                <a:ea typeface="Consolas"/>
                <a:cs typeface="Consolas"/>
                <a:sym typeface="Consolas"/>
              </a:rPr>
              <a:t>  Water_Efficiency='mean')</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3726725" y="0"/>
            <a:ext cx="4575115" cy="10295039"/>
            <a:chOff x="0" y="0"/>
            <a:chExt cx="6100153" cy="13726719"/>
          </a:xfrm>
        </p:grpSpPr>
        <p:sp>
          <p:nvSpPr>
            <p:cNvPr name="Freeform 3" id="3" descr="agri_template_right_strip.png"/>
            <p:cNvSpPr/>
            <p:nvPr/>
          </p:nvSpPr>
          <p:spPr>
            <a:xfrm flipH="false" flipV="false" rot="0">
              <a:off x="0" y="0"/>
              <a:ext cx="6100191" cy="13726668"/>
            </a:xfrm>
            <a:custGeom>
              <a:avLst/>
              <a:gdLst/>
              <a:ahLst/>
              <a:cxnLst/>
              <a:rect r="r" b="b" t="t" l="l"/>
              <a:pathLst>
                <a:path h="13726668" w="6100191">
                  <a:moveTo>
                    <a:pt x="0" y="0"/>
                  </a:moveTo>
                  <a:lnTo>
                    <a:pt x="6100191" y="0"/>
                  </a:lnTo>
                  <a:lnTo>
                    <a:pt x="6100191" y="13726668"/>
                  </a:lnTo>
                  <a:lnTo>
                    <a:pt x="0" y="13726668"/>
                  </a:lnTo>
                  <a:lnTo>
                    <a:pt x="0" y="0"/>
                  </a:lnTo>
                  <a:close/>
                </a:path>
              </a:pathLst>
            </a:custGeom>
            <a:blipFill>
              <a:blip r:embed="rId2"/>
              <a:stretch>
                <a:fillRect l="-4" t="0" r="-4" b="0"/>
              </a:stretch>
            </a:blipFill>
          </p:spPr>
        </p:sp>
      </p:grpSp>
      <p:grpSp>
        <p:nvGrpSpPr>
          <p:cNvPr name="Group 4" id="4"/>
          <p:cNvGrpSpPr/>
          <p:nvPr/>
        </p:nvGrpSpPr>
        <p:grpSpPr>
          <a:xfrm rot="0">
            <a:off x="-466706" y="6890814"/>
            <a:ext cx="1372676" cy="3706216"/>
            <a:chOff x="0" y="0"/>
            <a:chExt cx="1830235" cy="4941621"/>
          </a:xfrm>
        </p:grpSpPr>
        <p:sp>
          <p:nvSpPr>
            <p:cNvPr name="Freeform 5" id="5"/>
            <p:cNvSpPr/>
            <p:nvPr/>
          </p:nvSpPr>
          <p:spPr>
            <a:xfrm flipH="false" flipV="false" rot="0">
              <a:off x="0" y="0"/>
              <a:ext cx="1830324" cy="4941570"/>
            </a:xfrm>
            <a:custGeom>
              <a:avLst/>
              <a:gdLst/>
              <a:ahLst/>
              <a:cxnLst/>
              <a:rect r="r" b="b" t="t" l="l"/>
              <a:pathLst>
                <a:path h="4941570" w="1830324">
                  <a:moveTo>
                    <a:pt x="0" y="4941570"/>
                  </a:moveTo>
                  <a:lnTo>
                    <a:pt x="915162" y="0"/>
                  </a:lnTo>
                  <a:lnTo>
                    <a:pt x="1830324" y="4941570"/>
                  </a:lnTo>
                  <a:close/>
                </a:path>
              </a:pathLst>
            </a:custGeom>
            <a:solidFill>
              <a:srgbClr val="55C3E6"/>
            </a:solidFill>
          </p:spPr>
        </p:sp>
      </p:grpSp>
      <p:grpSp>
        <p:nvGrpSpPr>
          <p:cNvPr name="Group 6" id="6"/>
          <p:cNvGrpSpPr/>
          <p:nvPr/>
        </p:nvGrpSpPr>
        <p:grpSpPr>
          <a:xfrm rot="0">
            <a:off x="9883245" y="2086461"/>
            <a:ext cx="274539" cy="274539"/>
            <a:chOff x="0" y="0"/>
            <a:chExt cx="366052" cy="366052"/>
          </a:xfrm>
        </p:grpSpPr>
        <p:sp>
          <p:nvSpPr>
            <p:cNvPr name="Freeform 7" id="7"/>
            <p:cNvSpPr/>
            <p:nvPr/>
          </p:nvSpPr>
          <p:spPr>
            <a:xfrm flipH="false" flipV="false" rot="0">
              <a:off x="0" y="0"/>
              <a:ext cx="366014" cy="366014"/>
            </a:xfrm>
            <a:custGeom>
              <a:avLst/>
              <a:gdLst/>
              <a:ahLst/>
              <a:cxnLst/>
              <a:rect r="r" b="b" t="t" l="l"/>
              <a:pathLst>
                <a:path h="366014" w="366014">
                  <a:moveTo>
                    <a:pt x="0" y="0"/>
                  </a:moveTo>
                  <a:lnTo>
                    <a:pt x="366014" y="0"/>
                  </a:lnTo>
                  <a:lnTo>
                    <a:pt x="366014" y="366014"/>
                  </a:lnTo>
                  <a:lnTo>
                    <a:pt x="0" y="366014"/>
                  </a:lnTo>
                  <a:close/>
                </a:path>
              </a:pathLst>
            </a:custGeom>
            <a:solidFill>
              <a:srgbClr val="2F86C1"/>
            </a:solidFill>
          </p:spPr>
        </p:sp>
      </p:grpSp>
      <p:sp>
        <p:nvSpPr>
          <p:cNvPr name="TextBox 8" id="8"/>
          <p:cNvSpPr txBox="true"/>
          <p:nvPr/>
        </p:nvSpPr>
        <p:spPr>
          <a:xfrm rot="0">
            <a:off x="13022018" y="9713538"/>
            <a:ext cx="297551" cy="165163"/>
          </a:xfrm>
          <a:prstGeom prst="rect">
            <a:avLst/>
          </a:prstGeom>
        </p:spPr>
        <p:txBody>
          <a:bodyPr anchor="t" rtlCol="false" tIns="0" lIns="0" bIns="0" rIns="0">
            <a:spAutoFit/>
          </a:bodyPr>
          <a:lstStyle/>
          <a:p>
            <a:pPr algn="r">
              <a:lnSpc>
                <a:spcPts val="1260"/>
              </a:lnSpc>
            </a:pPr>
            <a:r>
              <a:rPr lang="en-US" sz="1050">
                <a:solidFill>
                  <a:srgbClr val="5E6A71"/>
                </a:solidFill>
                <a:latin typeface="Arial"/>
                <a:ea typeface="Arial"/>
                <a:cs typeface="Arial"/>
                <a:sym typeface="Arial"/>
              </a:rPr>
              <a:t>07</a:t>
            </a:r>
          </a:p>
        </p:txBody>
      </p:sp>
      <p:sp>
        <p:nvSpPr>
          <p:cNvPr name="TextBox 9" id="9"/>
          <p:cNvSpPr txBox="true"/>
          <p:nvPr/>
        </p:nvSpPr>
        <p:spPr>
          <a:xfrm rot="0">
            <a:off x="1079764" y="685552"/>
            <a:ext cx="11896639" cy="819845"/>
          </a:xfrm>
          <a:prstGeom prst="rect">
            <a:avLst/>
          </a:prstGeom>
        </p:spPr>
        <p:txBody>
          <a:bodyPr anchor="t" rtlCol="false" tIns="0" lIns="0" bIns="0" rIns="0">
            <a:spAutoFit/>
          </a:bodyPr>
          <a:lstStyle/>
          <a:p>
            <a:pPr algn="l">
              <a:lnSpc>
                <a:spcPts val="5224"/>
              </a:lnSpc>
            </a:pPr>
            <a:r>
              <a:rPr lang="en-US" sz="4353" b="true">
                <a:solidFill>
                  <a:srgbClr val="121212"/>
                </a:solidFill>
                <a:latin typeface="Arial Bold"/>
                <a:ea typeface="Arial Bold"/>
                <a:cs typeface="Arial Bold"/>
                <a:sym typeface="Arial Bold"/>
              </a:rPr>
              <a:t>RESULTS</a:t>
            </a:r>
          </a:p>
        </p:txBody>
      </p:sp>
      <p:sp>
        <p:nvSpPr>
          <p:cNvPr name="TextBox 10" id="10"/>
          <p:cNvSpPr txBox="true"/>
          <p:nvPr/>
        </p:nvSpPr>
        <p:spPr>
          <a:xfrm rot="0">
            <a:off x="1107215" y="1536611"/>
            <a:ext cx="11896639" cy="408041"/>
          </a:xfrm>
          <a:prstGeom prst="rect">
            <a:avLst/>
          </a:prstGeom>
        </p:spPr>
        <p:txBody>
          <a:bodyPr anchor="t" rtlCol="false" tIns="0" lIns="0" bIns="0" rIns="0">
            <a:spAutoFit/>
          </a:bodyPr>
          <a:lstStyle/>
          <a:p>
            <a:pPr algn="l">
              <a:lnSpc>
                <a:spcPts val="1981"/>
              </a:lnSpc>
            </a:pPr>
            <a:r>
              <a:rPr lang="en-US" sz="1651">
                <a:solidFill>
                  <a:srgbClr val="5E6A71"/>
                </a:solidFill>
                <a:latin typeface="Arial"/>
                <a:ea typeface="Arial"/>
                <a:cs typeface="Arial"/>
                <a:sym typeface="Arial"/>
              </a:rPr>
              <a:t>Crop profitability and crop × season yield</a:t>
            </a:r>
          </a:p>
        </p:txBody>
      </p:sp>
      <p:grpSp>
        <p:nvGrpSpPr>
          <p:cNvPr name="Group 11" id="11"/>
          <p:cNvGrpSpPr/>
          <p:nvPr/>
        </p:nvGrpSpPr>
        <p:grpSpPr>
          <a:xfrm rot="0">
            <a:off x="960872" y="1949196"/>
            <a:ext cx="8167402" cy="4776902"/>
            <a:chOff x="0" y="0"/>
            <a:chExt cx="10889869" cy="6369202"/>
          </a:xfrm>
        </p:grpSpPr>
        <p:sp>
          <p:nvSpPr>
            <p:cNvPr name="Freeform 12" id="12" descr="crop_profit.png"/>
            <p:cNvSpPr/>
            <p:nvPr/>
          </p:nvSpPr>
          <p:spPr>
            <a:xfrm flipH="false" flipV="false" rot="0">
              <a:off x="0" y="0"/>
              <a:ext cx="10889869" cy="6369177"/>
            </a:xfrm>
            <a:custGeom>
              <a:avLst/>
              <a:gdLst/>
              <a:ahLst/>
              <a:cxnLst/>
              <a:rect r="r" b="b" t="t" l="l"/>
              <a:pathLst>
                <a:path h="6369177" w="10889869">
                  <a:moveTo>
                    <a:pt x="0" y="0"/>
                  </a:moveTo>
                  <a:lnTo>
                    <a:pt x="10889869" y="0"/>
                  </a:lnTo>
                  <a:lnTo>
                    <a:pt x="10889869" y="6369177"/>
                  </a:lnTo>
                  <a:lnTo>
                    <a:pt x="0" y="6369177"/>
                  </a:lnTo>
                  <a:lnTo>
                    <a:pt x="0" y="0"/>
                  </a:lnTo>
                  <a:close/>
                </a:path>
              </a:pathLst>
            </a:custGeom>
            <a:blipFill>
              <a:blip r:embed="rId3"/>
              <a:stretch>
                <a:fillRect l="0" t="-179" r="0" b="-179"/>
              </a:stretch>
            </a:blipFill>
          </p:spPr>
        </p:sp>
      </p:grpSp>
      <p:grpSp>
        <p:nvGrpSpPr>
          <p:cNvPr name="Group 13" id="13"/>
          <p:cNvGrpSpPr/>
          <p:nvPr/>
        </p:nvGrpSpPr>
        <p:grpSpPr>
          <a:xfrm rot="0">
            <a:off x="9196902" y="1949196"/>
            <a:ext cx="3774853" cy="4776902"/>
            <a:chOff x="0" y="0"/>
            <a:chExt cx="5033137" cy="6369202"/>
          </a:xfrm>
        </p:grpSpPr>
        <p:sp>
          <p:nvSpPr>
            <p:cNvPr name="Freeform 14" id="14" descr="crop_season_heatmap.png"/>
            <p:cNvSpPr/>
            <p:nvPr/>
          </p:nvSpPr>
          <p:spPr>
            <a:xfrm flipH="false" flipV="false" rot="0">
              <a:off x="0" y="0"/>
              <a:ext cx="5033137" cy="6369177"/>
            </a:xfrm>
            <a:custGeom>
              <a:avLst/>
              <a:gdLst/>
              <a:ahLst/>
              <a:cxnLst/>
              <a:rect r="r" b="b" t="t" l="l"/>
              <a:pathLst>
                <a:path h="6369177" w="5033137">
                  <a:moveTo>
                    <a:pt x="0" y="0"/>
                  </a:moveTo>
                  <a:lnTo>
                    <a:pt x="5033137" y="0"/>
                  </a:lnTo>
                  <a:lnTo>
                    <a:pt x="5033137" y="6369177"/>
                  </a:lnTo>
                  <a:lnTo>
                    <a:pt x="0" y="6369177"/>
                  </a:lnTo>
                  <a:lnTo>
                    <a:pt x="0" y="0"/>
                  </a:lnTo>
                  <a:close/>
                </a:path>
              </a:pathLst>
            </a:custGeom>
            <a:blipFill>
              <a:blip r:embed="rId4"/>
              <a:stretch>
                <a:fillRect l="-50770" t="0" r="-50770" b="0"/>
              </a:stretch>
            </a:blipFill>
          </p:spPr>
        </p:sp>
      </p:grpSp>
      <p:grpSp>
        <p:nvGrpSpPr>
          <p:cNvPr name="Group 15" id="15"/>
          <p:cNvGrpSpPr/>
          <p:nvPr/>
        </p:nvGrpSpPr>
        <p:grpSpPr>
          <a:xfrm rot="0">
            <a:off x="951338" y="7059730"/>
            <a:ext cx="3382108" cy="1734903"/>
            <a:chOff x="0" y="0"/>
            <a:chExt cx="4509478" cy="2313203"/>
          </a:xfrm>
        </p:grpSpPr>
        <p:sp>
          <p:nvSpPr>
            <p:cNvPr name="Freeform 16" id="16"/>
            <p:cNvSpPr/>
            <p:nvPr/>
          </p:nvSpPr>
          <p:spPr>
            <a:xfrm flipH="false" flipV="false" rot="0">
              <a:off x="0" y="0"/>
              <a:ext cx="4509516" cy="2313178"/>
            </a:xfrm>
            <a:custGeom>
              <a:avLst/>
              <a:gdLst/>
              <a:ahLst/>
              <a:cxnLst/>
              <a:rect r="r" b="b" t="t" l="l"/>
              <a:pathLst>
                <a:path h="2313178" w="4509516">
                  <a:moveTo>
                    <a:pt x="0" y="385572"/>
                  </a:moveTo>
                  <a:cubicBezTo>
                    <a:pt x="0" y="172593"/>
                    <a:pt x="172593" y="0"/>
                    <a:pt x="385572" y="0"/>
                  </a:cubicBezTo>
                  <a:lnTo>
                    <a:pt x="4123944" y="0"/>
                  </a:lnTo>
                  <a:cubicBezTo>
                    <a:pt x="4336923" y="0"/>
                    <a:pt x="4509516" y="172593"/>
                    <a:pt x="4509516" y="385572"/>
                  </a:cubicBezTo>
                  <a:lnTo>
                    <a:pt x="4509516" y="1927606"/>
                  </a:lnTo>
                  <a:cubicBezTo>
                    <a:pt x="4509516" y="2140585"/>
                    <a:pt x="4336923" y="2313178"/>
                    <a:pt x="4123944" y="2313178"/>
                  </a:cubicBezTo>
                  <a:lnTo>
                    <a:pt x="385572" y="2313178"/>
                  </a:lnTo>
                  <a:cubicBezTo>
                    <a:pt x="172593" y="2313178"/>
                    <a:pt x="0" y="2140585"/>
                    <a:pt x="0" y="1927606"/>
                  </a:cubicBezTo>
                  <a:close/>
                </a:path>
              </a:pathLst>
            </a:custGeom>
            <a:solidFill>
              <a:srgbClr val="FFFFFF"/>
            </a:solidFill>
            <a:ln w="19065" cap="sq">
              <a:solidFill>
                <a:srgbClr val="DCE4E8"/>
              </a:solidFill>
              <a:prstDash val="solid"/>
              <a:miter/>
            </a:ln>
          </p:spPr>
        </p:sp>
      </p:grpSp>
      <p:grpSp>
        <p:nvGrpSpPr>
          <p:cNvPr name="Group 17" id="17"/>
          <p:cNvGrpSpPr/>
          <p:nvPr/>
        </p:nvGrpSpPr>
        <p:grpSpPr>
          <a:xfrm rot="0">
            <a:off x="960872" y="7069264"/>
            <a:ext cx="96088" cy="1715843"/>
            <a:chOff x="0" y="0"/>
            <a:chExt cx="128118" cy="2287791"/>
          </a:xfrm>
        </p:grpSpPr>
        <p:sp>
          <p:nvSpPr>
            <p:cNvPr name="Freeform 18" id="18"/>
            <p:cNvSpPr/>
            <p:nvPr/>
          </p:nvSpPr>
          <p:spPr>
            <a:xfrm flipH="false" flipV="false" rot="0">
              <a:off x="0" y="0"/>
              <a:ext cx="128143" cy="2287778"/>
            </a:xfrm>
            <a:custGeom>
              <a:avLst/>
              <a:gdLst/>
              <a:ahLst/>
              <a:cxnLst/>
              <a:rect r="r" b="b" t="t" l="l"/>
              <a:pathLst>
                <a:path h="2287778" w="128143">
                  <a:moveTo>
                    <a:pt x="0" y="0"/>
                  </a:moveTo>
                  <a:lnTo>
                    <a:pt x="128143" y="0"/>
                  </a:lnTo>
                  <a:lnTo>
                    <a:pt x="128143" y="2287778"/>
                  </a:lnTo>
                  <a:lnTo>
                    <a:pt x="0" y="2287778"/>
                  </a:lnTo>
                  <a:close/>
                </a:path>
              </a:pathLst>
            </a:custGeom>
            <a:solidFill>
              <a:srgbClr val="41B45A"/>
            </a:solidFill>
          </p:spPr>
        </p:sp>
      </p:grpSp>
      <p:sp>
        <p:nvSpPr>
          <p:cNvPr name="TextBox 19" id="19"/>
          <p:cNvSpPr txBox="true"/>
          <p:nvPr/>
        </p:nvSpPr>
        <p:spPr>
          <a:xfrm rot="0">
            <a:off x="1354293" y="7329287"/>
            <a:ext cx="2699728" cy="311963"/>
          </a:xfrm>
          <a:prstGeom prst="rect">
            <a:avLst/>
          </a:prstGeom>
        </p:spPr>
        <p:txBody>
          <a:bodyPr anchor="t" rtlCol="false" tIns="0" lIns="0" bIns="0" rIns="0">
            <a:spAutoFit/>
          </a:bodyPr>
          <a:lstStyle/>
          <a:p>
            <a:pPr algn="l">
              <a:lnSpc>
                <a:spcPts val="1801"/>
              </a:lnSpc>
            </a:pPr>
            <a:r>
              <a:rPr lang="en-US" sz="1501" b="true">
                <a:solidFill>
                  <a:srgbClr val="5E6A71"/>
                </a:solidFill>
                <a:latin typeface="Arial Bold"/>
                <a:ea typeface="Arial Bold"/>
                <a:cs typeface="Arial Bold"/>
                <a:sym typeface="Arial Bold"/>
              </a:rPr>
              <a:t>TOP PROFIT CROP</a:t>
            </a:r>
          </a:p>
        </p:txBody>
      </p:sp>
      <p:sp>
        <p:nvSpPr>
          <p:cNvPr name="TextBox 20" id="20"/>
          <p:cNvSpPr txBox="true"/>
          <p:nvPr/>
        </p:nvSpPr>
        <p:spPr>
          <a:xfrm rot="0">
            <a:off x="1346264" y="7601160"/>
            <a:ext cx="2699728" cy="623468"/>
          </a:xfrm>
          <a:prstGeom prst="rect">
            <a:avLst/>
          </a:prstGeom>
        </p:spPr>
        <p:txBody>
          <a:bodyPr anchor="t" rtlCol="false" tIns="0" lIns="0" bIns="0" rIns="0">
            <a:spAutoFit/>
          </a:bodyPr>
          <a:lstStyle/>
          <a:p>
            <a:pPr algn="l">
              <a:lnSpc>
                <a:spcPts val="3963"/>
              </a:lnSpc>
            </a:pPr>
            <a:r>
              <a:rPr lang="en-US" sz="3302" b="true">
                <a:solidFill>
                  <a:srgbClr val="41B45A"/>
                </a:solidFill>
                <a:latin typeface="Arial Bold"/>
                <a:ea typeface="Arial Bold"/>
                <a:cs typeface="Arial Bold"/>
                <a:sym typeface="Arial Bold"/>
              </a:rPr>
              <a:t>Sugarcane</a:t>
            </a:r>
          </a:p>
        </p:txBody>
      </p:sp>
      <p:sp>
        <p:nvSpPr>
          <p:cNvPr name="TextBox 21" id="21"/>
          <p:cNvSpPr txBox="true"/>
          <p:nvPr/>
        </p:nvSpPr>
        <p:spPr>
          <a:xfrm rot="0">
            <a:off x="1354293" y="8505587"/>
            <a:ext cx="2699728" cy="96526"/>
          </a:xfrm>
          <a:prstGeom prst="rect">
            <a:avLst/>
          </a:prstGeom>
        </p:spPr>
        <p:txBody>
          <a:bodyPr anchor="t" rtlCol="false" tIns="0" lIns="0" bIns="0" rIns="0">
            <a:spAutoFit/>
          </a:bodyPr>
          <a:lstStyle/>
          <a:p>
            <a:pPr algn="l">
              <a:lnSpc>
                <a:spcPts val="1891"/>
              </a:lnSpc>
            </a:pPr>
            <a:r>
              <a:rPr lang="en-US" sz="1576">
                <a:solidFill>
                  <a:srgbClr val="313C42"/>
                </a:solidFill>
                <a:latin typeface="Arial"/>
                <a:ea typeface="Arial"/>
                <a:cs typeface="Arial"/>
                <a:sym typeface="Arial"/>
              </a:rPr>
              <a:t>₹817,188 average profit</a:t>
            </a:r>
          </a:p>
        </p:txBody>
      </p:sp>
      <p:grpSp>
        <p:nvGrpSpPr>
          <p:cNvPr name="Group 22" id="22"/>
          <p:cNvGrpSpPr/>
          <p:nvPr/>
        </p:nvGrpSpPr>
        <p:grpSpPr>
          <a:xfrm rot="0">
            <a:off x="4588916" y="7059730"/>
            <a:ext cx="3382108" cy="1734903"/>
            <a:chOff x="0" y="0"/>
            <a:chExt cx="4509478" cy="2313203"/>
          </a:xfrm>
        </p:grpSpPr>
        <p:sp>
          <p:nvSpPr>
            <p:cNvPr name="Freeform 23" id="23"/>
            <p:cNvSpPr/>
            <p:nvPr/>
          </p:nvSpPr>
          <p:spPr>
            <a:xfrm flipH="false" flipV="false" rot="0">
              <a:off x="0" y="0"/>
              <a:ext cx="4509516" cy="2313178"/>
            </a:xfrm>
            <a:custGeom>
              <a:avLst/>
              <a:gdLst/>
              <a:ahLst/>
              <a:cxnLst/>
              <a:rect r="r" b="b" t="t" l="l"/>
              <a:pathLst>
                <a:path h="2313178" w="4509516">
                  <a:moveTo>
                    <a:pt x="0" y="385572"/>
                  </a:moveTo>
                  <a:cubicBezTo>
                    <a:pt x="0" y="172593"/>
                    <a:pt x="172593" y="0"/>
                    <a:pt x="385572" y="0"/>
                  </a:cubicBezTo>
                  <a:lnTo>
                    <a:pt x="4123944" y="0"/>
                  </a:lnTo>
                  <a:cubicBezTo>
                    <a:pt x="4336923" y="0"/>
                    <a:pt x="4509516" y="172593"/>
                    <a:pt x="4509516" y="385572"/>
                  </a:cubicBezTo>
                  <a:lnTo>
                    <a:pt x="4509516" y="1927606"/>
                  </a:lnTo>
                  <a:cubicBezTo>
                    <a:pt x="4509516" y="2140585"/>
                    <a:pt x="4336923" y="2313178"/>
                    <a:pt x="4123944" y="2313178"/>
                  </a:cubicBezTo>
                  <a:lnTo>
                    <a:pt x="385572" y="2313178"/>
                  </a:lnTo>
                  <a:cubicBezTo>
                    <a:pt x="172593" y="2313178"/>
                    <a:pt x="0" y="2140585"/>
                    <a:pt x="0" y="1927606"/>
                  </a:cubicBezTo>
                  <a:close/>
                </a:path>
              </a:pathLst>
            </a:custGeom>
            <a:solidFill>
              <a:srgbClr val="FFFFFF"/>
            </a:solidFill>
            <a:ln w="19065" cap="sq">
              <a:solidFill>
                <a:srgbClr val="DCE4E8"/>
              </a:solidFill>
              <a:prstDash val="solid"/>
              <a:miter/>
            </a:ln>
          </p:spPr>
        </p:sp>
      </p:grpSp>
      <p:grpSp>
        <p:nvGrpSpPr>
          <p:cNvPr name="Group 24" id="24"/>
          <p:cNvGrpSpPr/>
          <p:nvPr/>
        </p:nvGrpSpPr>
        <p:grpSpPr>
          <a:xfrm rot="0">
            <a:off x="4598451" y="7069264"/>
            <a:ext cx="96088" cy="1715843"/>
            <a:chOff x="0" y="0"/>
            <a:chExt cx="128118" cy="2287791"/>
          </a:xfrm>
        </p:grpSpPr>
        <p:sp>
          <p:nvSpPr>
            <p:cNvPr name="Freeform 25" id="25"/>
            <p:cNvSpPr/>
            <p:nvPr/>
          </p:nvSpPr>
          <p:spPr>
            <a:xfrm flipH="false" flipV="false" rot="0">
              <a:off x="0" y="0"/>
              <a:ext cx="128143" cy="2287778"/>
            </a:xfrm>
            <a:custGeom>
              <a:avLst/>
              <a:gdLst/>
              <a:ahLst/>
              <a:cxnLst/>
              <a:rect r="r" b="b" t="t" l="l"/>
              <a:pathLst>
                <a:path h="2287778" w="128143">
                  <a:moveTo>
                    <a:pt x="0" y="0"/>
                  </a:moveTo>
                  <a:lnTo>
                    <a:pt x="128143" y="0"/>
                  </a:lnTo>
                  <a:lnTo>
                    <a:pt x="128143" y="2287778"/>
                  </a:lnTo>
                  <a:lnTo>
                    <a:pt x="0" y="2287778"/>
                  </a:lnTo>
                  <a:close/>
                </a:path>
              </a:pathLst>
            </a:custGeom>
            <a:solidFill>
              <a:srgbClr val="2F86C1"/>
            </a:solidFill>
          </p:spPr>
        </p:sp>
      </p:grpSp>
      <p:sp>
        <p:nvSpPr>
          <p:cNvPr name="TextBox 26" id="26"/>
          <p:cNvSpPr txBox="true"/>
          <p:nvPr/>
        </p:nvSpPr>
        <p:spPr>
          <a:xfrm rot="0">
            <a:off x="4991881" y="7329287"/>
            <a:ext cx="2699728" cy="311963"/>
          </a:xfrm>
          <a:prstGeom prst="rect">
            <a:avLst/>
          </a:prstGeom>
        </p:spPr>
        <p:txBody>
          <a:bodyPr anchor="t" rtlCol="false" tIns="0" lIns="0" bIns="0" rIns="0">
            <a:spAutoFit/>
          </a:bodyPr>
          <a:lstStyle/>
          <a:p>
            <a:pPr algn="l">
              <a:lnSpc>
                <a:spcPts val="1801"/>
              </a:lnSpc>
            </a:pPr>
            <a:r>
              <a:rPr lang="en-US" sz="1501" b="true">
                <a:solidFill>
                  <a:srgbClr val="5E6A71"/>
                </a:solidFill>
                <a:latin typeface="Arial Bold"/>
                <a:ea typeface="Arial Bold"/>
                <a:cs typeface="Arial Bold"/>
                <a:sym typeface="Arial Bold"/>
              </a:rPr>
              <a:t>SECOND</a:t>
            </a:r>
          </a:p>
        </p:txBody>
      </p:sp>
      <p:sp>
        <p:nvSpPr>
          <p:cNvPr name="TextBox 27" id="27"/>
          <p:cNvSpPr txBox="true"/>
          <p:nvPr/>
        </p:nvSpPr>
        <p:spPr>
          <a:xfrm rot="0">
            <a:off x="5002901" y="7625763"/>
            <a:ext cx="2699728" cy="623468"/>
          </a:xfrm>
          <a:prstGeom prst="rect">
            <a:avLst/>
          </a:prstGeom>
        </p:spPr>
        <p:txBody>
          <a:bodyPr anchor="t" rtlCol="false" tIns="0" lIns="0" bIns="0" rIns="0">
            <a:spAutoFit/>
          </a:bodyPr>
          <a:lstStyle/>
          <a:p>
            <a:pPr algn="l">
              <a:lnSpc>
                <a:spcPts val="3963"/>
              </a:lnSpc>
            </a:pPr>
            <a:r>
              <a:rPr lang="en-US" sz="3302" b="true">
                <a:solidFill>
                  <a:srgbClr val="2F86C1"/>
                </a:solidFill>
                <a:latin typeface="Arial Bold"/>
                <a:ea typeface="Arial Bold"/>
                <a:cs typeface="Arial Bold"/>
                <a:sym typeface="Arial Bold"/>
              </a:rPr>
              <a:t>Chilli</a:t>
            </a:r>
          </a:p>
        </p:txBody>
      </p:sp>
      <p:sp>
        <p:nvSpPr>
          <p:cNvPr name="TextBox 28" id="28"/>
          <p:cNvSpPr txBox="true"/>
          <p:nvPr/>
        </p:nvSpPr>
        <p:spPr>
          <a:xfrm rot="0">
            <a:off x="4991881" y="8505587"/>
            <a:ext cx="2699728" cy="96526"/>
          </a:xfrm>
          <a:prstGeom prst="rect">
            <a:avLst/>
          </a:prstGeom>
        </p:spPr>
        <p:txBody>
          <a:bodyPr anchor="t" rtlCol="false" tIns="0" lIns="0" bIns="0" rIns="0">
            <a:spAutoFit/>
          </a:bodyPr>
          <a:lstStyle/>
          <a:p>
            <a:pPr algn="l">
              <a:lnSpc>
                <a:spcPts val="1891"/>
              </a:lnSpc>
            </a:pPr>
            <a:r>
              <a:rPr lang="en-US" sz="1576">
                <a:solidFill>
                  <a:srgbClr val="313C42"/>
                </a:solidFill>
                <a:latin typeface="Arial"/>
                <a:ea typeface="Arial"/>
                <a:cs typeface="Arial"/>
                <a:sym typeface="Arial"/>
              </a:rPr>
              <a:t>₹750,878 average profit</a:t>
            </a:r>
          </a:p>
        </p:txBody>
      </p:sp>
      <p:grpSp>
        <p:nvGrpSpPr>
          <p:cNvPr name="Group 29" id="29"/>
          <p:cNvGrpSpPr/>
          <p:nvPr/>
        </p:nvGrpSpPr>
        <p:grpSpPr>
          <a:xfrm rot="0">
            <a:off x="8226504" y="7059730"/>
            <a:ext cx="2970314" cy="1734903"/>
            <a:chOff x="0" y="0"/>
            <a:chExt cx="3960419" cy="2313203"/>
          </a:xfrm>
        </p:grpSpPr>
        <p:sp>
          <p:nvSpPr>
            <p:cNvPr name="Freeform 30" id="30"/>
            <p:cNvSpPr/>
            <p:nvPr/>
          </p:nvSpPr>
          <p:spPr>
            <a:xfrm flipH="false" flipV="false" rot="0">
              <a:off x="0" y="0"/>
              <a:ext cx="3960495" cy="2313178"/>
            </a:xfrm>
            <a:custGeom>
              <a:avLst/>
              <a:gdLst/>
              <a:ahLst/>
              <a:cxnLst/>
              <a:rect r="r" b="b" t="t" l="l"/>
              <a:pathLst>
                <a:path h="2313178" w="3960495">
                  <a:moveTo>
                    <a:pt x="0" y="385572"/>
                  </a:moveTo>
                  <a:cubicBezTo>
                    <a:pt x="0" y="172593"/>
                    <a:pt x="172593" y="0"/>
                    <a:pt x="385572" y="0"/>
                  </a:cubicBezTo>
                  <a:lnTo>
                    <a:pt x="3574923" y="0"/>
                  </a:lnTo>
                  <a:cubicBezTo>
                    <a:pt x="3787902" y="0"/>
                    <a:pt x="3960495" y="172593"/>
                    <a:pt x="3960495" y="385572"/>
                  </a:cubicBezTo>
                  <a:lnTo>
                    <a:pt x="3960495" y="1927606"/>
                  </a:lnTo>
                  <a:cubicBezTo>
                    <a:pt x="3960495" y="2140585"/>
                    <a:pt x="3787902" y="2313178"/>
                    <a:pt x="3574923" y="2313178"/>
                  </a:cubicBezTo>
                  <a:lnTo>
                    <a:pt x="385572" y="2313178"/>
                  </a:lnTo>
                  <a:cubicBezTo>
                    <a:pt x="172593" y="2313178"/>
                    <a:pt x="0" y="2140585"/>
                    <a:pt x="0" y="1927606"/>
                  </a:cubicBezTo>
                  <a:close/>
                </a:path>
              </a:pathLst>
            </a:custGeom>
            <a:solidFill>
              <a:srgbClr val="FFFFFF"/>
            </a:solidFill>
            <a:ln w="19065" cap="sq">
              <a:solidFill>
                <a:srgbClr val="DCE4E8"/>
              </a:solidFill>
              <a:prstDash val="solid"/>
              <a:miter/>
            </a:ln>
          </p:spPr>
        </p:sp>
      </p:grpSp>
      <p:grpSp>
        <p:nvGrpSpPr>
          <p:cNvPr name="Group 31" id="31"/>
          <p:cNvGrpSpPr/>
          <p:nvPr/>
        </p:nvGrpSpPr>
        <p:grpSpPr>
          <a:xfrm rot="0">
            <a:off x="8236039" y="7069264"/>
            <a:ext cx="96088" cy="1715843"/>
            <a:chOff x="0" y="0"/>
            <a:chExt cx="128118" cy="2287791"/>
          </a:xfrm>
        </p:grpSpPr>
        <p:sp>
          <p:nvSpPr>
            <p:cNvPr name="Freeform 32" id="32"/>
            <p:cNvSpPr/>
            <p:nvPr/>
          </p:nvSpPr>
          <p:spPr>
            <a:xfrm flipH="false" flipV="false" rot="0">
              <a:off x="0" y="0"/>
              <a:ext cx="128143" cy="2287778"/>
            </a:xfrm>
            <a:custGeom>
              <a:avLst/>
              <a:gdLst/>
              <a:ahLst/>
              <a:cxnLst/>
              <a:rect r="r" b="b" t="t" l="l"/>
              <a:pathLst>
                <a:path h="2287778" w="128143">
                  <a:moveTo>
                    <a:pt x="0" y="0"/>
                  </a:moveTo>
                  <a:lnTo>
                    <a:pt x="128143" y="0"/>
                  </a:lnTo>
                  <a:lnTo>
                    <a:pt x="128143" y="2287778"/>
                  </a:lnTo>
                  <a:lnTo>
                    <a:pt x="0" y="2287778"/>
                  </a:lnTo>
                  <a:close/>
                </a:path>
              </a:pathLst>
            </a:custGeom>
            <a:solidFill>
              <a:srgbClr val="3CBF9B"/>
            </a:solidFill>
          </p:spPr>
        </p:sp>
      </p:grpSp>
      <p:sp>
        <p:nvSpPr>
          <p:cNvPr name="TextBox 33" id="33"/>
          <p:cNvSpPr txBox="true"/>
          <p:nvPr/>
        </p:nvSpPr>
        <p:spPr>
          <a:xfrm rot="0">
            <a:off x="8629460" y="7329287"/>
            <a:ext cx="2287934" cy="311963"/>
          </a:xfrm>
          <a:prstGeom prst="rect">
            <a:avLst/>
          </a:prstGeom>
        </p:spPr>
        <p:txBody>
          <a:bodyPr anchor="t" rtlCol="false" tIns="0" lIns="0" bIns="0" rIns="0">
            <a:spAutoFit/>
          </a:bodyPr>
          <a:lstStyle/>
          <a:p>
            <a:pPr algn="l">
              <a:lnSpc>
                <a:spcPts val="1801"/>
              </a:lnSpc>
            </a:pPr>
            <a:r>
              <a:rPr lang="en-US" sz="1501" b="true">
                <a:solidFill>
                  <a:srgbClr val="5E6A71"/>
                </a:solidFill>
                <a:latin typeface="Arial Bold"/>
                <a:ea typeface="Arial Bold"/>
                <a:cs typeface="Arial Bold"/>
                <a:sym typeface="Arial Bold"/>
              </a:rPr>
              <a:t>KHARIF SUGARCANE</a:t>
            </a:r>
          </a:p>
        </p:txBody>
      </p:sp>
      <p:sp>
        <p:nvSpPr>
          <p:cNvPr name="TextBox 34" id="34"/>
          <p:cNvSpPr txBox="true"/>
          <p:nvPr/>
        </p:nvSpPr>
        <p:spPr>
          <a:xfrm rot="0">
            <a:off x="8629460" y="7612675"/>
            <a:ext cx="2287934" cy="623468"/>
          </a:xfrm>
          <a:prstGeom prst="rect">
            <a:avLst/>
          </a:prstGeom>
        </p:spPr>
        <p:txBody>
          <a:bodyPr anchor="t" rtlCol="false" tIns="0" lIns="0" bIns="0" rIns="0">
            <a:spAutoFit/>
          </a:bodyPr>
          <a:lstStyle/>
          <a:p>
            <a:pPr algn="l">
              <a:lnSpc>
                <a:spcPts val="3963"/>
              </a:lnSpc>
            </a:pPr>
            <a:r>
              <a:rPr lang="en-US" sz="3302" b="true">
                <a:solidFill>
                  <a:srgbClr val="3CBF9B"/>
                </a:solidFill>
                <a:latin typeface="Arial Bold"/>
                <a:ea typeface="Arial Bold"/>
                <a:cs typeface="Arial Bold"/>
                <a:sym typeface="Arial Bold"/>
              </a:rPr>
              <a:t>53.46 t/ha</a:t>
            </a:r>
          </a:p>
        </p:txBody>
      </p:sp>
      <p:sp>
        <p:nvSpPr>
          <p:cNvPr name="TextBox 35" id="35"/>
          <p:cNvSpPr txBox="true"/>
          <p:nvPr/>
        </p:nvSpPr>
        <p:spPr>
          <a:xfrm rot="0">
            <a:off x="8463474" y="8239706"/>
            <a:ext cx="2464713" cy="485775"/>
          </a:xfrm>
          <a:prstGeom prst="rect">
            <a:avLst/>
          </a:prstGeom>
        </p:spPr>
        <p:txBody>
          <a:bodyPr anchor="t" rtlCol="false" tIns="0" lIns="0" bIns="0" rIns="0">
            <a:spAutoFit/>
          </a:bodyPr>
          <a:lstStyle/>
          <a:p>
            <a:pPr algn="l">
              <a:lnSpc>
                <a:spcPts val="1891"/>
              </a:lnSpc>
            </a:pPr>
            <a:r>
              <a:rPr lang="en-US" sz="1576">
                <a:solidFill>
                  <a:srgbClr val="313C42"/>
                </a:solidFill>
                <a:latin typeface="Arial"/>
                <a:ea typeface="Arial"/>
                <a:cs typeface="Arial"/>
                <a:sym typeface="Arial"/>
              </a:rPr>
              <a:t>Highest crop × season yield</a:t>
            </a:r>
          </a:p>
          <a:p>
            <a:pPr algn="l">
              <a:lnSpc>
                <a:spcPts val="1891"/>
              </a:lnSpc>
            </a:pPr>
            <a:r>
              <a:rPr lang="en-US" sz="1576">
                <a:solidFill>
                  <a:srgbClr val="313C42"/>
                </a:solidFill>
                <a:latin typeface="Arial"/>
                <a:ea typeface="Arial"/>
                <a:cs typeface="Arial"/>
                <a:sym typeface="Arial"/>
              </a:rPr>
              <a:t> in the table</a:t>
            </a:r>
          </a:p>
        </p:txBody>
      </p:sp>
      <p:grpSp>
        <p:nvGrpSpPr>
          <p:cNvPr name="Group 36" id="36"/>
          <p:cNvGrpSpPr/>
          <p:nvPr/>
        </p:nvGrpSpPr>
        <p:grpSpPr>
          <a:xfrm rot="0">
            <a:off x="11420637" y="7069264"/>
            <a:ext cx="2539441" cy="1715843"/>
            <a:chOff x="0" y="0"/>
            <a:chExt cx="3385922" cy="2287791"/>
          </a:xfrm>
        </p:grpSpPr>
        <p:sp>
          <p:nvSpPr>
            <p:cNvPr name="Freeform 37" id="37"/>
            <p:cNvSpPr/>
            <p:nvPr/>
          </p:nvSpPr>
          <p:spPr>
            <a:xfrm flipH="false" flipV="false" rot="0">
              <a:off x="0" y="0"/>
              <a:ext cx="3385820" cy="2287778"/>
            </a:xfrm>
            <a:custGeom>
              <a:avLst/>
              <a:gdLst/>
              <a:ahLst/>
              <a:cxnLst/>
              <a:rect r="r" b="b" t="t" l="l"/>
              <a:pathLst>
                <a:path h="2287778" w="3385820">
                  <a:moveTo>
                    <a:pt x="0" y="381254"/>
                  </a:moveTo>
                  <a:cubicBezTo>
                    <a:pt x="0" y="170688"/>
                    <a:pt x="170688" y="0"/>
                    <a:pt x="381254" y="0"/>
                  </a:cubicBezTo>
                  <a:lnTo>
                    <a:pt x="3004566" y="0"/>
                  </a:lnTo>
                  <a:cubicBezTo>
                    <a:pt x="3215132" y="0"/>
                    <a:pt x="3385820" y="170688"/>
                    <a:pt x="3385820" y="381254"/>
                  </a:cubicBezTo>
                  <a:lnTo>
                    <a:pt x="3385820" y="1906524"/>
                  </a:lnTo>
                  <a:cubicBezTo>
                    <a:pt x="3385820" y="2117090"/>
                    <a:pt x="3215132" y="2287778"/>
                    <a:pt x="3004566" y="2287778"/>
                  </a:cubicBezTo>
                  <a:lnTo>
                    <a:pt x="381254" y="2287778"/>
                  </a:lnTo>
                  <a:cubicBezTo>
                    <a:pt x="170688" y="2287778"/>
                    <a:pt x="0" y="2117090"/>
                    <a:pt x="0" y="1906524"/>
                  </a:cubicBezTo>
                  <a:close/>
                </a:path>
              </a:pathLst>
            </a:custGeom>
            <a:solidFill>
              <a:srgbClr val="1F5A86"/>
            </a:solidFill>
          </p:spPr>
        </p:sp>
      </p:grpSp>
      <p:sp>
        <p:nvSpPr>
          <p:cNvPr name="TextBox 38" id="38"/>
          <p:cNvSpPr txBox="true"/>
          <p:nvPr/>
        </p:nvSpPr>
        <p:spPr>
          <a:xfrm rot="0">
            <a:off x="11717979" y="7233199"/>
            <a:ext cx="1944767" cy="229600"/>
          </a:xfrm>
          <a:prstGeom prst="rect">
            <a:avLst/>
          </a:prstGeom>
        </p:spPr>
        <p:txBody>
          <a:bodyPr anchor="t" rtlCol="false" tIns="0" lIns="0" bIns="0" rIns="0">
            <a:spAutoFit/>
          </a:bodyPr>
          <a:lstStyle/>
          <a:p>
            <a:pPr algn="l">
              <a:lnSpc>
                <a:spcPts val="1441"/>
              </a:lnSpc>
            </a:pPr>
            <a:r>
              <a:rPr lang="en-US" sz="1200" b="true">
                <a:solidFill>
                  <a:srgbClr val="55C3E6"/>
                </a:solidFill>
                <a:latin typeface="Arial Bold"/>
                <a:ea typeface="Arial Bold"/>
                <a:cs typeface="Arial Bold"/>
                <a:sym typeface="Arial Bold"/>
              </a:rPr>
              <a:t>ANALYSIS STEP</a:t>
            </a:r>
          </a:p>
        </p:txBody>
      </p:sp>
      <p:sp>
        <p:nvSpPr>
          <p:cNvPr name="TextBox 39" id="39"/>
          <p:cNvSpPr txBox="true"/>
          <p:nvPr/>
        </p:nvSpPr>
        <p:spPr>
          <a:xfrm rot="0">
            <a:off x="11717979" y="7580567"/>
            <a:ext cx="1944767" cy="1035272"/>
          </a:xfrm>
          <a:prstGeom prst="rect">
            <a:avLst/>
          </a:prstGeom>
        </p:spPr>
        <p:txBody>
          <a:bodyPr anchor="t" rtlCol="false" tIns="0" lIns="0" bIns="0" rIns="0">
            <a:spAutoFit/>
          </a:bodyPr>
          <a:lstStyle/>
          <a:p>
            <a:pPr algn="l">
              <a:lnSpc>
                <a:spcPts val="1531"/>
              </a:lnSpc>
            </a:pPr>
            <a:r>
              <a:rPr lang="en-US" sz="1275">
                <a:solidFill>
                  <a:srgbClr val="FFFFFF"/>
                </a:solidFill>
                <a:latin typeface="Consolas"/>
                <a:ea typeface="Consolas"/>
                <a:cs typeface="Consolas"/>
                <a:sym typeface="Consolas"/>
              </a:rPr>
              <a:t>crop.groupby('Crop').agg(Profit='mean')</a:t>
            </a:r>
          </a:p>
          <a:p>
            <a:pPr algn="l">
              <a:lnSpc>
                <a:spcPts val="1531"/>
              </a:lnSpc>
            </a:pPr>
            <a:r>
              <a:rPr lang="en-US" sz="1275">
                <a:solidFill>
                  <a:srgbClr val="FFFFFF"/>
                </a:solidFill>
                <a:latin typeface="Consolas"/>
                <a:ea typeface="Consolas"/>
                <a:cs typeface="Consolas"/>
                <a:sym typeface="Consolas"/>
              </a:rPr>
              <a:t>pivot_table(index='Crop', columns='Season')</a:t>
            </a:r>
          </a:p>
        </p:txBody>
      </p:sp>
      <p:sp>
        <p:nvSpPr>
          <p:cNvPr name="TextBox 40" id="40"/>
          <p:cNvSpPr txBox="true"/>
          <p:nvPr/>
        </p:nvSpPr>
        <p:spPr>
          <a:xfrm rot="0">
            <a:off x="1052312" y="9058856"/>
            <a:ext cx="10386698" cy="400050"/>
          </a:xfrm>
          <a:prstGeom prst="rect">
            <a:avLst/>
          </a:prstGeom>
        </p:spPr>
        <p:txBody>
          <a:bodyPr anchor="t" rtlCol="false" tIns="0" lIns="0" bIns="0" rIns="0">
            <a:spAutoFit/>
          </a:bodyPr>
          <a:lstStyle/>
          <a:p>
            <a:pPr algn="l">
              <a:lnSpc>
                <a:spcPts val="1531"/>
              </a:lnSpc>
            </a:pPr>
            <a:r>
              <a:rPr lang="en-US" sz="1275">
                <a:solidFill>
                  <a:srgbClr val="5E6A71"/>
                </a:solidFill>
                <a:latin typeface="Arial"/>
                <a:ea typeface="Arial"/>
                <a:cs typeface="Arial"/>
                <a:sym typeface="Arial"/>
              </a:rPr>
              <a:t>Sugarcane is on a very different yield scale than the other crops; </a:t>
            </a:r>
          </a:p>
          <a:p>
            <a:pPr algn="l">
              <a:lnSpc>
                <a:spcPts val="1531"/>
              </a:lnSpc>
            </a:pPr>
            <a:r>
              <a:rPr lang="en-US" sz="1275">
                <a:solidFill>
                  <a:srgbClr val="5E6A71"/>
                </a:solidFill>
                <a:latin typeface="Arial"/>
                <a:ea typeface="Arial"/>
                <a:cs typeface="Arial"/>
                <a:sym typeface="Arial"/>
              </a:rPr>
              <a:t>interpret its yield separately from the ~1–3 t/ha crops.</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3745775" y="0"/>
            <a:ext cx="4575115" cy="10295039"/>
            <a:chOff x="0" y="0"/>
            <a:chExt cx="6100153" cy="13726719"/>
          </a:xfrm>
        </p:grpSpPr>
        <p:sp>
          <p:nvSpPr>
            <p:cNvPr name="Freeform 3" id="3" descr="agri_template_right_strip.png"/>
            <p:cNvSpPr/>
            <p:nvPr/>
          </p:nvSpPr>
          <p:spPr>
            <a:xfrm flipH="false" flipV="false" rot="0">
              <a:off x="0" y="0"/>
              <a:ext cx="6100191" cy="13726668"/>
            </a:xfrm>
            <a:custGeom>
              <a:avLst/>
              <a:gdLst/>
              <a:ahLst/>
              <a:cxnLst/>
              <a:rect r="r" b="b" t="t" l="l"/>
              <a:pathLst>
                <a:path h="13726668" w="6100191">
                  <a:moveTo>
                    <a:pt x="0" y="0"/>
                  </a:moveTo>
                  <a:lnTo>
                    <a:pt x="6100191" y="0"/>
                  </a:lnTo>
                  <a:lnTo>
                    <a:pt x="6100191" y="13726668"/>
                  </a:lnTo>
                  <a:lnTo>
                    <a:pt x="0" y="13726668"/>
                  </a:lnTo>
                  <a:lnTo>
                    <a:pt x="0" y="0"/>
                  </a:lnTo>
                  <a:close/>
                </a:path>
              </a:pathLst>
            </a:custGeom>
            <a:blipFill>
              <a:blip r:embed="rId2"/>
              <a:stretch>
                <a:fillRect l="-4" t="0" r="-4" b="0"/>
              </a:stretch>
            </a:blipFill>
          </p:spPr>
        </p:sp>
      </p:grpSp>
      <p:grpSp>
        <p:nvGrpSpPr>
          <p:cNvPr name="Group 4" id="4"/>
          <p:cNvGrpSpPr/>
          <p:nvPr/>
        </p:nvGrpSpPr>
        <p:grpSpPr>
          <a:xfrm rot="0">
            <a:off x="-466706" y="6890814"/>
            <a:ext cx="1372676" cy="3706216"/>
            <a:chOff x="0" y="0"/>
            <a:chExt cx="1830235" cy="4941621"/>
          </a:xfrm>
        </p:grpSpPr>
        <p:sp>
          <p:nvSpPr>
            <p:cNvPr name="Freeform 5" id="5"/>
            <p:cNvSpPr/>
            <p:nvPr/>
          </p:nvSpPr>
          <p:spPr>
            <a:xfrm flipH="false" flipV="false" rot="0">
              <a:off x="0" y="0"/>
              <a:ext cx="1830324" cy="4941570"/>
            </a:xfrm>
            <a:custGeom>
              <a:avLst/>
              <a:gdLst/>
              <a:ahLst/>
              <a:cxnLst/>
              <a:rect r="r" b="b" t="t" l="l"/>
              <a:pathLst>
                <a:path h="4941570" w="1830324">
                  <a:moveTo>
                    <a:pt x="0" y="4941570"/>
                  </a:moveTo>
                  <a:lnTo>
                    <a:pt x="915162" y="0"/>
                  </a:lnTo>
                  <a:lnTo>
                    <a:pt x="1830324" y="4941570"/>
                  </a:lnTo>
                  <a:close/>
                </a:path>
              </a:pathLst>
            </a:custGeom>
            <a:solidFill>
              <a:srgbClr val="55C3E6"/>
            </a:solidFill>
          </p:spPr>
        </p:sp>
      </p:grpSp>
      <p:grpSp>
        <p:nvGrpSpPr>
          <p:cNvPr name="Group 6" id="6"/>
          <p:cNvGrpSpPr/>
          <p:nvPr/>
        </p:nvGrpSpPr>
        <p:grpSpPr>
          <a:xfrm rot="0">
            <a:off x="9883245" y="2086461"/>
            <a:ext cx="274539" cy="274539"/>
            <a:chOff x="0" y="0"/>
            <a:chExt cx="366052" cy="366052"/>
          </a:xfrm>
        </p:grpSpPr>
        <p:sp>
          <p:nvSpPr>
            <p:cNvPr name="Freeform 7" id="7"/>
            <p:cNvSpPr/>
            <p:nvPr/>
          </p:nvSpPr>
          <p:spPr>
            <a:xfrm flipH="false" flipV="false" rot="0">
              <a:off x="0" y="0"/>
              <a:ext cx="366014" cy="366014"/>
            </a:xfrm>
            <a:custGeom>
              <a:avLst/>
              <a:gdLst/>
              <a:ahLst/>
              <a:cxnLst/>
              <a:rect r="r" b="b" t="t" l="l"/>
              <a:pathLst>
                <a:path h="366014" w="366014">
                  <a:moveTo>
                    <a:pt x="0" y="0"/>
                  </a:moveTo>
                  <a:lnTo>
                    <a:pt x="366014" y="0"/>
                  </a:lnTo>
                  <a:lnTo>
                    <a:pt x="366014" y="366014"/>
                  </a:lnTo>
                  <a:lnTo>
                    <a:pt x="0" y="366014"/>
                  </a:lnTo>
                  <a:close/>
                </a:path>
              </a:pathLst>
            </a:custGeom>
            <a:solidFill>
              <a:srgbClr val="2F86C1"/>
            </a:solidFill>
          </p:spPr>
        </p:sp>
      </p:grpSp>
      <p:sp>
        <p:nvSpPr>
          <p:cNvPr name="TextBox 8" id="8"/>
          <p:cNvSpPr txBox="true"/>
          <p:nvPr/>
        </p:nvSpPr>
        <p:spPr>
          <a:xfrm rot="0">
            <a:off x="13022018" y="9713538"/>
            <a:ext cx="297551" cy="165163"/>
          </a:xfrm>
          <a:prstGeom prst="rect">
            <a:avLst/>
          </a:prstGeom>
        </p:spPr>
        <p:txBody>
          <a:bodyPr anchor="t" rtlCol="false" tIns="0" lIns="0" bIns="0" rIns="0">
            <a:spAutoFit/>
          </a:bodyPr>
          <a:lstStyle/>
          <a:p>
            <a:pPr algn="r">
              <a:lnSpc>
                <a:spcPts val="1260"/>
              </a:lnSpc>
            </a:pPr>
            <a:r>
              <a:rPr lang="en-US" sz="1050">
                <a:solidFill>
                  <a:srgbClr val="5E6A71"/>
                </a:solidFill>
                <a:latin typeface="Arial"/>
                <a:ea typeface="Arial"/>
                <a:cs typeface="Arial"/>
                <a:sym typeface="Arial"/>
              </a:rPr>
              <a:t>08</a:t>
            </a:r>
          </a:p>
        </p:txBody>
      </p:sp>
      <p:sp>
        <p:nvSpPr>
          <p:cNvPr name="TextBox 9" id="9"/>
          <p:cNvSpPr txBox="true"/>
          <p:nvPr/>
        </p:nvSpPr>
        <p:spPr>
          <a:xfrm rot="0">
            <a:off x="1079764" y="685552"/>
            <a:ext cx="11896639" cy="819845"/>
          </a:xfrm>
          <a:prstGeom prst="rect">
            <a:avLst/>
          </a:prstGeom>
        </p:spPr>
        <p:txBody>
          <a:bodyPr anchor="t" rtlCol="false" tIns="0" lIns="0" bIns="0" rIns="0">
            <a:spAutoFit/>
          </a:bodyPr>
          <a:lstStyle/>
          <a:p>
            <a:pPr algn="l">
              <a:lnSpc>
                <a:spcPts val="5224"/>
              </a:lnSpc>
            </a:pPr>
            <a:r>
              <a:rPr lang="en-US" sz="4353" b="true">
                <a:solidFill>
                  <a:srgbClr val="121212"/>
                </a:solidFill>
                <a:latin typeface="Arial Bold"/>
                <a:ea typeface="Arial Bold"/>
                <a:cs typeface="Arial Bold"/>
                <a:sym typeface="Arial Bold"/>
              </a:rPr>
              <a:t>RESULTS</a:t>
            </a:r>
          </a:p>
        </p:txBody>
      </p:sp>
      <p:sp>
        <p:nvSpPr>
          <p:cNvPr name="TextBox 10" id="10"/>
          <p:cNvSpPr txBox="true"/>
          <p:nvPr/>
        </p:nvSpPr>
        <p:spPr>
          <a:xfrm rot="0">
            <a:off x="1107215" y="1536611"/>
            <a:ext cx="11896639" cy="408041"/>
          </a:xfrm>
          <a:prstGeom prst="rect">
            <a:avLst/>
          </a:prstGeom>
        </p:spPr>
        <p:txBody>
          <a:bodyPr anchor="t" rtlCol="false" tIns="0" lIns="0" bIns="0" rIns="0">
            <a:spAutoFit/>
          </a:bodyPr>
          <a:lstStyle/>
          <a:p>
            <a:pPr algn="l">
              <a:lnSpc>
                <a:spcPts val="1981"/>
              </a:lnSpc>
            </a:pPr>
            <a:r>
              <a:rPr lang="en-US" sz="1651">
                <a:solidFill>
                  <a:srgbClr val="5E6A71"/>
                </a:solidFill>
                <a:latin typeface="Arial"/>
                <a:ea typeface="Arial"/>
                <a:cs typeface="Arial"/>
                <a:sym typeface="Arial"/>
              </a:rPr>
              <a:t>Irrigation method, yield and water efficiency</a:t>
            </a:r>
          </a:p>
        </p:txBody>
      </p:sp>
      <p:grpSp>
        <p:nvGrpSpPr>
          <p:cNvPr name="Group 11" id="11"/>
          <p:cNvGrpSpPr/>
          <p:nvPr/>
        </p:nvGrpSpPr>
        <p:grpSpPr>
          <a:xfrm rot="0">
            <a:off x="854031" y="2223730"/>
            <a:ext cx="8525970" cy="5124712"/>
            <a:chOff x="0" y="0"/>
            <a:chExt cx="11875298" cy="7137895"/>
          </a:xfrm>
        </p:grpSpPr>
        <p:sp>
          <p:nvSpPr>
            <p:cNvPr name="Freeform 12" id="12" descr="irrigation.png"/>
            <p:cNvSpPr/>
            <p:nvPr/>
          </p:nvSpPr>
          <p:spPr>
            <a:xfrm flipH="false" flipV="false" rot="0">
              <a:off x="0" y="0"/>
              <a:ext cx="11875233" cy="7137908"/>
            </a:xfrm>
            <a:custGeom>
              <a:avLst/>
              <a:gdLst/>
              <a:ahLst/>
              <a:cxnLst/>
              <a:rect r="r" b="b" t="t" l="l"/>
              <a:pathLst>
                <a:path h="7137908" w="11875233">
                  <a:moveTo>
                    <a:pt x="0" y="0"/>
                  </a:moveTo>
                  <a:lnTo>
                    <a:pt x="11875233" y="0"/>
                  </a:lnTo>
                  <a:lnTo>
                    <a:pt x="11875233" y="7137908"/>
                  </a:lnTo>
                  <a:lnTo>
                    <a:pt x="0" y="7137908"/>
                  </a:lnTo>
                  <a:lnTo>
                    <a:pt x="0" y="0"/>
                  </a:lnTo>
                  <a:close/>
                </a:path>
              </a:pathLst>
            </a:custGeom>
            <a:blipFill>
              <a:blip r:embed="rId3"/>
              <a:stretch>
                <a:fillRect l="-1138" t="0" r="-1139" b="0"/>
              </a:stretch>
            </a:blipFill>
          </p:spPr>
        </p:sp>
      </p:grpSp>
      <p:grpSp>
        <p:nvGrpSpPr>
          <p:cNvPr name="Group 13" id="13"/>
          <p:cNvGrpSpPr/>
          <p:nvPr/>
        </p:nvGrpSpPr>
        <p:grpSpPr>
          <a:xfrm rot="0">
            <a:off x="9983524" y="2049475"/>
            <a:ext cx="3272295" cy="1638814"/>
            <a:chOff x="0" y="0"/>
            <a:chExt cx="4363060" cy="2185086"/>
          </a:xfrm>
        </p:grpSpPr>
        <p:sp>
          <p:nvSpPr>
            <p:cNvPr name="Freeform 14" id="14"/>
            <p:cNvSpPr/>
            <p:nvPr/>
          </p:nvSpPr>
          <p:spPr>
            <a:xfrm flipH="false" flipV="false" rot="0">
              <a:off x="0" y="0"/>
              <a:ext cx="4363212" cy="2185162"/>
            </a:xfrm>
            <a:custGeom>
              <a:avLst/>
              <a:gdLst/>
              <a:ahLst/>
              <a:cxnLst/>
              <a:rect r="r" b="b" t="t" l="l"/>
              <a:pathLst>
                <a:path h="2185162" w="4363212">
                  <a:moveTo>
                    <a:pt x="0" y="364236"/>
                  </a:moveTo>
                  <a:cubicBezTo>
                    <a:pt x="0" y="163068"/>
                    <a:pt x="163068" y="0"/>
                    <a:pt x="364236" y="0"/>
                  </a:cubicBezTo>
                  <a:lnTo>
                    <a:pt x="3998976" y="0"/>
                  </a:lnTo>
                  <a:cubicBezTo>
                    <a:pt x="4200144" y="0"/>
                    <a:pt x="4363212" y="163068"/>
                    <a:pt x="4363212" y="364236"/>
                  </a:cubicBezTo>
                  <a:lnTo>
                    <a:pt x="4363212" y="1820926"/>
                  </a:lnTo>
                  <a:cubicBezTo>
                    <a:pt x="4363212" y="2022094"/>
                    <a:pt x="4200144" y="2185162"/>
                    <a:pt x="3998976" y="2185162"/>
                  </a:cubicBezTo>
                  <a:lnTo>
                    <a:pt x="364236" y="2185162"/>
                  </a:lnTo>
                  <a:cubicBezTo>
                    <a:pt x="163068" y="2185035"/>
                    <a:pt x="0" y="2022094"/>
                    <a:pt x="0" y="1820926"/>
                  </a:cubicBezTo>
                  <a:close/>
                </a:path>
              </a:pathLst>
            </a:custGeom>
            <a:solidFill>
              <a:srgbClr val="FFFFFF"/>
            </a:solidFill>
            <a:ln w="19065" cap="sq">
              <a:solidFill>
                <a:srgbClr val="DCE4E8"/>
              </a:solidFill>
              <a:prstDash val="solid"/>
              <a:miter/>
            </a:ln>
          </p:spPr>
        </p:sp>
      </p:grpSp>
      <p:grpSp>
        <p:nvGrpSpPr>
          <p:cNvPr name="Group 15" id="15"/>
          <p:cNvGrpSpPr/>
          <p:nvPr/>
        </p:nvGrpSpPr>
        <p:grpSpPr>
          <a:xfrm rot="0">
            <a:off x="9993058" y="2059010"/>
            <a:ext cx="96088" cy="1619755"/>
            <a:chOff x="0" y="0"/>
            <a:chExt cx="128118" cy="2159673"/>
          </a:xfrm>
        </p:grpSpPr>
        <p:sp>
          <p:nvSpPr>
            <p:cNvPr name="Freeform 16" id="16"/>
            <p:cNvSpPr/>
            <p:nvPr/>
          </p:nvSpPr>
          <p:spPr>
            <a:xfrm flipH="false" flipV="false" rot="0">
              <a:off x="0" y="0"/>
              <a:ext cx="128143" cy="2159635"/>
            </a:xfrm>
            <a:custGeom>
              <a:avLst/>
              <a:gdLst/>
              <a:ahLst/>
              <a:cxnLst/>
              <a:rect r="r" b="b" t="t" l="l"/>
              <a:pathLst>
                <a:path h="2159635" w="128143">
                  <a:moveTo>
                    <a:pt x="0" y="0"/>
                  </a:moveTo>
                  <a:lnTo>
                    <a:pt x="128143" y="0"/>
                  </a:lnTo>
                  <a:lnTo>
                    <a:pt x="128143" y="2159635"/>
                  </a:lnTo>
                  <a:lnTo>
                    <a:pt x="0" y="2159635"/>
                  </a:lnTo>
                  <a:close/>
                </a:path>
              </a:pathLst>
            </a:custGeom>
            <a:solidFill>
              <a:srgbClr val="41B45A"/>
            </a:solidFill>
          </p:spPr>
        </p:sp>
      </p:grpSp>
      <p:sp>
        <p:nvSpPr>
          <p:cNvPr name="TextBox 17" id="17"/>
          <p:cNvSpPr txBox="true"/>
          <p:nvPr/>
        </p:nvSpPr>
        <p:spPr>
          <a:xfrm rot="0">
            <a:off x="10386479" y="2319033"/>
            <a:ext cx="2535012" cy="311963"/>
          </a:xfrm>
          <a:prstGeom prst="rect">
            <a:avLst/>
          </a:prstGeom>
        </p:spPr>
        <p:txBody>
          <a:bodyPr anchor="t" rtlCol="false" tIns="0" lIns="0" bIns="0" rIns="0">
            <a:spAutoFit/>
          </a:bodyPr>
          <a:lstStyle/>
          <a:p>
            <a:pPr algn="l">
              <a:lnSpc>
                <a:spcPts val="1655"/>
              </a:lnSpc>
            </a:pPr>
            <a:r>
              <a:rPr lang="en-US" sz="1379" b="true">
                <a:solidFill>
                  <a:srgbClr val="5E6A71"/>
                </a:solidFill>
                <a:latin typeface="Arial Bold"/>
                <a:ea typeface="Arial Bold"/>
                <a:cs typeface="Arial Bold"/>
                <a:sym typeface="Arial Bold"/>
              </a:rPr>
              <a:t>HIGHEST YIELD</a:t>
            </a:r>
          </a:p>
        </p:txBody>
      </p:sp>
      <p:sp>
        <p:nvSpPr>
          <p:cNvPr name="TextBox 18" id="18"/>
          <p:cNvSpPr txBox="true"/>
          <p:nvPr/>
        </p:nvSpPr>
        <p:spPr>
          <a:xfrm rot="0">
            <a:off x="10386479" y="2754087"/>
            <a:ext cx="2535012" cy="604418"/>
          </a:xfrm>
          <a:prstGeom prst="rect">
            <a:avLst/>
          </a:prstGeom>
        </p:spPr>
        <p:txBody>
          <a:bodyPr anchor="t" rtlCol="false" tIns="0" lIns="0" bIns="0" rIns="0">
            <a:spAutoFit/>
          </a:bodyPr>
          <a:lstStyle/>
          <a:p>
            <a:pPr algn="l">
              <a:lnSpc>
                <a:spcPts val="3062"/>
              </a:lnSpc>
            </a:pPr>
            <a:r>
              <a:rPr lang="en-US" sz="2551" b="true">
                <a:solidFill>
                  <a:srgbClr val="41B45A"/>
                </a:solidFill>
                <a:latin typeface="Arial Bold"/>
                <a:ea typeface="Arial Bold"/>
                <a:cs typeface="Arial Bold"/>
                <a:sym typeface="Arial Bold"/>
              </a:rPr>
              <a:t>Drip · 6.58 t/ha</a:t>
            </a:r>
          </a:p>
        </p:txBody>
      </p:sp>
      <p:sp>
        <p:nvSpPr>
          <p:cNvPr name="TextBox 19" id="19"/>
          <p:cNvSpPr txBox="true"/>
          <p:nvPr/>
        </p:nvSpPr>
        <p:spPr>
          <a:xfrm rot="0">
            <a:off x="10386479" y="3298431"/>
            <a:ext cx="2535012" cy="261252"/>
          </a:xfrm>
          <a:prstGeom prst="rect">
            <a:avLst/>
          </a:prstGeom>
        </p:spPr>
        <p:txBody>
          <a:bodyPr anchor="t" rtlCol="false" tIns="0" lIns="0" bIns="0" rIns="0">
            <a:spAutoFit/>
          </a:bodyPr>
          <a:lstStyle/>
          <a:p>
            <a:pPr algn="l">
              <a:lnSpc>
                <a:spcPts val="1459"/>
              </a:lnSpc>
            </a:pPr>
            <a:r>
              <a:rPr lang="en-US" sz="1215">
                <a:solidFill>
                  <a:srgbClr val="313C42"/>
                </a:solidFill>
                <a:latin typeface="Arial"/>
                <a:ea typeface="Arial"/>
                <a:cs typeface="Arial"/>
                <a:sym typeface="Arial"/>
              </a:rPr>
              <a:t>Highest average yield among four methods</a:t>
            </a:r>
          </a:p>
        </p:txBody>
      </p:sp>
      <p:grpSp>
        <p:nvGrpSpPr>
          <p:cNvPr name="Group 20" id="20"/>
          <p:cNvGrpSpPr/>
          <p:nvPr/>
        </p:nvGrpSpPr>
        <p:grpSpPr>
          <a:xfrm rot="0">
            <a:off x="9983524" y="3902583"/>
            <a:ext cx="3272295" cy="1638814"/>
            <a:chOff x="0" y="0"/>
            <a:chExt cx="4363060" cy="2185086"/>
          </a:xfrm>
        </p:grpSpPr>
        <p:sp>
          <p:nvSpPr>
            <p:cNvPr name="Freeform 21" id="21"/>
            <p:cNvSpPr/>
            <p:nvPr/>
          </p:nvSpPr>
          <p:spPr>
            <a:xfrm flipH="false" flipV="false" rot="0">
              <a:off x="0" y="0"/>
              <a:ext cx="4363212" cy="2185162"/>
            </a:xfrm>
            <a:custGeom>
              <a:avLst/>
              <a:gdLst/>
              <a:ahLst/>
              <a:cxnLst/>
              <a:rect r="r" b="b" t="t" l="l"/>
              <a:pathLst>
                <a:path h="2185162" w="4363212">
                  <a:moveTo>
                    <a:pt x="0" y="364236"/>
                  </a:moveTo>
                  <a:cubicBezTo>
                    <a:pt x="0" y="163068"/>
                    <a:pt x="163068" y="0"/>
                    <a:pt x="364236" y="0"/>
                  </a:cubicBezTo>
                  <a:lnTo>
                    <a:pt x="3998976" y="0"/>
                  </a:lnTo>
                  <a:cubicBezTo>
                    <a:pt x="4200144" y="0"/>
                    <a:pt x="4363212" y="163068"/>
                    <a:pt x="4363212" y="364236"/>
                  </a:cubicBezTo>
                  <a:lnTo>
                    <a:pt x="4363212" y="1820926"/>
                  </a:lnTo>
                  <a:cubicBezTo>
                    <a:pt x="4363212" y="2022094"/>
                    <a:pt x="4200144" y="2185162"/>
                    <a:pt x="3998976" y="2185162"/>
                  </a:cubicBezTo>
                  <a:lnTo>
                    <a:pt x="364236" y="2185162"/>
                  </a:lnTo>
                  <a:cubicBezTo>
                    <a:pt x="163068" y="2185035"/>
                    <a:pt x="0" y="2022094"/>
                    <a:pt x="0" y="1820926"/>
                  </a:cubicBezTo>
                  <a:close/>
                </a:path>
              </a:pathLst>
            </a:custGeom>
            <a:solidFill>
              <a:srgbClr val="FFFFFF"/>
            </a:solidFill>
            <a:ln w="19065" cap="sq">
              <a:solidFill>
                <a:srgbClr val="DCE4E8"/>
              </a:solidFill>
              <a:prstDash val="solid"/>
              <a:miter/>
            </a:ln>
          </p:spPr>
        </p:sp>
      </p:grpSp>
      <p:grpSp>
        <p:nvGrpSpPr>
          <p:cNvPr name="Group 22" id="22"/>
          <p:cNvGrpSpPr/>
          <p:nvPr/>
        </p:nvGrpSpPr>
        <p:grpSpPr>
          <a:xfrm rot="0">
            <a:off x="9993058" y="3912118"/>
            <a:ext cx="96088" cy="1619755"/>
            <a:chOff x="0" y="0"/>
            <a:chExt cx="128118" cy="2159673"/>
          </a:xfrm>
        </p:grpSpPr>
        <p:sp>
          <p:nvSpPr>
            <p:cNvPr name="Freeform 23" id="23"/>
            <p:cNvSpPr/>
            <p:nvPr/>
          </p:nvSpPr>
          <p:spPr>
            <a:xfrm flipH="false" flipV="false" rot="0">
              <a:off x="0" y="0"/>
              <a:ext cx="128143" cy="2159635"/>
            </a:xfrm>
            <a:custGeom>
              <a:avLst/>
              <a:gdLst/>
              <a:ahLst/>
              <a:cxnLst/>
              <a:rect r="r" b="b" t="t" l="l"/>
              <a:pathLst>
                <a:path h="2159635" w="128143">
                  <a:moveTo>
                    <a:pt x="0" y="0"/>
                  </a:moveTo>
                  <a:lnTo>
                    <a:pt x="128143" y="0"/>
                  </a:lnTo>
                  <a:lnTo>
                    <a:pt x="128143" y="2159635"/>
                  </a:lnTo>
                  <a:lnTo>
                    <a:pt x="0" y="2159635"/>
                  </a:lnTo>
                  <a:close/>
                </a:path>
              </a:pathLst>
            </a:custGeom>
            <a:solidFill>
              <a:srgbClr val="2F86C1"/>
            </a:solidFill>
          </p:spPr>
        </p:sp>
      </p:grpSp>
      <p:sp>
        <p:nvSpPr>
          <p:cNvPr name="TextBox 24" id="24"/>
          <p:cNvSpPr txBox="true"/>
          <p:nvPr/>
        </p:nvSpPr>
        <p:spPr>
          <a:xfrm rot="0">
            <a:off x="10386479" y="4172140"/>
            <a:ext cx="2535012" cy="311963"/>
          </a:xfrm>
          <a:prstGeom prst="rect">
            <a:avLst/>
          </a:prstGeom>
        </p:spPr>
        <p:txBody>
          <a:bodyPr anchor="t" rtlCol="false" tIns="0" lIns="0" bIns="0" rIns="0">
            <a:spAutoFit/>
          </a:bodyPr>
          <a:lstStyle/>
          <a:p>
            <a:pPr algn="l">
              <a:lnSpc>
                <a:spcPts val="1655"/>
              </a:lnSpc>
            </a:pPr>
            <a:r>
              <a:rPr lang="en-US" sz="1379" b="true">
                <a:solidFill>
                  <a:srgbClr val="5E6A71"/>
                </a:solidFill>
                <a:latin typeface="Arial Bold"/>
                <a:ea typeface="Arial Bold"/>
                <a:cs typeface="Arial Bold"/>
                <a:sym typeface="Arial Bold"/>
              </a:rPr>
              <a:t>HIGHEST WATER EFF.</a:t>
            </a:r>
          </a:p>
        </p:txBody>
      </p:sp>
      <p:sp>
        <p:nvSpPr>
          <p:cNvPr name="TextBox 25" id="25"/>
          <p:cNvSpPr txBox="true"/>
          <p:nvPr/>
        </p:nvSpPr>
        <p:spPr>
          <a:xfrm rot="0">
            <a:off x="10386479" y="4607195"/>
            <a:ext cx="2535012" cy="604418"/>
          </a:xfrm>
          <a:prstGeom prst="rect">
            <a:avLst/>
          </a:prstGeom>
        </p:spPr>
        <p:txBody>
          <a:bodyPr anchor="t" rtlCol="false" tIns="0" lIns="0" bIns="0" rIns="0">
            <a:spAutoFit/>
          </a:bodyPr>
          <a:lstStyle/>
          <a:p>
            <a:pPr algn="l">
              <a:lnSpc>
                <a:spcPts val="3062"/>
              </a:lnSpc>
            </a:pPr>
            <a:r>
              <a:rPr lang="en-US" sz="2551" b="true">
                <a:solidFill>
                  <a:srgbClr val="2F86C1"/>
                </a:solidFill>
                <a:latin typeface="Arial Bold"/>
                <a:ea typeface="Arial Bold"/>
                <a:cs typeface="Arial Bold"/>
                <a:sym typeface="Arial Bold"/>
              </a:rPr>
              <a:t>Rainfed · 7.56</a:t>
            </a:r>
          </a:p>
        </p:txBody>
      </p:sp>
      <p:sp>
        <p:nvSpPr>
          <p:cNvPr name="TextBox 26" id="26"/>
          <p:cNvSpPr txBox="true"/>
          <p:nvPr/>
        </p:nvSpPr>
        <p:spPr>
          <a:xfrm rot="0">
            <a:off x="10352165" y="5151539"/>
            <a:ext cx="2535012" cy="261252"/>
          </a:xfrm>
          <a:prstGeom prst="rect">
            <a:avLst/>
          </a:prstGeom>
        </p:spPr>
        <p:txBody>
          <a:bodyPr anchor="t" rtlCol="false" tIns="0" lIns="0" bIns="0" rIns="0">
            <a:spAutoFit/>
          </a:bodyPr>
          <a:lstStyle/>
          <a:p>
            <a:pPr algn="l">
              <a:lnSpc>
                <a:spcPts val="1459"/>
              </a:lnSpc>
            </a:pPr>
            <a:r>
              <a:rPr lang="en-US" sz="1215">
                <a:solidFill>
                  <a:srgbClr val="313C42"/>
                </a:solidFill>
                <a:latin typeface="Arial"/>
                <a:ea typeface="Arial"/>
                <a:cs typeface="Arial"/>
                <a:sym typeface="Arial"/>
              </a:rPr>
              <a:t>Lowest average water use: 3,549.55 m³</a:t>
            </a:r>
          </a:p>
        </p:txBody>
      </p:sp>
      <p:grpSp>
        <p:nvGrpSpPr>
          <p:cNvPr name="Group 27" id="27"/>
          <p:cNvGrpSpPr/>
          <p:nvPr/>
        </p:nvGrpSpPr>
        <p:grpSpPr>
          <a:xfrm rot="0">
            <a:off x="9983524" y="5755691"/>
            <a:ext cx="3272295" cy="1638814"/>
            <a:chOff x="0" y="0"/>
            <a:chExt cx="4363060" cy="2185086"/>
          </a:xfrm>
        </p:grpSpPr>
        <p:sp>
          <p:nvSpPr>
            <p:cNvPr name="Freeform 28" id="28"/>
            <p:cNvSpPr/>
            <p:nvPr/>
          </p:nvSpPr>
          <p:spPr>
            <a:xfrm flipH="false" flipV="false" rot="0">
              <a:off x="0" y="0"/>
              <a:ext cx="4363212" cy="2185162"/>
            </a:xfrm>
            <a:custGeom>
              <a:avLst/>
              <a:gdLst/>
              <a:ahLst/>
              <a:cxnLst/>
              <a:rect r="r" b="b" t="t" l="l"/>
              <a:pathLst>
                <a:path h="2185162" w="4363212">
                  <a:moveTo>
                    <a:pt x="0" y="364236"/>
                  </a:moveTo>
                  <a:cubicBezTo>
                    <a:pt x="0" y="163068"/>
                    <a:pt x="163068" y="0"/>
                    <a:pt x="364236" y="0"/>
                  </a:cubicBezTo>
                  <a:lnTo>
                    <a:pt x="3998976" y="0"/>
                  </a:lnTo>
                  <a:cubicBezTo>
                    <a:pt x="4200144" y="0"/>
                    <a:pt x="4363212" y="163068"/>
                    <a:pt x="4363212" y="364236"/>
                  </a:cubicBezTo>
                  <a:lnTo>
                    <a:pt x="4363212" y="1820926"/>
                  </a:lnTo>
                  <a:cubicBezTo>
                    <a:pt x="4363212" y="2022094"/>
                    <a:pt x="4200144" y="2185162"/>
                    <a:pt x="3998976" y="2185162"/>
                  </a:cubicBezTo>
                  <a:lnTo>
                    <a:pt x="364236" y="2185162"/>
                  </a:lnTo>
                  <a:cubicBezTo>
                    <a:pt x="163068" y="2185035"/>
                    <a:pt x="0" y="2022094"/>
                    <a:pt x="0" y="1820926"/>
                  </a:cubicBezTo>
                  <a:close/>
                </a:path>
              </a:pathLst>
            </a:custGeom>
            <a:solidFill>
              <a:srgbClr val="FFFFFF"/>
            </a:solidFill>
            <a:ln w="19065" cap="sq">
              <a:solidFill>
                <a:srgbClr val="DCE4E8"/>
              </a:solidFill>
              <a:prstDash val="solid"/>
              <a:miter/>
            </a:ln>
          </p:spPr>
        </p:sp>
      </p:grpSp>
      <p:grpSp>
        <p:nvGrpSpPr>
          <p:cNvPr name="Group 29" id="29"/>
          <p:cNvGrpSpPr/>
          <p:nvPr/>
        </p:nvGrpSpPr>
        <p:grpSpPr>
          <a:xfrm rot="0">
            <a:off x="9993058" y="5765225"/>
            <a:ext cx="96088" cy="1619755"/>
            <a:chOff x="0" y="0"/>
            <a:chExt cx="128118" cy="2159673"/>
          </a:xfrm>
        </p:grpSpPr>
        <p:sp>
          <p:nvSpPr>
            <p:cNvPr name="Freeform 30" id="30"/>
            <p:cNvSpPr/>
            <p:nvPr/>
          </p:nvSpPr>
          <p:spPr>
            <a:xfrm flipH="false" flipV="false" rot="0">
              <a:off x="0" y="0"/>
              <a:ext cx="128143" cy="2159635"/>
            </a:xfrm>
            <a:custGeom>
              <a:avLst/>
              <a:gdLst/>
              <a:ahLst/>
              <a:cxnLst/>
              <a:rect r="r" b="b" t="t" l="l"/>
              <a:pathLst>
                <a:path h="2159635" w="128143">
                  <a:moveTo>
                    <a:pt x="0" y="0"/>
                  </a:moveTo>
                  <a:lnTo>
                    <a:pt x="128143" y="0"/>
                  </a:lnTo>
                  <a:lnTo>
                    <a:pt x="128143" y="2159635"/>
                  </a:lnTo>
                  <a:lnTo>
                    <a:pt x="0" y="2159635"/>
                  </a:lnTo>
                  <a:close/>
                </a:path>
              </a:pathLst>
            </a:custGeom>
            <a:solidFill>
              <a:srgbClr val="55C3E6"/>
            </a:solidFill>
          </p:spPr>
        </p:sp>
      </p:grpSp>
      <p:sp>
        <p:nvSpPr>
          <p:cNvPr name="TextBox 31" id="31"/>
          <p:cNvSpPr txBox="true"/>
          <p:nvPr/>
        </p:nvSpPr>
        <p:spPr>
          <a:xfrm rot="0">
            <a:off x="10386479" y="6025248"/>
            <a:ext cx="2535012" cy="311963"/>
          </a:xfrm>
          <a:prstGeom prst="rect">
            <a:avLst/>
          </a:prstGeom>
        </p:spPr>
        <p:txBody>
          <a:bodyPr anchor="t" rtlCol="false" tIns="0" lIns="0" bIns="0" rIns="0">
            <a:spAutoFit/>
          </a:bodyPr>
          <a:lstStyle/>
          <a:p>
            <a:pPr algn="l">
              <a:lnSpc>
                <a:spcPts val="1655"/>
              </a:lnSpc>
            </a:pPr>
            <a:r>
              <a:rPr lang="en-US" sz="1379" b="true">
                <a:solidFill>
                  <a:srgbClr val="5E6A71"/>
                </a:solidFill>
                <a:latin typeface="Arial Bold"/>
                <a:ea typeface="Arial Bold"/>
                <a:cs typeface="Arial Bold"/>
                <a:sym typeface="Arial Bold"/>
              </a:rPr>
              <a:t>HIGHEST WATER USE</a:t>
            </a:r>
          </a:p>
        </p:txBody>
      </p:sp>
      <p:sp>
        <p:nvSpPr>
          <p:cNvPr name="TextBox 32" id="32"/>
          <p:cNvSpPr txBox="true"/>
          <p:nvPr/>
        </p:nvSpPr>
        <p:spPr>
          <a:xfrm rot="0">
            <a:off x="10386479" y="6460303"/>
            <a:ext cx="2535012" cy="604418"/>
          </a:xfrm>
          <a:prstGeom prst="rect">
            <a:avLst/>
          </a:prstGeom>
        </p:spPr>
        <p:txBody>
          <a:bodyPr anchor="t" rtlCol="false" tIns="0" lIns="0" bIns="0" rIns="0">
            <a:spAutoFit/>
          </a:bodyPr>
          <a:lstStyle/>
          <a:p>
            <a:pPr algn="l">
              <a:lnSpc>
                <a:spcPts val="3062"/>
              </a:lnSpc>
            </a:pPr>
            <a:r>
              <a:rPr lang="en-US" sz="2551" b="true">
                <a:solidFill>
                  <a:srgbClr val="55C3E6"/>
                </a:solidFill>
                <a:latin typeface="Arial Bold"/>
                <a:ea typeface="Arial Bold"/>
                <a:cs typeface="Arial Bold"/>
                <a:sym typeface="Arial Bold"/>
              </a:rPr>
              <a:t>Flood · 8,026 m³</a:t>
            </a:r>
          </a:p>
        </p:txBody>
      </p:sp>
      <p:sp>
        <p:nvSpPr>
          <p:cNvPr name="TextBox 33" id="33"/>
          <p:cNvSpPr txBox="true"/>
          <p:nvPr/>
        </p:nvSpPr>
        <p:spPr>
          <a:xfrm rot="0">
            <a:off x="10386479" y="7201548"/>
            <a:ext cx="2535012" cy="261252"/>
          </a:xfrm>
          <a:prstGeom prst="rect">
            <a:avLst/>
          </a:prstGeom>
        </p:spPr>
        <p:txBody>
          <a:bodyPr anchor="t" rtlCol="false" tIns="0" lIns="0" bIns="0" rIns="0">
            <a:spAutoFit/>
          </a:bodyPr>
          <a:lstStyle/>
          <a:p>
            <a:pPr algn="l">
              <a:lnSpc>
                <a:spcPts val="1459"/>
              </a:lnSpc>
            </a:pPr>
            <a:r>
              <a:rPr lang="en-US" sz="1215">
                <a:solidFill>
                  <a:srgbClr val="313C42"/>
                </a:solidFill>
                <a:latin typeface="Arial"/>
                <a:ea typeface="Arial"/>
                <a:cs typeface="Arial"/>
                <a:sym typeface="Arial"/>
              </a:rPr>
              <a:t>Average water use per farm</a:t>
            </a:r>
          </a:p>
        </p:txBody>
      </p:sp>
      <p:sp>
        <p:nvSpPr>
          <p:cNvPr name="TextBox 34" id="34"/>
          <p:cNvSpPr txBox="true"/>
          <p:nvPr/>
        </p:nvSpPr>
        <p:spPr>
          <a:xfrm rot="0">
            <a:off x="10084498" y="7791793"/>
            <a:ext cx="3070355" cy="1359389"/>
          </a:xfrm>
          <a:prstGeom prst="rect">
            <a:avLst/>
          </a:prstGeom>
        </p:spPr>
        <p:txBody>
          <a:bodyPr anchor="t" rtlCol="false" tIns="0" lIns="0" bIns="0" rIns="0">
            <a:spAutoFit/>
          </a:bodyPr>
          <a:lstStyle/>
          <a:p>
            <a:pPr algn="l">
              <a:lnSpc>
                <a:spcPts val="1475"/>
              </a:lnSpc>
            </a:pPr>
            <a:r>
              <a:rPr lang="en-US" sz="1229">
                <a:solidFill>
                  <a:srgbClr val="313C42"/>
                </a:solidFill>
                <a:latin typeface="Arial"/>
                <a:ea typeface="Arial"/>
                <a:cs typeface="Arial"/>
                <a:sym typeface="Arial"/>
              </a:rPr>
              <a:t>The notebook explicitly treats these comparisons as observational: crop, soil, region and season may confound method-level averages.</a:t>
            </a:r>
          </a:p>
        </p:txBody>
      </p:sp>
      <p:grpSp>
        <p:nvGrpSpPr>
          <p:cNvPr name="Group 35" id="35"/>
          <p:cNvGrpSpPr/>
          <p:nvPr/>
        </p:nvGrpSpPr>
        <p:grpSpPr>
          <a:xfrm rot="0">
            <a:off x="960872" y="7755598"/>
            <a:ext cx="8716470" cy="1400127"/>
            <a:chOff x="0" y="0"/>
            <a:chExt cx="11621960" cy="1866836"/>
          </a:xfrm>
        </p:grpSpPr>
        <p:sp>
          <p:nvSpPr>
            <p:cNvPr name="Freeform 36" id="36"/>
            <p:cNvSpPr/>
            <p:nvPr/>
          </p:nvSpPr>
          <p:spPr>
            <a:xfrm flipH="false" flipV="false" rot="0">
              <a:off x="0" y="0"/>
              <a:ext cx="11622024" cy="1866900"/>
            </a:xfrm>
            <a:custGeom>
              <a:avLst/>
              <a:gdLst/>
              <a:ahLst/>
              <a:cxnLst/>
              <a:rect r="r" b="b" t="t" l="l"/>
              <a:pathLst>
                <a:path h="1866900" w="11622024">
                  <a:moveTo>
                    <a:pt x="0" y="311150"/>
                  </a:moveTo>
                  <a:cubicBezTo>
                    <a:pt x="0" y="139319"/>
                    <a:pt x="139319" y="0"/>
                    <a:pt x="311150" y="0"/>
                  </a:cubicBezTo>
                  <a:lnTo>
                    <a:pt x="11310874" y="0"/>
                  </a:lnTo>
                  <a:cubicBezTo>
                    <a:pt x="11482705" y="0"/>
                    <a:pt x="11622024" y="139319"/>
                    <a:pt x="11622024" y="311150"/>
                  </a:cubicBezTo>
                  <a:lnTo>
                    <a:pt x="11622024" y="1555750"/>
                  </a:lnTo>
                  <a:cubicBezTo>
                    <a:pt x="11622024" y="1727581"/>
                    <a:pt x="11482705" y="1866900"/>
                    <a:pt x="11310874" y="1866900"/>
                  </a:cubicBezTo>
                  <a:lnTo>
                    <a:pt x="311150" y="1866900"/>
                  </a:lnTo>
                  <a:cubicBezTo>
                    <a:pt x="139319" y="1866773"/>
                    <a:pt x="0" y="1727581"/>
                    <a:pt x="0" y="1555750"/>
                  </a:cubicBezTo>
                  <a:close/>
                </a:path>
              </a:pathLst>
            </a:custGeom>
            <a:solidFill>
              <a:srgbClr val="1F5A86"/>
            </a:solidFill>
          </p:spPr>
        </p:sp>
      </p:grpSp>
      <p:sp>
        <p:nvSpPr>
          <p:cNvPr name="TextBox 37" id="37"/>
          <p:cNvSpPr txBox="true"/>
          <p:nvPr/>
        </p:nvSpPr>
        <p:spPr>
          <a:xfrm rot="0">
            <a:off x="1258214" y="7919533"/>
            <a:ext cx="8121787" cy="229600"/>
          </a:xfrm>
          <a:prstGeom prst="rect">
            <a:avLst/>
          </a:prstGeom>
        </p:spPr>
        <p:txBody>
          <a:bodyPr anchor="t" rtlCol="false" tIns="0" lIns="0" bIns="0" rIns="0">
            <a:spAutoFit/>
          </a:bodyPr>
          <a:lstStyle/>
          <a:p>
            <a:pPr algn="l">
              <a:lnSpc>
                <a:spcPts val="1441"/>
              </a:lnSpc>
            </a:pPr>
            <a:r>
              <a:rPr lang="en-US" sz="1200" b="true">
                <a:solidFill>
                  <a:srgbClr val="55C3E6"/>
                </a:solidFill>
                <a:latin typeface="Arial Bold"/>
                <a:ea typeface="Arial Bold"/>
                <a:cs typeface="Arial Bold"/>
                <a:sym typeface="Arial Bold"/>
              </a:rPr>
              <a:t>ANALYSIS STEP</a:t>
            </a:r>
          </a:p>
        </p:txBody>
      </p:sp>
      <p:sp>
        <p:nvSpPr>
          <p:cNvPr name="TextBox 38" id="38"/>
          <p:cNvSpPr txBox="true"/>
          <p:nvPr/>
        </p:nvSpPr>
        <p:spPr>
          <a:xfrm rot="0">
            <a:off x="1258214" y="8266909"/>
            <a:ext cx="8121787" cy="719557"/>
          </a:xfrm>
          <a:prstGeom prst="rect">
            <a:avLst/>
          </a:prstGeom>
        </p:spPr>
        <p:txBody>
          <a:bodyPr anchor="t" rtlCol="false" tIns="0" lIns="0" bIns="0" rIns="0">
            <a:spAutoFit/>
          </a:bodyPr>
          <a:lstStyle/>
          <a:p>
            <a:pPr algn="l">
              <a:lnSpc>
                <a:spcPts val="1531"/>
              </a:lnSpc>
            </a:pPr>
            <a:r>
              <a:rPr lang="en-US" sz="1275">
                <a:solidFill>
                  <a:srgbClr val="FFFFFF"/>
                </a:solidFill>
                <a:latin typeface="Consolas"/>
                <a:ea typeface="Consolas"/>
                <a:cs typeface="Consolas"/>
                <a:sym typeface="Consolas"/>
              </a:rPr>
              <a:t>irrig.groupby('Irrigation_Method').agg(</a:t>
            </a:r>
          </a:p>
          <a:p>
            <a:pPr algn="l">
              <a:lnSpc>
                <a:spcPts val="1531"/>
              </a:lnSpc>
            </a:pPr>
            <a:r>
              <a:rPr lang="en-US" sz="1275">
                <a:solidFill>
                  <a:srgbClr val="FFFFFF"/>
                </a:solidFill>
                <a:latin typeface="Consolas"/>
                <a:ea typeface="Consolas"/>
                <a:cs typeface="Consolas"/>
                <a:sym typeface="Consolas"/>
              </a:rPr>
              <a:t>  Yield='mean', Water_Eff='mean')</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3726725" y="0"/>
            <a:ext cx="4575115" cy="10295039"/>
            <a:chOff x="0" y="0"/>
            <a:chExt cx="6100153" cy="13726719"/>
          </a:xfrm>
        </p:grpSpPr>
        <p:sp>
          <p:nvSpPr>
            <p:cNvPr name="Freeform 3" id="3" descr="agri_template_right_strip.png"/>
            <p:cNvSpPr/>
            <p:nvPr/>
          </p:nvSpPr>
          <p:spPr>
            <a:xfrm flipH="false" flipV="false" rot="0">
              <a:off x="0" y="0"/>
              <a:ext cx="6100191" cy="13726668"/>
            </a:xfrm>
            <a:custGeom>
              <a:avLst/>
              <a:gdLst/>
              <a:ahLst/>
              <a:cxnLst/>
              <a:rect r="r" b="b" t="t" l="l"/>
              <a:pathLst>
                <a:path h="13726668" w="6100191">
                  <a:moveTo>
                    <a:pt x="0" y="0"/>
                  </a:moveTo>
                  <a:lnTo>
                    <a:pt x="6100191" y="0"/>
                  </a:lnTo>
                  <a:lnTo>
                    <a:pt x="6100191" y="13726668"/>
                  </a:lnTo>
                  <a:lnTo>
                    <a:pt x="0" y="13726668"/>
                  </a:lnTo>
                  <a:lnTo>
                    <a:pt x="0" y="0"/>
                  </a:lnTo>
                  <a:close/>
                </a:path>
              </a:pathLst>
            </a:custGeom>
            <a:blipFill>
              <a:blip r:embed="rId2"/>
              <a:stretch>
                <a:fillRect l="-4" t="0" r="-4" b="0"/>
              </a:stretch>
            </a:blipFill>
          </p:spPr>
        </p:sp>
      </p:grpSp>
      <p:grpSp>
        <p:nvGrpSpPr>
          <p:cNvPr name="Group 4" id="4"/>
          <p:cNvGrpSpPr/>
          <p:nvPr/>
        </p:nvGrpSpPr>
        <p:grpSpPr>
          <a:xfrm rot="0">
            <a:off x="-466706" y="6890814"/>
            <a:ext cx="1372676" cy="3706216"/>
            <a:chOff x="0" y="0"/>
            <a:chExt cx="1830235" cy="4941621"/>
          </a:xfrm>
        </p:grpSpPr>
        <p:sp>
          <p:nvSpPr>
            <p:cNvPr name="Freeform 5" id="5"/>
            <p:cNvSpPr/>
            <p:nvPr/>
          </p:nvSpPr>
          <p:spPr>
            <a:xfrm flipH="false" flipV="false" rot="0">
              <a:off x="0" y="0"/>
              <a:ext cx="1830324" cy="4941570"/>
            </a:xfrm>
            <a:custGeom>
              <a:avLst/>
              <a:gdLst/>
              <a:ahLst/>
              <a:cxnLst/>
              <a:rect r="r" b="b" t="t" l="l"/>
              <a:pathLst>
                <a:path h="4941570" w="1830324">
                  <a:moveTo>
                    <a:pt x="0" y="4941570"/>
                  </a:moveTo>
                  <a:lnTo>
                    <a:pt x="915162" y="0"/>
                  </a:lnTo>
                  <a:lnTo>
                    <a:pt x="1830324" y="4941570"/>
                  </a:lnTo>
                  <a:close/>
                </a:path>
              </a:pathLst>
            </a:custGeom>
            <a:solidFill>
              <a:srgbClr val="55C3E6"/>
            </a:solidFill>
          </p:spPr>
        </p:sp>
      </p:grpSp>
      <p:grpSp>
        <p:nvGrpSpPr>
          <p:cNvPr name="Group 6" id="6"/>
          <p:cNvGrpSpPr/>
          <p:nvPr/>
        </p:nvGrpSpPr>
        <p:grpSpPr>
          <a:xfrm rot="0">
            <a:off x="9883245" y="2086461"/>
            <a:ext cx="274539" cy="274539"/>
            <a:chOff x="0" y="0"/>
            <a:chExt cx="366052" cy="366052"/>
          </a:xfrm>
        </p:grpSpPr>
        <p:sp>
          <p:nvSpPr>
            <p:cNvPr name="Freeform 7" id="7"/>
            <p:cNvSpPr/>
            <p:nvPr/>
          </p:nvSpPr>
          <p:spPr>
            <a:xfrm flipH="false" flipV="false" rot="0">
              <a:off x="0" y="0"/>
              <a:ext cx="366014" cy="366014"/>
            </a:xfrm>
            <a:custGeom>
              <a:avLst/>
              <a:gdLst/>
              <a:ahLst/>
              <a:cxnLst/>
              <a:rect r="r" b="b" t="t" l="l"/>
              <a:pathLst>
                <a:path h="366014" w="366014">
                  <a:moveTo>
                    <a:pt x="0" y="0"/>
                  </a:moveTo>
                  <a:lnTo>
                    <a:pt x="366014" y="0"/>
                  </a:lnTo>
                  <a:lnTo>
                    <a:pt x="366014" y="366014"/>
                  </a:lnTo>
                  <a:lnTo>
                    <a:pt x="0" y="366014"/>
                  </a:lnTo>
                  <a:close/>
                </a:path>
              </a:pathLst>
            </a:custGeom>
            <a:solidFill>
              <a:srgbClr val="2F86C1"/>
            </a:solidFill>
          </p:spPr>
        </p:sp>
      </p:grpSp>
      <p:sp>
        <p:nvSpPr>
          <p:cNvPr name="TextBox 8" id="8"/>
          <p:cNvSpPr txBox="true"/>
          <p:nvPr/>
        </p:nvSpPr>
        <p:spPr>
          <a:xfrm rot="0">
            <a:off x="13022018" y="9713538"/>
            <a:ext cx="297551" cy="165163"/>
          </a:xfrm>
          <a:prstGeom prst="rect">
            <a:avLst/>
          </a:prstGeom>
        </p:spPr>
        <p:txBody>
          <a:bodyPr anchor="t" rtlCol="false" tIns="0" lIns="0" bIns="0" rIns="0">
            <a:spAutoFit/>
          </a:bodyPr>
          <a:lstStyle/>
          <a:p>
            <a:pPr algn="r">
              <a:lnSpc>
                <a:spcPts val="1260"/>
              </a:lnSpc>
            </a:pPr>
            <a:r>
              <a:rPr lang="en-US" sz="1050">
                <a:solidFill>
                  <a:srgbClr val="5E6A71"/>
                </a:solidFill>
                <a:latin typeface="Arial"/>
                <a:ea typeface="Arial"/>
                <a:cs typeface="Arial"/>
                <a:sym typeface="Arial"/>
              </a:rPr>
              <a:t>09</a:t>
            </a:r>
          </a:p>
        </p:txBody>
      </p:sp>
      <p:sp>
        <p:nvSpPr>
          <p:cNvPr name="TextBox 9" id="9"/>
          <p:cNvSpPr txBox="true"/>
          <p:nvPr/>
        </p:nvSpPr>
        <p:spPr>
          <a:xfrm rot="0">
            <a:off x="1079764" y="685552"/>
            <a:ext cx="11896639" cy="819845"/>
          </a:xfrm>
          <a:prstGeom prst="rect">
            <a:avLst/>
          </a:prstGeom>
        </p:spPr>
        <p:txBody>
          <a:bodyPr anchor="t" rtlCol="false" tIns="0" lIns="0" bIns="0" rIns="0">
            <a:spAutoFit/>
          </a:bodyPr>
          <a:lstStyle/>
          <a:p>
            <a:pPr algn="l">
              <a:lnSpc>
                <a:spcPts val="5224"/>
              </a:lnSpc>
            </a:pPr>
            <a:r>
              <a:rPr lang="en-US" sz="4353" b="true">
                <a:solidFill>
                  <a:srgbClr val="121212"/>
                </a:solidFill>
                <a:latin typeface="Arial Bold"/>
                <a:ea typeface="Arial Bold"/>
                <a:cs typeface="Arial Bold"/>
                <a:sym typeface="Arial Bold"/>
              </a:rPr>
              <a:t>RESULTS</a:t>
            </a:r>
          </a:p>
        </p:txBody>
      </p:sp>
      <p:sp>
        <p:nvSpPr>
          <p:cNvPr name="TextBox 10" id="10"/>
          <p:cNvSpPr txBox="true"/>
          <p:nvPr/>
        </p:nvSpPr>
        <p:spPr>
          <a:xfrm rot="0">
            <a:off x="1107215" y="1536611"/>
            <a:ext cx="11896639" cy="408041"/>
          </a:xfrm>
          <a:prstGeom prst="rect">
            <a:avLst/>
          </a:prstGeom>
        </p:spPr>
        <p:txBody>
          <a:bodyPr anchor="t" rtlCol="false" tIns="0" lIns="0" bIns="0" rIns="0">
            <a:spAutoFit/>
          </a:bodyPr>
          <a:lstStyle/>
          <a:p>
            <a:pPr algn="l">
              <a:lnSpc>
                <a:spcPts val="1981"/>
              </a:lnSpc>
            </a:pPr>
            <a:r>
              <a:rPr lang="en-US" sz="1651">
                <a:solidFill>
                  <a:srgbClr val="5E6A71"/>
                </a:solidFill>
                <a:latin typeface="Arial"/>
                <a:ea typeface="Arial"/>
                <a:cs typeface="Arial"/>
                <a:sym typeface="Arial"/>
              </a:rPr>
              <a:t>Environmental relationships and correlation evidence</a:t>
            </a:r>
          </a:p>
        </p:txBody>
      </p:sp>
      <p:grpSp>
        <p:nvGrpSpPr>
          <p:cNvPr name="Group 11" id="11"/>
          <p:cNvGrpSpPr/>
          <p:nvPr/>
        </p:nvGrpSpPr>
        <p:grpSpPr>
          <a:xfrm rot="0">
            <a:off x="960872" y="1990373"/>
            <a:ext cx="5559323" cy="5147520"/>
            <a:chOff x="0" y="0"/>
            <a:chExt cx="7412431" cy="6863359"/>
          </a:xfrm>
        </p:grpSpPr>
        <p:sp>
          <p:nvSpPr>
            <p:cNvPr name="Freeform 12" id="12" descr="rainfall_yield.png"/>
            <p:cNvSpPr/>
            <p:nvPr/>
          </p:nvSpPr>
          <p:spPr>
            <a:xfrm flipH="false" flipV="false" rot="0">
              <a:off x="0" y="0"/>
              <a:ext cx="7412482" cy="6863334"/>
            </a:xfrm>
            <a:custGeom>
              <a:avLst/>
              <a:gdLst/>
              <a:ahLst/>
              <a:cxnLst/>
              <a:rect r="r" b="b" t="t" l="l"/>
              <a:pathLst>
                <a:path h="6863334" w="7412482">
                  <a:moveTo>
                    <a:pt x="0" y="0"/>
                  </a:moveTo>
                  <a:lnTo>
                    <a:pt x="7412482" y="0"/>
                  </a:lnTo>
                  <a:lnTo>
                    <a:pt x="7412482" y="6863334"/>
                  </a:lnTo>
                  <a:lnTo>
                    <a:pt x="0" y="6863334"/>
                  </a:lnTo>
                  <a:lnTo>
                    <a:pt x="0" y="0"/>
                  </a:lnTo>
                  <a:close/>
                </a:path>
              </a:pathLst>
            </a:custGeom>
            <a:blipFill>
              <a:blip r:embed="rId3"/>
              <a:stretch>
                <a:fillRect l="-25912" t="0" r="-25911" b="0"/>
              </a:stretch>
            </a:blipFill>
          </p:spPr>
        </p:sp>
      </p:grpSp>
      <p:grpSp>
        <p:nvGrpSpPr>
          <p:cNvPr name="Group 13" id="13"/>
          <p:cNvGrpSpPr/>
          <p:nvPr/>
        </p:nvGrpSpPr>
        <p:grpSpPr>
          <a:xfrm rot="0">
            <a:off x="6794725" y="1990373"/>
            <a:ext cx="5971127" cy="5147520"/>
            <a:chOff x="0" y="0"/>
            <a:chExt cx="7961503" cy="6863359"/>
          </a:xfrm>
        </p:grpSpPr>
        <p:sp>
          <p:nvSpPr>
            <p:cNvPr name="Freeform 14" id="14" descr="corr_heatmap.png"/>
            <p:cNvSpPr/>
            <p:nvPr/>
          </p:nvSpPr>
          <p:spPr>
            <a:xfrm flipH="false" flipV="false" rot="0">
              <a:off x="0" y="0"/>
              <a:ext cx="7961503" cy="6863334"/>
            </a:xfrm>
            <a:custGeom>
              <a:avLst/>
              <a:gdLst/>
              <a:ahLst/>
              <a:cxnLst/>
              <a:rect r="r" b="b" t="t" l="l"/>
              <a:pathLst>
                <a:path h="6863334" w="7961503">
                  <a:moveTo>
                    <a:pt x="0" y="0"/>
                  </a:moveTo>
                  <a:lnTo>
                    <a:pt x="7961503" y="0"/>
                  </a:lnTo>
                  <a:lnTo>
                    <a:pt x="7961503" y="6863334"/>
                  </a:lnTo>
                  <a:lnTo>
                    <a:pt x="0" y="6863334"/>
                  </a:lnTo>
                  <a:lnTo>
                    <a:pt x="0" y="0"/>
                  </a:lnTo>
                  <a:close/>
                </a:path>
              </a:pathLst>
            </a:custGeom>
            <a:blipFill>
              <a:blip r:embed="rId4"/>
              <a:stretch>
                <a:fillRect l="-20574" t="0" r="-20574" b="0"/>
              </a:stretch>
            </a:blipFill>
          </p:spPr>
        </p:sp>
      </p:grpSp>
      <p:grpSp>
        <p:nvGrpSpPr>
          <p:cNvPr name="Group 15" id="15"/>
          <p:cNvGrpSpPr/>
          <p:nvPr/>
        </p:nvGrpSpPr>
        <p:grpSpPr>
          <a:xfrm rot="0">
            <a:off x="951338" y="7430348"/>
            <a:ext cx="3519383" cy="1529001"/>
            <a:chOff x="0" y="0"/>
            <a:chExt cx="4692510" cy="2038668"/>
          </a:xfrm>
        </p:grpSpPr>
        <p:sp>
          <p:nvSpPr>
            <p:cNvPr name="Freeform 16" id="16"/>
            <p:cNvSpPr/>
            <p:nvPr/>
          </p:nvSpPr>
          <p:spPr>
            <a:xfrm flipH="false" flipV="false" rot="0">
              <a:off x="0" y="0"/>
              <a:ext cx="4692396" cy="2038604"/>
            </a:xfrm>
            <a:custGeom>
              <a:avLst/>
              <a:gdLst/>
              <a:ahLst/>
              <a:cxnLst/>
              <a:rect r="r" b="b" t="t" l="l"/>
              <a:pathLst>
                <a:path h="2038604" w="4692396">
                  <a:moveTo>
                    <a:pt x="0" y="339725"/>
                  </a:moveTo>
                  <a:cubicBezTo>
                    <a:pt x="0" y="152146"/>
                    <a:pt x="152146" y="0"/>
                    <a:pt x="339725" y="0"/>
                  </a:cubicBezTo>
                  <a:lnTo>
                    <a:pt x="4352671" y="0"/>
                  </a:lnTo>
                  <a:cubicBezTo>
                    <a:pt x="4540377" y="0"/>
                    <a:pt x="4692396" y="152146"/>
                    <a:pt x="4692396" y="339725"/>
                  </a:cubicBezTo>
                  <a:lnTo>
                    <a:pt x="4692396" y="1698879"/>
                  </a:lnTo>
                  <a:cubicBezTo>
                    <a:pt x="4692396" y="1886585"/>
                    <a:pt x="4540250" y="2038604"/>
                    <a:pt x="4352671" y="2038604"/>
                  </a:cubicBezTo>
                  <a:lnTo>
                    <a:pt x="339725" y="2038604"/>
                  </a:lnTo>
                  <a:cubicBezTo>
                    <a:pt x="152146" y="2038731"/>
                    <a:pt x="0" y="1886585"/>
                    <a:pt x="0" y="1698879"/>
                  </a:cubicBezTo>
                  <a:close/>
                </a:path>
              </a:pathLst>
            </a:custGeom>
            <a:solidFill>
              <a:srgbClr val="FFFFFF"/>
            </a:solidFill>
            <a:ln w="19065" cap="sq">
              <a:solidFill>
                <a:srgbClr val="DCE4E8"/>
              </a:solidFill>
              <a:prstDash val="solid"/>
              <a:miter/>
            </a:ln>
          </p:spPr>
        </p:sp>
      </p:grpSp>
      <p:grpSp>
        <p:nvGrpSpPr>
          <p:cNvPr name="Group 17" id="17"/>
          <p:cNvGrpSpPr/>
          <p:nvPr/>
        </p:nvGrpSpPr>
        <p:grpSpPr>
          <a:xfrm rot="0">
            <a:off x="960872" y="7439882"/>
            <a:ext cx="96088" cy="1509941"/>
            <a:chOff x="0" y="0"/>
            <a:chExt cx="128118" cy="2013255"/>
          </a:xfrm>
        </p:grpSpPr>
        <p:sp>
          <p:nvSpPr>
            <p:cNvPr name="Freeform 18" id="18"/>
            <p:cNvSpPr/>
            <p:nvPr/>
          </p:nvSpPr>
          <p:spPr>
            <a:xfrm flipH="false" flipV="false" rot="0">
              <a:off x="0" y="0"/>
              <a:ext cx="128143" cy="2013204"/>
            </a:xfrm>
            <a:custGeom>
              <a:avLst/>
              <a:gdLst/>
              <a:ahLst/>
              <a:cxnLst/>
              <a:rect r="r" b="b" t="t" l="l"/>
              <a:pathLst>
                <a:path h="2013204" w="128143">
                  <a:moveTo>
                    <a:pt x="0" y="0"/>
                  </a:moveTo>
                  <a:lnTo>
                    <a:pt x="128143" y="0"/>
                  </a:lnTo>
                  <a:lnTo>
                    <a:pt x="128143" y="2013204"/>
                  </a:lnTo>
                  <a:lnTo>
                    <a:pt x="0" y="2013204"/>
                  </a:lnTo>
                  <a:close/>
                </a:path>
              </a:pathLst>
            </a:custGeom>
            <a:solidFill>
              <a:srgbClr val="41B45A"/>
            </a:solidFill>
          </p:spPr>
        </p:sp>
      </p:grpSp>
      <p:sp>
        <p:nvSpPr>
          <p:cNvPr name="TextBox 19" id="19"/>
          <p:cNvSpPr txBox="true"/>
          <p:nvPr/>
        </p:nvSpPr>
        <p:spPr>
          <a:xfrm rot="0">
            <a:off x="1354293" y="7699905"/>
            <a:ext cx="2837002" cy="311963"/>
          </a:xfrm>
          <a:prstGeom prst="rect">
            <a:avLst/>
          </a:prstGeom>
        </p:spPr>
        <p:txBody>
          <a:bodyPr anchor="t" rtlCol="false" tIns="0" lIns="0" bIns="0" rIns="0">
            <a:spAutoFit/>
          </a:bodyPr>
          <a:lstStyle/>
          <a:p>
            <a:pPr algn="l">
              <a:lnSpc>
                <a:spcPts val="1801"/>
              </a:lnSpc>
            </a:pPr>
            <a:r>
              <a:rPr lang="en-US" sz="1501" b="true">
                <a:solidFill>
                  <a:srgbClr val="5E6A71"/>
                </a:solidFill>
                <a:latin typeface="Arial Bold"/>
                <a:ea typeface="Arial Bold"/>
                <a:cs typeface="Arial Bold"/>
                <a:sym typeface="Arial Bold"/>
              </a:rPr>
              <a:t>YIELD ↔ WATER EFFICIENCY</a:t>
            </a:r>
          </a:p>
        </p:txBody>
      </p:sp>
      <p:sp>
        <p:nvSpPr>
          <p:cNvPr name="TextBox 20" id="20"/>
          <p:cNvSpPr txBox="true"/>
          <p:nvPr/>
        </p:nvSpPr>
        <p:spPr>
          <a:xfrm rot="0">
            <a:off x="1354293" y="8115910"/>
            <a:ext cx="2837002" cy="623468"/>
          </a:xfrm>
          <a:prstGeom prst="rect">
            <a:avLst/>
          </a:prstGeom>
        </p:spPr>
        <p:txBody>
          <a:bodyPr anchor="t" rtlCol="false" tIns="0" lIns="0" bIns="0" rIns="0">
            <a:spAutoFit/>
          </a:bodyPr>
          <a:lstStyle/>
          <a:p>
            <a:pPr algn="l">
              <a:lnSpc>
                <a:spcPts val="3963"/>
              </a:lnSpc>
            </a:pPr>
            <a:r>
              <a:rPr lang="en-US" sz="3302" b="true">
                <a:solidFill>
                  <a:srgbClr val="41B45A"/>
                </a:solidFill>
                <a:latin typeface="Arial Bold"/>
                <a:ea typeface="Arial Bold"/>
                <a:cs typeface="Arial Bold"/>
                <a:sym typeface="Arial Bold"/>
              </a:rPr>
              <a:t>r = 0.91</a:t>
            </a:r>
          </a:p>
        </p:txBody>
      </p:sp>
      <p:grpSp>
        <p:nvGrpSpPr>
          <p:cNvPr name="Group 21" id="21"/>
          <p:cNvGrpSpPr/>
          <p:nvPr/>
        </p:nvGrpSpPr>
        <p:grpSpPr>
          <a:xfrm rot="0">
            <a:off x="4726191" y="7430348"/>
            <a:ext cx="3519383" cy="1529001"/>
            <a:chOff x="0" y="0"/>
            <a:chExt cx="4692510" cy="2038668"/>
          </a:xfrm>
        </p:grpSpPr>
        <p:sp>
          <p:nvSpPr>
            <p:cNvPr name="Freeform 22" id="22"/>
            <p:cNvSpPr/>
            <p:nvPr/>
          </p:nvSpPr>
          <p:spPr>
            <a:xfrm flipH="false" flipV="false" rot="0">
              <a:off x="0" y="0"/>
              <a:ext cx="4692396" cy="2038604"/>
            </a:xfrm>
            <a:custGeom>
              <a:avLst/>
              <a:gdLst/>
              <a:ahLst/>
              <a:cxnLst/>
              <a:rect r="r" b="b" t="t" l="l"/>
              <a:pathLst>
                <a:path h="2038604" w="4692396">
                  <a:moveTo>
                    <a:pt x="0" y="339725"/>
                  </a:moveTo>
                  <a:cubicBezTo>
                    <a:pt x="0" y="152146"/>
                    <a:pt x="152146" y="0"/>
                    <a:pt x="339725" y="0"/>
                  </a:cubicBezTo>
                  <a:lnTo>
                    <a:pt x="4352671" y="0"/>
                  </a:lnTo>
                  <a:cubicBezTo>
                    <a:pt x="4540377" y="0"/>
                    <a:pt x="4692396" y="152146"/>
                    <a:pt x="4692396" y="339725"/>
                  </a:cubicBezTo>
                  <a:lnTo>
                    <a:pt x="4692396" y="1698879"/>
                  </a:lnTo>
                  <a:cubicBezTo>
                    <a:pt x="4692396" y="1886585"/>
                    <a:pt x="4540250" y="2038604"/>
                    <a:pt x="4352671" y="2038604"/>
                  </a:cubicBezTo>
                  <a:lnTo>
                    <a:pt x="339725" y="2038604"/>
                  </a:lnTo>
                  <a:cubicBezTo>
                    <a:pt x="152146" y="2038731"/>
                    <a:pt x="0" y="1886585"/>
                    <a:pt x="0" y="1698879"/>
                  </a:cubicBezTo>
                  <a:close/>
                </a:path>
              </a:pathLst>
            </a:custGeom>
            <a:solidFill>
              <a:srgbClr val="FFFFFF"/>
            </a:solidFill>
            <a:ln w="19065" cap="sq">
              <a:solidFill>
                <a:srgbClr val="DCE4E8"/>
              </a:solidFill>
              <a:prstDash val="solid"/>
              <a:miter/>
            </a:ln>
          </p:spPr>
        </p:sp>
      </p:grpSp>
      <p:grpSp>
        <p:nvGrpSpPr>
          <p:cNvPr name="Group 23" id="23"/>
          <p:cNvGrpSpPr/>
          <p:nvPr/>
        </p:nvGrpSpPr>
        <p:grpSpPr>
          <a:xfrm rot="0">
            <a:off x="4735716" y="7439882"/>
            <a:ext cx="96088" cy="1509941"/>
            <a:chOff x="0" y="0"/>
            <a:chExt cx="128118" cy="2013255"/>
          </a:xfrm>
        </p:grpSpPr>
        <p:sp>
          <p:nvSpPr>
            <p:cNvPr name="Freeform 24" id="24"/>
            <p:cNvSpPr/>
            <p:nvPr/>
          </p:nvSpPr>
          <p:spPr>
            <a:xfrm flipH="false" flipV="false" rot="0">
              <a:off x="0" y="0"/>
              <a:ext cx="128143" cy="2013204"/>
            </a:xfrm>
            <a:custGeom>
              <a:avLst/>
              <a:gdLst/>
              <a:ahLst/>
              <a:cxnLst/>
              <a:rect r="r" b="b" t="t" l="l"/>
              <a:pathLst>
                <a:path h="2013204" w="128143">
                  <a:moveTo>
                    <a:pt x="0" y="0"/>
                  </a:moveTo>
                  <a:lnTo>
                    <a:pt x="128143" y="0"/>
                  </a:lnTo>
                  <a:lnTo>
                    <a:pt x="128143" y="2013204"/>
                  </a:lnTo>
                  <a:lnTo>
                    <a:pt x="0" y="2013204"/>
                  </a:lnTo>
                  <a:close/>
                </a:path>
              </a:pathLst>
            </a:custGeom>
            <a:solidFill>
              <a:srgbClr val="2F86C1"/>
            </a:solidFill>
          </p:spPr>
        </p:sp>
      </p:grpSp>
      <p:sp>
        <p:nvSpPr>
          <p:cNvPr name="TextBox 25" id="25"/>
          <p:cNvSpPr txBox="true"/>
          <p:nvPr/>
        </p:nvSpPr>
        <p:spPr>
          <a:xfrm rot="0">
            <a:off x="5129146" y="7699905"/>
            <a:ext cx="2837002" cy="311963"/>
          </a:xfrm>
          <a:prstGeom prst="rect">
            <a:avLst/>
          </a:prstGeom>
        </p:spPr>
        <p:txBody>
          <a:bodyPr anchor="t" rtlCol="false" tIns="0" lIns="0" bIns="0" rIns="0">
            <a:spAutoFit/>
          </a:bodyPr>
          <a:lstStyle/>
          <a:p>
            <a:pPr algn="l">
              <a:lnSpc>
                <a:spcPts val="1801"/>
              </a:lnSpc>
            </a:pPr>
            <a:r>
              <a:rPr lang="en-US" sz="1501" b="true">
                <a:solidFill>
                  <a:srgbClr val="5E6A71"/>
                </a:solidFill>
                <a:latin typeface="Arial Bold"/>
                <a:ea typeface="Arial Bold"/>
                <a:cs typeface="Arial Bold"/>
                <a:sym typeface="Arial Bold"/>
              </a:rPr>
              <a:t>YIELD ↔ PROFIT</a:t>
            </a:r>
          </a:p>
        </p:txBody>
      </p:sp>
      <p:sp>
        <p:nvSpPr>
          <p:cNvPr name="TextBox 26" id="26"/>
          <p:cNvSpPr txBox="true"/>
          <p:nvPr/>
        </p:nvSpPr>
        <p:spPr>
          <a:xfrm rot="0">
            <a:off x="5129146" y="8115910"/>
            <a:ext cx="2837002" cy="623468"/>
          </a:xfrm>
          <a:prstGeom prst="rect">
            <a:avLst/>
          </a:prstGeom>
        </p:spPr>
        <p:txBody>
          <a:bodyPr anchor="t" rtlCol="false" tIns="0" lIns="0" bIns="0" rIns="0">
            <a:spAutoFit/>
          </a:bodyPr>
          <a:lstStyle/>
          <a:p>
            <a:pPr algn="l">
              <a:lnSpc>
                <a:spcPts val="3963"/>
              </a:lnSpc>
            </a:pPr>
            <a:r>
              <a:rPr lang="en-US" sz="3302" b="true">
                <a:solidFill>
                  <a:srgbClr val="2F86C1"/>
                </a:solidFill>
                <a:latin typeface="Arial Bold"/>
                <a:ea typeface="Arial Bold"/>
                <a:cs typeface="Arial Bold"/>
                <a:sym typeface="Arial Bold"/>
              </a:rPr>
              <a:t>r = 0.49</a:t>
            </a:r>
          </a:p>
        </p:txBody>
      </p:sp>
      <p:grpSp>
        <p:nvGrpSpPr>
          <p:cNvPr name="Group 27" id="27"/>
          <p:cNvGrpSpPr/>
          <p:nvPr/>
        </p:nvGrpSpPr>
        <p:grpSpPr>
          <a:xfrm rot="0">
            <a:off x="8501034" y="7430348"/>
            <a:ext cx="3519383" cy="1529001"/>
            <a:chOff x="0" y="0"/>
            <a:chExt cx="4692510" cy="2038668"/>
          </a:xfrm>
        </p:grpSpPr>
        <p:sp>
          <p:nvSpPr>
            <p:cNvPr name="Freeform 28" id="28"/>
            <p:cNvSpPr/>
            <p:nvPr/>
          </p:nvSpPr>
          <p:spPr>
            <a:xfrm flipH="false" flipV="false" rot="0">
              <a:off x="0" y="0"/>
              <a:ext cx="4692396" cy="2038604"/>
            </a:xfrm>
            <a:custGeom>
              <a:avLst/>
              <a:gdLst/>
              <a:ahLst/>
              <a:cxnLst/>
              <a:rect r="r" b="b" t="t" l="l"/>
              <a:pathLst>
                <a:path h="2038604" w="4692396">
                  <a:moveTo>
                    <a:pt x="0" y="339725"/>
                  </a:moveTo>
                  <a:cubicBezTo>
                    <a:pt x="0" y="152146"/>
                    <a:pt x="152146" y="0"/>
                    <a:pt x="339725" y="0"/>
                  </a:cubicBezTo>
                  <a:lnTo>
                    <a:pt x="4352671" y="0"/>
                  </a:lnTo>
                  <a:cubicBezTo>
                    <a:pt x="4540377" y="0"/>
                    <a:pt x="4692396" y="152146"/>
                    <a:pt x="4692396" y="339725"/>
                  </a:cubicBezTo>
                  <a:lnTo>
                    <a:pt x="4692396" y="1698879"/>
                  </a:lnTo>
                  <a:cubicBezTo>
                    <a:pt x="4692396" y="1886585"/>
                    <a:pt x="4540250" y="2038604"/>
                    <a:pt x="4352671" y="2038604"/>
                  </a:cubicBezTo>
                  <a:lnTo>
                    <a:pt x="339725" y="2038604"/>
                  </a:lnTo>
                  <a:cubicBezTo>
                    <a:pt x="152146" y="2038731"/>
                    <a:pt x="0" y="1886585"/>
                    <a:pt x="0" y="1698879"/>
                  </a:cubicBezTo>
                  <a:close/>
                </a:path>
              </a:pathLst>
            </a:custGeom>
            <a:solidFill>
              <a:srgbClr val="FFFFFF"/>
            </a:solidFill>
            <a:ln w="19065" cap="sq">
              <a:solidFill>
                <a:srgbClr val="DCE4E8"/>
              </a:solidFill>
              <a:prstDash val="solid"/>
              <a:miter/>
            </a:ln>
          </p:spPr>
        </p:sp>
      </p:grpSp>
      <p:grpSp>
        <p:nvGrpSpPr>
          <p:cNvPr name="Group 29" id="29"/>
          <p:cNvGrpSpPr/>
          <p:nvPr/>
        </p:nvGrpSpPr>
        <p:grpSpPr>
          <a:xfrm rot="0">
            <a:off x="8510568" y="7439882"/>
            <a:ext cx="96088" cy="1509941"/>
            <a:chOff x="0" y="0"/>
            <a:chExt cx="128118" cy="2013255"/>
          </a:xfrm>
        </p:grpSpPr>
        <p:sp>
          <p:nvSpPr>
            <p:cNvPr name="Freeform 30" id="30"/>
            <p:cNvSpPr/>
            <p:nvPr/>
          </p:nvSpPr>
          <p:spPr>
            <a:xfrm flipH="false" flipV="false" rot="0">
              <a:off x="0" y="0"/>
              <a:ext cx="128143" cy="2013204"/>
            </a:xfrm>
            <a:custGeom>
              <a:avLst/>
              <a:gdLst/>
              <a:ahLst/>
              <a:cxnLst/>
              <a:rect r="r" b="b" t="t" l="l"/>
              <a:pathLst>
                <a:path h="2013204" w="128143">
                  <a:moveTo>
                    <a:pt x="0" y="0"/>
                  </a:moveTo>
                  <a:lnTo>
                    <a:pt x="128143" y="0"/>
                  </a:lnTo>
                  <a:lnTo>
                    <a:pt x="128143" y="2013204"/>
                  </a:lnTo>
                  <a:lnTo>
                    <a:pt x="0" y="2013204"/>
                  </a:lnTo>
                  <a:close/>
                </a:path>
              </a:pathLst>
            </a:custGeom>
            <a:solidFill>
              <a:srgbClr val="55C3E6"/>
            </a:solidFill>
          </p:spPr>
        </p:sp>
      </p:grpSp>
      <p:sp>
        <p:nvSpPr>
          <p:cNvPr name="TextBox 31" id="31"/>
          <p:cNvSpPr txBox="true"/>
          <p:nvPr/>
        </p:nvSpPr>
        <p:spPr>
          <a:xfrm rot="0">
            <a:off x="8903999" y="7699905"/>
            <a:ext cx="2837002" cy="311963"/>
          </a:xfrm>
          <a:prstGeom prst="rect">
            <a:avLst/>
          </a:prstGeom>
        </p:spPr>
        <p:txBody>
          <a:bodyPr anchor="t" rtlCol="false" tIns="0" lIns="0" bIns="0" rIns="0">
            <a:spAutoFit/>
          </a:bodyPr>
          <a:lstStyle/>
          <a:p>
            <a:pPr algn="l">
              <a:lnSpc>
                <a:spcPts val="1801"/>
              </a:lnSpc>
            </a:pPr>
            <a:r>
              <a:rPr lang="en-US" sz="1501" b="true">
                <a:solidFill>
                  <a:srgbClr val="5E6A71"/>
                </a:solidFill>
                <a:latin typeface="Arial Bold"/>
                <a:ea typeface="Arial Bold"/>
                <a:cs typeface="Arial Bold"/>
                <a:sym typeface="Arial Bold"/>
              </a:rPr>
              <a:t>RAINFALL ↔ YIELD</a:t>
            </a:r>
          </a:p>
        </p:txBody>
      </p:sp>
      <p:sp>
        <p:nvSpPr>
          <p:cNvPr name="TextBox 32" id="32"/>
          <p:cNvSpPr txBox="true"/>
          <p:nvPr/>
        </p:nvSpPr>
        <p:spPr>
          <a:xfrm rot="0">
            <a:off x="8903999" y="8115910"/>
            <a:ext cx="2837002" cy="623468"/>
          </a:xfrm>
          <a:prstGeom prst="rect">
            <a:avLst/>
          </a:prstGeom>
        </p:spPr>
        <p:txBody>
          <a:bodyPr anchor="t" rtlCol="false" tIns="0" lIns="0" bIns="0" rIns="0">
            <a:spAutoFit/>
          </a:bodyPr>
          <a:lstStyle/>
          <a:p>
            <a:pPr algn="l">
              <a:lnSpc>
                <a:spcPts val="3963"/>
              </a:lnSpc>
            </a:pPr>
            <a:r>
              <a:rPr lang="en-US" sz="3302" b="true">
                <a:solidFill>
                  <a:srgbClr val="55C3E6"/>
                </a:solidFill>
                <a:latin typeface="Arial Bold"/>
                <a:ea typeface="Arial Bold"/>
                <a:cs typeface="Arial Bold"/>
                <a:sym typeface="Arial Bold"/>
              </a:rPr>
              <a:t>r = 0.03</a:t>
            </a:r>
          </a:p>
        </p:txBody>
      </p:sp>
      <p:grpSp>
        <p:nvGrpSpPr>
          <p:cNvPr name="Group 33" id="33"/>
          <p:cNvGrpSpPr/>
          <p:nvPr/>
        </p:nvGrpSpPr>
        <p:grpSpPr>
          <a:xfrm rot="0">
            <a:off x="960872" y="9128274"/>
            <a:ext cx="11050010" cy="494167"/>
            <a:chOff x="0" y="0"/>
            <a:chExt cx="14733346" cy="658889"/>
          </a:xfrm>
        </p:grpSpPr>
        <p:sp>
          <p:nvSpPr>
            <p:cNvPr name="Freeform 34" id="34"/>
            <p:cNvSpPr/>
            <p:nvPr/>
          </p:nvSpPr>
          <p:spPr>
            <a:xfrm flipH="false" flipV="false" rot="0">
              <a:off x="0" y="0"/>
              <a:ext cx="14733397" cy="658876"/>
            </a:xfrm>
            <a:custGeom>
              <a:avLst/>
              <a:gdLst/>
              <a:ahLst/>
              <a:cxnLst/>
              <a:rect r="r" b="b" t="t" l="l"/>
              <a:pathLst>
                <a:path h="658876" w="14733397">
                  <a:moveTo>
                    <a:pt x="0" y="109855"/>
                  </a:moveTo>
                  <a:cubicBezTo>
                    <a:pt x="0" y="49149"/>
                    <a:pt x="49149" y="0"/>
                    <a:pt x="109855" y="0"/>
                  </a:cubicBezTo>
                  <a:lnTo>
                    <a:pt x="14623542" y="0"/>
                  </a:lnTo>
                  <a:cubicBezTo>
                    <a:pt x="14684248" y="0"/>
                    <a:pt x="14733397" y="49149"/>
                    <a:pt x="14733397" y="109855"/>
                  </a:cubicBezTo>
                  <a:lnTo>
                    <a:pt x="14733397" y="549021"/>
                  </a:lnTo>
                  <a:cubicBezTo>
                    <a:pt x="14733397" y="609727"/>
                    <a:pt x="14684248" y="658876"/>
                    <a:pt x="14623542" y="658876"/>
                  </a:cubicBezTo>
                  <a:lnTo>
                    <a:pt x="109855" y="658876"/>
                  </a:lnTo>
                  <a:cubicBezTo>
                    <a:pt x="49149" y="658876"/>
                    <a:pt x="0" y="609727"/>
                    <a:pt x="0" y="549021"/>
                  </a:cubicBezTo>
                  <a:close/>
                </a:path>
              </a:pathLst>
            </a:custGeom>
            <a:solidFill>
              <a:srgbClr val="1F5A86"/>
            </a:solidFill>
          </p:spPr>
        </p:sp>
      </p:grpSp>
      <p:sp>
        <p:nvSpPr>
          <p:cNvPr name="TextBox 35" id="35"/>
          <p:cNvSpPr txBox="true"/>
          <p:nvPr/>
        </p:nvSpPr>
        <p:spPr>
          <a:xfrm rot="0">
            <a:off x="1258214" y="9292209"/>
            <a:ext cx="10455335" cy="229600"/>
          </a:xfrm>
          <a:prstGeom prst="rect">
            <a:avLst/>
          </a:prstGeom>
        </p:spPr>
        <p:txBody>
          <a:bodyPr anchor="t" rtlCol="false" tIns="0" lIns="0" bIns="0" rIns="0">
            <a:spAutoFit/>
          </a:bodyPr>
          <a:lstStyle/>
          <a:p>
            <a:pPr algn="l">
              <a:lnSpc>
                <a:spcPts val="1441"/>
              </a:lnSpc>
            </a:pPr>
            <a:r>
              <a:rPr lang="en-US" sz="1200" b="true">
                <a:solidFill>
                  <a:srgbClr val="55C3E6"/>
                </a:solidFill>
                <a:latin typeface="Arial Bold"/>
                <a:ea typeface="Arial Bold"/>
                <a:cs typeface="Arial Bold"/>
                <a:sym typeface="Arial Bold"/>
              </a:rPr>
              <a:t>ANALYSIS STEP</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3726725" y="0"/>
            <a:ext cx="4575115" cy="10295039"/>
            <a:chOff x="0" y="0"/>
            <a:chExt cx="6100153" cy="13726719"/>
          </a:xfrm>
        </p:grpSpPr>
        <p:sp>
          <p:nvSpPr>
            <p:cNvPr name="Freeform 3" id="3" descr="agri_template_right_strip.png"/>
            <p:cNvSpPr/>
            <p:nvPr/>
          </p:nvSpPr>
          <p:spPr>
            <a:xfrm flipH="false" flipV="false" rot="0">
              <a:off x="0" y="0"/>
              <a:ext cx="6100191" cy="13726668"/>
            </a:xfrm>
            <a:custGeom>
              <a:avLst/>
              <a:gdLst/>
              <a:ahLst/>
              <a:cxnLst/>
              <a:rect r="r" b="b" t="t" l="l"/>
              <a:pathLst>
                <a:path h="13726668" w="6100191">
                  <a:moveTo>
                    <a:pt x="0" y="0"/>
                  </a:moveTo>
                  <a:lnTo>
                    <a:pt x="6100191" y="0"/>
                  </a:lnTo>
                  <a:lnTo>
                    <a:pt x="6100191" y="13726668"/>
                  </a:lnTo>
                  <a:lnTo>
                    <a:pt x="0" y="13726668"/>
                  </a:lnTo>
                  <a:lnTo>
                    <a:pt x="0" y="0"/>
                  </a:lnTo>
                  <a:close/>
                </a:path>
              </a:pathLst>
            </a:custGeom>
            <a:blipFill>
              <a:blip r:embed="rId2"/>
              <a:stretch>
                <a:fillRect l="-4" t="0" r="-4" b="0"/>
              </a:stretch>
            </a:blipFill>
          </p:spPr>
        </p:sp>
      </p:grpSp>
      <p:grpSp>
        <p:nvGrpSpPr>
          <p:cNvPr name="Group 4" id="4"/>
          <p:cNvGrpSpPr/>
          <p:nvPr/>
        </p:nvGrpSpPr>
        <p:grpSpPr>
          <a:xfrm rot="0">
            <a:off x="-466706" y="6890814"/>
            <a:ext cx="1372676" cy="3706216"/>
            <a:chOff x="0" y="0"/>
            <a:chExt cx="1830235" cy="4941621"/>
          </a:xfrm>
        </p:grpSpPr>
        <p:sp>
          <p:nvSpPr>
            <p:cNvPr name="Freeform 5" id="5"/>
            <p:cNvSpPr/>
            <p:nvPr/>
          </p:nvSpPr>
          <p:spPr>
            <a:xfrm flipH="false" flipV="false" rot="0">
              <a:off x="0" y="0"/>
              <a:ext cx="1830324" cy="4941570"/>
            </a:xfrm>
            <a:custGeom>
              <a:avLst/>
              <a:gdLst/>
              <a:ahLst/>
              <a:cxnLst/>
              <a:rect r="r" b="b" t="t" l="l"/>
              <a:pathLst>
                <a:path h="4941570" w="1830324">
                  <a:moveTo>
                    <a:pt x="0" y="4941570"/>
                  </a:moveTo>
                  <a:lnTo>
                    <a:pt x="915162" y="0"/>
                  </a:lnTo>
                  <a:lnTo>
                    <a:pt x="1830324" y="4941570"/>
                  </a:lnTo>
                  <a:close/>
                </a:path>
              </a:pathLst>
            </a:custGeom>
            <a:solidFill>
              <a:srgbClr val="55C3E6"/>
            </a:solidFill>
          </p:spPr>
        </p:sp>
      </p:grpSp>
      <p:grpSp>
        <p:nvGrpSpPr>
          <p:cNvPr name="Group 6" id="6"/>
          <p:cNvGrpSpPr/>
          <p:nvPr/>
        </p:nvGrpSpPr>
        <p:grpSpPr>
          <a:xfrm rot="0">
            <a:off x="9883245" y="2086461"/>
            <a:ext cx="274539" cy="274539"/>
            <a:chOff x="0" y="0"/>
            <a:chExt cx="366052" cy="366052"/>
          </a:xfrm>
        </p:grpSpPr>
        <p:sp>
          <p:nvSpPr>
            <p:cNvPr name="Freeform 7" id="7"/>
            <p:cNvSpPr/>
            <p:nvPr/>
          </p:nvSpPr>
          <p:spPr>
            <a:xfrm flipH="false" flipV="false" rot="0">
              <a:off x="0" y="0"/>
              <a:ext cx="366014" cy="366014"/>
            </a:xfrm>
            <a:custGeom>
              <a:avLst/>
              <a:gdLst/>
              <a:ahLst/>
              <a:cxnLst/>
              <a:rect r="r" b="b" t="t" l="l"/>
              <a:pathLst>
                <a:path h="366014" w="366014">
                  <a:moveTo>
                    <a:pt x="0" y="0"/>
                  </a:moveTo>
                  <a:lnTo>
                    <a:pt x="366014" y="0"/>
                  </a:lnTo>
                  <a:lnTo>
                    <a:pt x="366014" y="366014"/>
                  </a:lnTo>
                  <a:lnTo>
                    <a:pt x="0" y="366014"/>
                  </a:lnTo>
                  <a:close/>
                </a:path>
              </a:pathLst>
            </a:custGeom>
            <a:solidFill>
              <a:srgbClr val="2F86C1"/>
            </a:solidFill>
          </p:spPr>
        </p:sp>
      </p:grpSp>
      <p:sp>
        <p:nvSpPr>
          <p:cNvPr name="TextBox 8" id="8"/>
          <p:cNvSpPr txBox="true"/>
          <p:nvPr/>
        </p:nvSpPr>
        <p:spPr>
          <a:xfrm rot="0">
            <a:off x="13022018" y="9713538"/>
            <a:ext cx="297551" cy="165163"/>
          </a:xfrm>
          <a:prstGeom prst="rect">
            <a:avLst/>
          </a:prstGeom>
        </p:spPr>
        <p:txBody>
          <a:bodyPr anchor="t" rtlCol="false" tIns="0" lIns="0" bIns="0" rIns="0">
            <a:spAutoFit/>
          </a:bodyPr>
          <a:lstStyle/>
          <a:p>
            <a:pPr algn="r">
              <a:lnSpc>
                <a:spcPts val="1260"/>
              </a:lnSpc>
            </a:pPr>
            <a:r>
              <a:rPr lang="en-US" sz="1050">
                <a:solidFill>
                  <a:srgbClr val="5E6A71"/>
                </a:solidFill>
                <a:latin typeface="Arial"/>
                <a:ea typeface="Arial"/>
                <a:cs typeface="Arial"/>
                <a:sym typeface="Arial"/>
              </a:rPr>
              <a:t>10</a:t>
            </a:r>
          </a:p>
        </p:txBody>
      </p:sp>
      <p:sp>
        <p:nvSpPr>
          <p:cNvPr name="TextBox 9" id="9"/>
          <p:cNvSpPr txBox="true"/>
          <p:nvPr/>
        </p:nvSpPr>
        <p:spPr>
          <a:xfrm rot="0">
            <a:off x="1079764" y="685552"/>
            <a:ext cx="11896639" cy="819845"/>
          </a:xfrm>
          <a:prstGeom prst="rect">
            <a:avLst/>
          </a:prstGeom>
        </p:spPr>
        <p:txBody>
          <a:bodyPr anchor="t" rtlCol="false" tIns="0" lIns="0" bIns="0" rIns="0">
            <a:spAutoFit/>
          </a:bodyPr>
          <a:lstStyle/>
          <a:p>
            <a:pPr algn="l">
              <a:lnSpc>
                <a:spcPts val="5224"/>
              </a:lnSpc>
            </a:pPr>
            <a:r>
              <a:rPr lang="en-US" sz="4353" b="true">
                <a:solidFill>
                  <a:srgbClr val="121212"/>
                </a:solidFill>
                <a:latin typeface="Arial Bold"/>
                <a:ea typeface="Arial Bold"/>
                <a:cs typeface="Arial Bold"/>
                <a:sym typeface="Arial Bold"/>
              </a:rPr>
              <a:t>RESULTS</a:t>
            </a:r>
          </a:p>
        </p:txBody>
      </p:sp>
      <p:sp>
        <p:nvSpPr>
          <p:cNvPr name="TextBox 10" id="10"/>
          <p:cNvSpPr txBox="true"/>
          <p:nvPr/>
        </p:nvSpPr>
        <p:spPr>
          <a:xfrm rot="0">
            <a:off x="1107215" y="1536611"/>
            <a:ext cx="11896639" cy="408041"/>
          </a:xfrm>
          <a:prstGeom prst="rect">
            <a:avLst/>
          </a:prstGeom>
        </p:spPr>
        <p:txBody>
          <a:bodyPr anchor="t" rtlCol="false" tIns="0" lIns="0" bIns="0" rIns="0">
            <a:spAutoFit/>
          </a:bodyPr>
          <a:lstStyle/>
          <a:p>
            <a:pPr algn="l">
              <a:lnSpc>
                <a:spcPts val="1981"/>
              </a:lnSpc>
            </a:pPr>
            <a:r>
              <a:rPr lang="en-US" sz="1651">
                <a:solidFill>
                  <a:srgbClr val="5E6A71"/>
                </a:solidFill>
                <a:latin typeface="Arial"/>
                <a:ea typeface="Arial"/>
                <a:cs typeface="Arial"/>
                <a:sym typeface="Arial"/>
              </a:rPr>
              <a:t>Regional economics, outliers and statistical evidence</a:t>
            </a:r>
          </a:p>
        </p:txBody>
      </p:sp>
      <p:grpSp>
        <p:nvGrpSpPr>
          <p:cNvPr name="Group 11" id="11"/>
          <p:cNvGrpSpPr/>
          <p:nvPr/>
        </p:nvGrpSpPr>
        <p:grpSpPr>
          <a:xfrm rot="0">
            <a:off x="960872" y="1949196"/>
            <a:ext cx="5833853" cy="4872990"/>
            <a:chOff x="0" y="0"/>
            <a:chExt cx="7778471" cy="6497320"/>
          </a:xfrm>
        </p:grpSpPr>
        <p:sp>
          <p:nvSpPr>
            <p:cNvPr name="Freeform 12" id="12" descr="state_profit.png"/>
            <p:cNvSpPr/>
            <p:nvPr/>
          </p:nvSpPr>
          <p:spPr>
            <a:xfrm flipH="false" flipV="false" rot="0">
              <a:off x="0" y="0"/>
              <a:ext cx="7778496" cy="6497320"/>
            </a:xfrm>
            <a:custGeom>
              <a:avLst/>
              <a:gdLst/>
              <a:ahLst/>
              <a:cxnLst/>
              <a:rect r="r" b="b" t="t" l="l"/>
              <a:pathLst>
                <a:path h="6497320" w="7778496">
                  <a:moveTo>
                    <a:pt x="0" y="0"/>
                  </a:moveTo>
                  <a:lnTo>
                    <a:pt x="7778496" y="0"/>
                  </a:lnTo>
                  <a:lnTo>
                    <a:pt x="7778496" y="6497320"/>
                  </a:lnTo>
                  <a:lnTo>
                    <a:pt x="0" y="6497320"/>
                  </a:lnTo>
                  <a:lnTo>
                    <a:pt x="0" y="0"/>
                  </a:lnTo>
                  <a:close/>
                </a:path>
              </a:pathLst>
            </a:custGeom>
            <a:blipFill>
              <a:blip r:embed="rId3"/>
              <a:stretch>
                <a:fillRect l="-21254" t="0" r="-21254" b="0"/>
              </a:stretch>
            </a:blipFill>
          </p:spPr>
        </p:sp>
      </p:grpSp>
      <p:grpSp>
        <p:nvGrpSpPr>
          <p:cNvPr name="Group 13" id="13"/>
          <p:cNvGrpSpPr/>
          <p:nvPr/>
        </p:nvGrpSpPr>
        <p:grpSpPr>
          <a:xfrm rot="0">
            <a:off x="7000627" y="2031559"/>
            <a:ext cx="5833853" cy="2676716"/>
            <a:chOff x="0" y="0"/>
            <a:chExt cx="7778471" cy="3568954"/>
          </a:xfrm>
        </p:grpSpPr>
        <p:sp>
          <p:nvSpPr>
            <p:cNvPr name="Freeform 14" id="14" descr="outliers.png"/>
            <p:cNvSpPr/>
            <p:nvPr/>
          </p:nvSpPr>
          <p:spPr>
            <a:xfrm flipH="false" flipV="false" rot="0">
              <a:off x="0" y="0"/>
              <a:ext cx="7778496" cy="3568954"/>
            </a:xfrm>
            <a:custGeom>
              <a:avLst/>
              <a:gdLst/>
              <a:ahLst/>
              <a:cxnLst/>
              <a:rect r="r" b="b" t="t" l="l"/>
              <a:pathLst>
                <a:path h="3568954" w="7778496">
                  <a:moveTo>
                    <a:pt x="0" y="0"/>
                  </a:moveTo>
                  <a:lnTo>
                    <a:pt x="7778496" y="0"/>
                  </a:lnTo>
                  <a:lnTo>
                    <a:pt x="7778496" y="3568954"/>
                  </a:lnTo>
                  <a:lnTo>
                    <a:pt x="0" y="3568954"/>
                  </a:lnTo>
                  <a:lnTo>
                    <a:pt x="0" y="0"/>
                  </a:lnTo>
                  <a:close/>
                </a:path>
              </a:pathLst>
            </a:custGeom>
            <a:blipFill>
              <a:blip r:embed="rId4"/>
              <a:stretch>
                <a:fillRect l="-9482" t="0" r="-9481" b="0"/>
              </a:stretch>
            </a:blipFill>
          </p:spPr>
        </p:sp>
      </p:grpSp>
      <p:grpSp>
        <p:nvGrpSpPr>
          <p:cNvPr name="Group 15" id="15"/>
          <p:cNvGrpSpPr/>
          <p:nvPr/>
        </p:nvGrpSpPr>
        <p:grpSpPr>
          <a:xfrm rot="0">
            <a:off x="951338" y="7100907"/>
            <a:ext cx="2833040" cy="1666275"/>
            <a:chOff x="0" y="0"/>
            <a:chExt cx="3777386" cy="2221700"/>
          </a:xfrm>
        </p:grpSpPr>
        <p:sp>
          <p:nvSpPr>
            <p:cNvPr name="Freeform 16" id="16"/>
            <p:cNvSpPr/>
            <p:nvPr/>
          </p:nvSpPr>
          <p:spPr>
            <a:xfrm flipH="false" flipV="false" rot="0">
              <a:off x="0" y="0"/>
              <a:ext cx="3777488" cy="2221738"/>
            </a:xfrm>
            <a:custGeom>
              <a:avLst/>
              <a:gdLst/>
              <a:ahLst/>
              <a:cxnLst/>
              <a:rect r="r" b="b" t="t" l="l"/>
              <a:pathLst>
                <a:path h="2221738" w="3777488">
                  <a:moveTo>
                    <a:pt x="0" y="370332"/>
                  </a:moveTo>
                  <a:cubicBezTo>
                    <a:pt x="0" y="165735"/>
                    <a:pt x="165735" y="0"/>
                    <a:pt x="370332" y="0"/>
                  </a:cubicBezTo>
                  <a:lnTo>
                    <a:pt x="3407156" y="0"/>
                  </a:lnTo>
                  <a:cubicBezTo>
                    <a:pt x="3611626" y="0"/>
                    <a:pt x="3777488" y="165735"/>
                    <a:pt x="3777488" y="370332"/>
                  </a:cubicBezTo>
                  <a:lnTo>
                    <a:pt x="3777488" y="1851406"/>
                  </a:lnTo>
                  <a:cubicBezTo>
                    <a:pt x="3777488" y="2055876"/>
                    <a:pt x="3611753" y="2221738"/>
                    <a:pt x="3407156" y="2221738"/>
                  </a:cubicBezTo>
                  <a:lnTo>
                    <a:pt x="370332" y="2221738"/>
                  </a:lnTo>
                  <a:cubicBezTo>
                    <a:pt x="165735" y="2221738"/>
                    <a:pt x="0" y="2055876"/>
                    <a:pt x="0" y="1851406"/>
                  </a:cubicBezTo>
                  <a:close/>
                </a:path>
              </a:pathLst>
            </a:custGeom>
            <a:solidFill>
              <a:srgbClr val="FFFFFF"/>
            </a:solidFill>
            <a:ln w="19065" cap="sq">
              <a:solidFill>
                <a:srgbClr val="DCE4E8"/>
              </a:solidFill>
              <a:prstDash val="solid"/>
              <a:miter/>
            </a:ln>
          </p:spPr>
        </p:sp>
      </p:grpSp>
      <p:grpSp>
        <p:nvGrpSpPr>
          <p:cNvPr name="Group 17" id="17"/>
          <p:cNvGrpSpPr/>
          <p:nvPr/>
        </p:nvGrpSpPr>
        <p:grpSpPr>
          <a:xfrm rot="0">
            <a:off x="960872" y="7110441"/>
            <a:ext cx="96088" cy="1647206"/>
            <a:chOff x="0" y="0"/>
            <a:chExt cx="128118" cy="2196274"/>
          </a:xfrm>
        </p:grpSpPr>
        <p:sp>
          <p:nvSpPr>
            <p:cNvPr name="Freeform 18" id="18"/>
            <p:cNvSpPr/>
            <p:nvPr/>
          </p:nvSpPr>
          <p:spPr>
            <a:xfrm flipH="false" flipV="false" rot="0">
              <a:off x="0" y="0"/>
              <a:ext cx="128143" cy="2196338"/>
            </a:xfrm>
            <a:custGeom>
              <a:avLst/>
              <a:gdLst/>
              <a:ahLst/>
              <a:cxnLst/>
              <a:rect r="r" b="b" t="t" l="l"/>
              <a:pathLst>
                <a:path h="2196338" w="128143">
                  <a:moveTo>
                    <a:pt x="0" y="0"/>
                  </a:moveTo>
                  <a:lnTo>
                    <a:pt x="128143" y="0"/>
                  </a:lnTo>
                  <a:lnTo>
                    <a:pt x="128143" y="2196338"/>
                  </a:lnTo>
                  <a:lnTo>
                    <a:pt x="0" y="2196338"/>
                  </a:lnTo>
                  <a:close/>
                </a:path>
              </a:pathLst>
            </a:custGeom>
            <a:solidFill>
              <a:srgbClr val="41B45A"/>
            </a:solidFill>
          </p:spPr>
        </p:sp>
      </p:grpSp>
      <p:sp>
        <p:nvSpPr>
          <p:cNvPr name="TextBox 19" id="19"/>
          <p:cNvSpPr txBox="true"/>
          <p:nvPr/>
        </p:nvSpPr>
        <p:spPr>
          <a:xfrm rot="0">
            <a:off x="1354293" y="7370464"/>
            <a:ext cx="2150659" cy="311963"/>
          </a:xfrm>
          <a:prstGeom prst="rect">
            <a:avLst/>
          </a:prstGeom>
        </p:spPr>
        <p:txBody>
          <a:bodyPr anchor="t" rtlCol="false" tIns="0" lIns="0" bIns="0" rIns="0">
            <a:spAutoFit/>
          </a:bodyPr>
          <a:lstStyle/>
          <a:p>
            <a:pPr algn="l">
              <a:lnSpc>
                <a:spcPts val="1801"/>
              </a:lnSpc>
            </a:pPr>
            <a:r>
              <a:rPr lang="en-US" sz="1501" b="true">
                <a:solidFill>
                  <a:srgbClr val="5E6A71"/>
                </a:solidFill>
                <a:latin typeface="Arial Bold"/>
                <a:ea typeface="Arial Bold"/>
                <a:cs typeface="Arial Bold"/>
                <a:sym typeface="Arial Bold"/>
              </a:rPr>
              <a:t>TOP STATE</a:t>
            </a:r>
          </a:p>
        </p:txBody>
      </p:sp>
      <p:sp>
        <p:nvSpPr>
          <p:cNvPr name="TextBox 20" id="20"/>
          <p:cNvSpPr txBox="true"/>
          <p:nvPr/>
        </p:nvSpPr>
        <p:spPr>
          <a:xfrm rot="0">
            <a:off x="1354293" y="7786468"/>
            <a:ext cx="2150659" cy="623468"/>
          </a:xfrm>
          <a:prstGeom prst="rect">
            <a:avLst/>
          </a:prstGeom>
        </p:spPr>
        <p:txBody>
          <a:bodyPr anchor="t" rtlCol="false" tIns="0" lIns="0" bIns="0" rIns="0">
            <a:spAutoFit/>
          </a:bodyPr>
          <a:lstStyle/>
          <a:p>
            <a:pPr algn="l">
              <a:lnSpc>
                <a:spcPts val="3963"/>
              </a:lnSpc>
            </a:pPr>
            <a:r>
              <a:rPr lang="en-US" sz="3302" b="true">
                <a:solidFill>
                  <a:srgbClr val="41B45A"/>
                </a:solidFill>
                <a:latin typeface="Arial Bold"/>
                <a:ea typeface="Arial Bold"/>
                <a:cs typeface="Arial Bold"/>
                <a:sym typeface="Arial Bold"/>
              </a:rPr>
              <a:t>Punjab</a:t>
            </a:r>
          </a:p>
        </p:txBody>
      </p:sp>
      <p:sp>
        <p:nvSpPr>
          <p:cNvPr name="TextBox 21" id="21"/>
          <p:cNvSpPr txBox="true"/>
          <p:nvPr/>
        </p:nvSpPr>
        <p:spPr>
          <a:xfrm rot="0">
            <a:off x="1354293" y="8290160"/>
            <a:ext cx="2150659" cy="202149"/>
          </a:xfrm>
          <a:prstGeom prst="rect">
            <a:avLst/>
          </a:prstGeom>
        </p:spPr>
        <p:txBody>
          <a:bodyPr anchor="t" rtlCol="false" tIns="0" lIns="0" bIns="0" rIns="0">
            <a:spAutoFit/>
          </a:bodyPr>
          <a:lstStyle/>
          <a:p>
            <a:pPr algn="l">
              <a:lnSpc>
                <a:spcPts val="1531"/>
              </a:lnSpc>
            </a:pPr>
            <a:r>
              <a:rPr lang="en-US" sz="1275">
                <a:solidFill>
                  <a:srgbClr val="313C42"/>
                </a:solidFill>
                <a:latin typeface="Arial"/>
                <a:ea typeface="Arial"/>
                <a:cs typeface="Arial"/>
                <a:sym typeface="Arial"/>
              </a:rPr>
              <a:t>₹136,026 average profit</a:t>
            </a:r>
          </a:p>
        </p:txBody>
      </p:sp>
      <p:grpSp>
        <p:nvGrpSpPr>
          <p:cNvPr name="Group 22" id="22"/>
          <p:cNvGrpSpPr/>
          <p:nvPr/>
        </p:nvGrpSpPr>
        <p:grpSpPr>
          <a:xfrm rot="0">
            <a:off x="4039848" y="7100907"/>
            <a:ext cx="2833040" cy="1666275"/>
            <a:chOff x="0" y="0"/>
            <a:chExt cx="3777386" cy="2221700"/>
          </a:xfrm>
        </p:grpSpPr>
        <p:sp>
          <p:nvSpPr>
            <p:cNvPr name="Freeform 23" id="23"/>
            <p:cNvSpPr/>
            <p:nvPr/>
          </p:nvSpPr>
          <p:spPr>
            <a:xfrm flipH="false" flipV="false" rot="0">
              <a:off x="0" y="0"/>
              <a:ext cx="3777488" cy="2221738"/>
            </a:xfrm>
            <a:custGeom>
              <a:avLst/>
              <a:gdLst/>
              <a:ahLst/>
              <a:cxnLst/>
              <a:rect r="r" b="b" t="t" l="l"/>
              <a:pathLst>
                <a:path h="2221738" w="3777488">
                  <a:moveTo>
                    <a:pt x="0" y="370332"/>
                  </a:moveTo>
                  <a:cubicBezTo>
                    <a:pt x="0" y="165735"/>
                    <a:pt x="165735" y="0"/>
                    <a:pt x="370332" y="0"/>
                  </a:cubicBezTo>
                  <a:lnTo>
                    <a:pt x="3407156" y="0"/>
                  </a:lnTo>
                  <a:cubicBezTo>
                    <a:pt x="3611626" y="0"/>
                    <a:pt x="3777488" y="165735"/>
                    <a:pt x="3777488" y="370332"/>
                  </a:cubicBezTo>
                  <a:lnTo>
                    <a:pt x="3777488" y="1851406"/>
                  </a:lnTo>
                  <a:cubicBezTo>
                    <a:pt x="3777488" y="2055876"/>
                    <a:pt x="3611753" y="2221738"/>
                    <a:pt x="3407156" y="2221738"/>
                  </a:cubicBezTo>
                  <a:lnTo>
                    <a:pt x="370332" y="2221738"/>
                  </a:lnTo>
                  <a:cubicBezTo>
                    <a:pt x="165735" y="2221738"/>
                    <a:pt x="0" y="2055876"/>
                    <a:pt x="0" y="1851406"/>
                  </a:cubicBezTo>
                  <a:close/>
                </a:path>
              </a:pathLst>
            </a:custGeom>
            <a:solidFill>
              <a:srgbClr val="FFFFFF"/>
            </a:solidFill>
            <a:ln w="19065" cap="sq">
              <a:solidFill>
                <a:srgbClr val="DCE4E8"/>
              </a:solidFill>
              <a:prstDash val="solid"/>
              <a:miter/>
            </a:ln>
          </p:spPr>
        </p:sp>
      </p:grpSp>
      <p:grpSp>
        <p:nvGrpSpPr>
          <p:cNvPr name="Group 24" id="24"/>
          <p:cNvGrpSpPr/>
          <p:nvPr/>
        </p:nvGrpSpPr>
        <p:grpSpPr>
          <a:xfrm rot="0">
            <a:off x="4049382" y="7110441"/>
            <a:ext cx="96088" cy="1647206"/>
            <a:chOff x="0" y="0"/>
            <a:chExt cx="128118" cy="2196274"/>
          </a:xfrm>
        </p:grpSpPr>
        <p:sp>
          <p:nvSpPr>
            <p:cNvPr name="Freeform 25" id="25"/>
            <p:cNvSpPr/>
            <p:nvPr/>
          </p:nvSpPr>
          <p:spPr>
            <a:xfrm flipH="false" flipV="false" rot="0">
              <a:off x="0" y="0"/>
              <a:ext cx="128143" cy="2196338"/>
            </a:xfrm>
            <a:custGeom>
              <a:avLst/>
              <a:gdLst/>
              <a:ahLst/>
              <a:cxnLst/>
              <a:rect r="r" b="b" t="t" l="l"/>
              <a:pathLst>
                <a:path h="2196338" w="128143">
                  <a:moveTo>
                    <a:pt x="0" y="0"/>
                  </a:moveTo>
                  <a:lnTo>
                    <a:pt x="128143" y="0"/>
                  </a:lnTo>
                  <a:lnTo>
                    <a:pt x="128143" y="2196338"/>
                  </a:lnTo>
                  <a:lnTo>
                    <a:pt x="0" y="2196338"/>
                  </a:lnTo>
                  <a:close/>
                </a:path>
              </a:pathLst>
            </a:custGeom>
            <a:solidFill>
              <a:srgbClr val="2F86C1"/>
            </a:solidFill>
          </p:spPr>
        </p:sp>
      </p:grpSp>
      <p:sp>
        <p:nvSpPr>
          <p:cNvPr name="TextBox 26" id="26"/>
          <p:cNvSpPr txBox="true"/>
          <p:nvPr/>
        </p:nvSpPr>
        <p:spPr>
          <a:xfrm rot="0">
            <a:off x="4442812" y="7370464"/>
            <a:ext cx="2150659" cy="311963"/>
          </a:xfrm>
          <a:prstGeom prst="rect">
            <a:avLst/>
          </a:prstGeom>
        </p:spPr>
        <p:txBody>
          <a:bodyPr anchor="t" rtlCol="false" tIns="0" lIns="0" bIns="0" rIns="0">
            <a:spAutoFit/>
          </a:bodyPr>
          <a:lstStyle/>
          <a:p>
            <a:pPr algn="l">
              <a:lnSpc>
                <a:spcPts val="1801"/>
              </a:lnSpc>
            </a:pPr>
            <a:r>
              <a:rPr lang="en-US" sz="1501" b="true">
                <a:solidFill>
                  <a:srgbClr val="5E6A71"/>
                </a:solidFill>
                <a:latin typeface="Arial Bold"/>
                <a:ea typeface="Arial Bold"/>
                <a:cs typeface="Arial Bold"/>
                <a:sym typeface="Arial Bold"/>
              </a:rPr>
              <a:t>KRUSKAL–WALLIS</a:t>
            </a:r>
          </a:p>
        </p:txBody>
      </p:sp>
      <p:sp>
        <p:nvSpPr>
          <p:cNvPr name="TextBox 27" id="27"/>
          <p:cNvSpPr txBox="true"/>
          <p:nvPr/>
        </p:nvSpPr>
        <p:spPr>
          <a:xfrm rot="0">
            <a:off x="4442812" y="7786468"/>
            <a:ext cx="2150659" cy="623468"/>
          </a:xfrm>
          <a:prstGeom prst="rect">
            <a:avLst/>
          </a:prstGeom>
        </p:spPr>
        <p:txBody>
          <a:bodyPr anchor="t" rtlCol="false" tIns="0" lIns="0" bIns="0" rIns="0">
            <a:spAutoFit/>
          </a:bodyPr>
          <a:lstStyle/>
          <a:p>
            <a:pPr algn="l">
              <a:lnSpc>
                <a:spcPts val="3963"/>
              </a:lnSpc>
            </a:pPr>
            <a:r>
              <a:rPr lang="en-US" sz="3302" b="true">
                <a:solidFill>
                  <a:srgbClr val="2F86C1"/>
                </a:solidFill>
                <a:latin typeface="Arial Bold"/>
                <a:ea typeface="Arial Bold"/>
                <a:cs typeface="Arial Bold"/>
                <a:sym typeface="Arial Bold"/>
              </a:rPr>
              <a:t>H = 68.713</a:t>
            </a:r>
          </a:p>
        </p:txBody>
      </p:sp>
      <p:sp>
        <p:nvSpPr>
          <p:cNvPr name="TextBox 28" id="28"/>
          <p:cNvSpPr txBox="true"/>
          <p:nvPr/>
        </p:nvSpPr>
        <p:spPr>
          <a:xfrm rot="0">
            <a:off x="4442812" y="8290160"/>
            <a:ext cx="2150659" cy="202149"/>
          </a:xfrm>
          <a:prstGeom prst="rect">
            <a:avLst/>
          </a:prstGeom>
        </p:spPr>
        <p:txBody>
          <a:bodyPr anchor="t" rtlCol="false" tIns="0" lIns="0" bIns="0" rIns="0">
            <a:spAutoFit/>
          </a:bodyPr>
          <a:lstStyle/>
          <a:p>
            <a:pPr algn="l">
              <a:lnSpc>
                <a:spcPts val="1531"/>
              </a:lnSpc>
            </a:pPr>
            <a:r>
              <a:rPr lang="en-US" sz="1275">
                <a:solidFill>
                  <a:srgbClr val="313C42"/>
                </a:solidFill>
                <a:latin typeface="Arial"/>
                <a:ea typeface="Arial"/>
                <a:cs typeface="Arial"/>
                <a:sym typeface="Arial"/>
              </a:rPr>
              <a:t>p = 1.20 × 10⁻¹⁵</a:t>
            </a:r>
          </a:p>
        </p:txBody>
      </p:sp>
      <p:grpSp>
        <p:nvGrpSpPr>
          <p:cNvPr name="Group 29" id="29"/>
          <p:cNvGrpSpPr/>
          <p:nvPr/>
        </p:nvGrpSpPr>
        <p:grpSpPr>
          <a:xfrm rot="0">
            <a:off x="7128367" y="5137985"/>
            <a:ext cx="2764412" cy="1666275"/>
            <a:chOff x="0" y="0"/>
            <a:chExt cx="3685883" cy="2221700"/>
          </a:xfrm>
        </p:grpSpPr>
        <p:sp>
          <p:nvSpPr>
            <p:cNvPr name="Freeform 30" id="30"/>
            <p:cNvSpPr/>
            <p:nvPr/>
          </p:nvSpPr>
          <p:spPr>
            <a:xfrm flipH="false" flipV="false" rot="0">
              <a:off x="0" y="0"/>
              <a:ext cx="3685921" cy="2221738"/>
            </a:xfrm>
            <a:custGeom>
              <a:avLst/>
              <a:gdLst/>
              <a:ahLst/>
              <a:cxnLst/>
              <a:rect r="r" b="b" t="t" l="l"/>
              <a:pathLst>
                <a:path h="2221738" w="3685921">
                  <a:moveTo>
                    <a:pt x="0" y="370332"/>
                  </a:moveTo>
                  <a:cubicBezTo>
                    <a:pt x="0" y="165735"/>
                    <a:pt x="165735" y="0"/>
                    <a:pt x="370332" y="0"/>
                  </a:cubicBezTo>
                  <a:lnTo>
                    <a:pt x="3315589" y="0"/>
                  </a:lnTo>
                  <a:cubicBezTo>
                    <a:pt x="3520059" y="0"/>
                    <a:pt x="3685921" y="165735"/>
                    <a:pt x="3685921" y="370332"/>
                  </a:cubicBezTo>
                  <a:lnTo>
                    <a:pt x="3685921" y="1851406"/>
                  </a:lnTo>
                  <a:cubicBezTo>
                    <a:pt x="3685921" y="2055876"/>
                    <a:pt x="3520186" y="2221738"/>
                    <a:pt x="3315589" y="2221738"/>
                  </a:cubicBezTo>
                  <a:lnTo>
                    <a:pt x="370332" y="2221738"/>
                  </a:lnTo>
                  <a:cubicBezTo>
                    <a:pt x="165735" y="2221738"/>
                    <a:pt x="0" y="2055876"/>
                    <a:pt x="0" y="1851406"/>
                  </a:cubicBezTo>
                  <a:close/>
                </a:path>
              </a:pathLst>
            </a:custGeom>
            <a:solidFill>
              <a:srgbClr val="FFFFFF"/>
            </a:solidFill>
            <a:ln w="19065" cap="sq">
              <a:solidFill>
                <a:srgbClr val="DCE4E8"/>
              </a:solidFill>
              <a:prstDash val="solid"/>
              <a:miter/>
            </a:ln>
          </p:spPr>
        </p:sp>
      </p:grpSp>
      <p:grpSp>
        <p:nvGrpSpPr>
          <p:cNvPr name="Group 31" id="31"/>
          <p:cNvGrpSpPr/>
          <p:nvPr/>
        </p:nvGrpSpPr>
        <p:grpSpPr>
          <a:xfrm rot="0">
            <a:off x="7137892" y="5147520"/>
            <a:ext cx="96088" cy="1647206"/>
            <a:chOff x="0" y="0"/>
            <a:chExt cx="128118" cy="2196274"/>
          </a:xfrm>
        </p:grpSpPr>
        <p:sp>
          <p:nvSpPr>
            <p:cNvPr name="Freeform 32" id="32"/>
            <p:cNvSpPr/>
            <p:nvPr/>
          </p:nvSpPr>
          <p:spPr>
            <a:xfrm flipH="false" flipV="false" rot="0">
              <a:off x="0" y="0"/>
              <a:ext cx="128143" cy="2196338"/>
            </a:xfrm>
            <a:custGeom>
              <a:avLst/>
              <a:gdLst/>
              <a:ahLst/>
              <a:cxnLst/>
              <a:rect r="r" b="b" t="t" l="l"/>
              <a:pathLst>
                <a:path h="2196338" w="128143">
                  <a:moveTo>
                    <a:pt x="0" y="0"/>
                  </a:moveTo>
                  <a:lnTo>
                    <a:pt x="128143" y="0"/>
                  </a:lnTo>
                  <a:lnTo>
                    <a:pt x="128143" y="2196338"/>
                  </a:lnTo>
                  <a:lnTo>
                    <a:pt x="0" y="2196338"/>
                  </a:lnTo>
                  <a:close/>
                </a:path>
              </a:pathLst>
            </a:custGeom>
            <a:solidFill>
              <a:srgbClr val="C25252"/>
            </a:solidFill>
          </p:spPr>
        </p:sp>
      </p:grpSp>
      <p:sp>
        <p:nvSpPr>
          <p:cNvPr name="TextBox 33" id="33"/>
          <p:cNvSpPr txBox="true"/>
          <p:nvPr/>
        </p:nvSpPr>
        <p:spPr>
          <a:xfrm rot="0">
            <a:off x="7531322" y="5407543"/>
            <a:ext cx="2082032" cy="311963"/>
          </a:xfrm>
          <a:prstGeom prst="rect">
            <a:avLst/>
          </a:prstGeom>
        </p:spPr>
        <p:txBody>
          <a:bodyPr anchor="t" rtlCol="false" tIns="0" lIns="0" bIns="0" rIns="0">
            <a:spAutoFit/>
          </a:bodyPr>
          <a:lstStyle/>
          <a:p>
            <a:pPr algn="l">
              <a:lnSpc>
                <a:spcPts val="1801"/>
              </a:lnSpc>
            </a:pPr>
            <a:r>
              <a:rPr lang="en-US" sz="1501" b="true">
                <a:solidFill>
                  <a:srgbClr val="5E6A71"/>
                </a:solidFill>
                <a:latin typeface="Arial Bold"/>
                <a:ea typeface="Arial Bold"/>
                <a:cs typeface="Arial Bold"/>
                <a:sym typeface="Arial Bold"/>
              </a:rPr>
              <a:t>PROFIT OUTLIERS</a:t>
            </a:r>
          </a:p>
        </p:txBody>
      </p:sp>
      <p:sp>
        <p:nvSpPr>
          <p:cNvPr name="TextBox 34" id="34"/>
          <p:cNvSpPr txBox="true"/>
          <p:nvPr/>
        </p:nvSpPr>
        <p:spPr>
          <a:xfrm rot="0">
            <a:off x="7531322" y="5823547"/>
            <a:ext cx="2082032" cy="623468"/>
          </a:xfrm>
          <a:prstGeom prst="rect">
            <a:avLst/>
          </a:prstGeom>
        </p:spPr>
        <p:txBody>
          <a:bodyPr anchor="t" rtlCol="false" tIns="0" lIns="0" bIns="0" rIns="0">
            <a:spAutoFit/>
          </a:bodyPr>
          <a:lstStyle/>
          <a:p>
            <a:pPr algn="l">
              <a:lnSpc>
                <a:spcPts val="3963"/>
              </a:lnSpc>
            </a:pPr>
            <a:r>
              <a:rPr lang="en-US" sz="3302" b="true">
                <a:solidFill>
                  <a:srgbClr val="C25252"/>
                </a:solidFill>
                <a:latin typeface="Arial Bold"/>
                <a:ea typeface="Arial Bold"/>
                <a:cs typeface="Arial Bold"/>
                <a:sym typeface="Arial Bold"/>
              </a:rPr>
              <a:t>404</a:t>
            </a:r>
          </a:p>
        </p:txBody>
      </p:sp>
      <p:sp>
        <p:nvSpPr>
          <p:cNvPr name="TextBox 35" id="35"/>
          <p:cNvSpPr txBox="true"/>
          <p:nvPr/>
        </p:nvSpPr>
        <p:spPr>
          <a:xfrm rot="0">
            <a:off x="7531322" y="6519415"/>
            <a:ext cx="2082032" cy="202149"/>
          </a:xfrm>
          <a:prstGeom prst="rect">
            <a:avLst/>
          </a:prstGeom>
        </p:spPr>
        <p:txBody>
          <a:bodyPr anchor="t" rtlCol="false" tIns="0" lIns="0" bIns="0" rIns="0">
            <a:spAutoFit/>
          </a:bodyPr>
          <a:lstStyle/>
          <a:p>
            <a:pPr algn="l">
              <a:lnSpc>
                <a:spcPts val="1531"/>
              </a:lnSpc>
            </a:pPr>
            <a:r>
              <a:rPr lang="en-US" sz="1275">
                <a:solidFill>
                  <a:srgbClr val="313C42"/>
                </a:solidFill>
                <a:latin typeface="Arial"/>
                <a:ea typeface="Arial"/>
                <a:cs typeface="Arial"/>
                <a:sym typeface="Arial"/>
              </a:rPr>
              <a:t>IQR-based observations</a:t>
            </a:r>
          </a:p>
        </p:txBody>
      </p:sp>
      <p:grpSp>
        <p:nvGrpSpPr>
          <p:cNvPr name="Group 36" id="36"/>
          <p:cNvGrpSpPr/>
          <p:nvPr/>
        </p:nvGrpSpPr>
        <p:grpSpPr>
          <a:xfrm rot="0">
            <a:off x="10148240" y="5137985"/>
            <a:ext cx="2764412" cy="1666275"/>
            <a:chOff x="0" y="0"/>
            <a:chExt cx="3685883" cy="2221700"/>
          </a:xfrm>
        </p:grpSpPr>
        <p:sp>
          <p:nvSpPr>
            <p:cNvPr name="Freeform 37" id="37"/>
            <p:cNvSpPr/>
            <p:nvPr/>
          </p:nvSpPr>
          <p:spPr>
            <a:xfrm flipH="false" flipV="false" rot="0">
              <a:off x="0" y="0"/>
              <a:ext cx="3685921" cy="2221738"/>
            </a:xfrm>
            <a:custGeom>
              <a:avLst/>
              <a:gdLst/>
              <a:ahLst/>
              <a:cxnLst/>
              <a:rect r="r" b="b" t="t" l="l"/>
              <a:pathLst>
                <a:path h="2221738" w="3685921">
                  <a:moveTo>
                    <a:pt x="0" y="370332"/>
                  </a:moveTo>
                  <a:cubicBezTo>
                    <a:pt x="0" y="165735"/>
                    <a:pt x="165735" y="0"/>
                    <a:pt x="370332" y="0"/>
                  </a:cubicBezTo>
                  <a:lnTo>
                    <a:pt x="3315589" y="0"/>
                  </a:lnTo>
                  <a:cubicBezTo>
                    <a:pt x="3520059" y="0"/>
                    <a:pt x="3685921" y="165735"/>
                    <a:pt x="3685921" y="370332"/>
                  </a:cubicBezTo>
                  <a:lnTo>
                    <a:pt x="3685921" y="1851406"/>
                  </a:lnTo>
                  <a:cubicBezTo>
                    <a:pt x="3685921" y="2055876"/>
                    <a:pt x="3520186" y="2221738"/>
                    <a:pt x="3315589" y="2221738"/>
                  </a:cubicBezTo>
                  <a:lnTo>
                    <a:pt x="370332" y="2221738"/>
                  </a:lnTo>
                  <a:cubicBezTo>
                    <a:pt x="165735" y="2221738"/>
                    <a:pt x="0" y="2055876"/>
                    <a:pt x="0" y="1851406"/>
                  </a:cubicBezTo>
                  <a:close/>
                </a:path>
              </a:pathLst>
            </a:custGeom>
            <a:solidFill>
              <a:srgbClr val="FFFFFF"/>
            </a:solidFill>
            <a:ln w="19065" cap="sq">
              <a:solidFill>
                <a:srgbClr val="DCE4E8"/>
              </a:solidFill>
              <a:prstDash val="solid"/>
              <a:miter/>
            </a:ln>
          </p:spPr>
        </p:sp>
      </p:grpSp>
      <p:grpSp>
        <p:nvGrpSpPr>
          <p:cNvPr name="Group 38" id="38"/>
          <p:cNvGrpSpPr/>
          <p:nvPr/>
        </p:nvGrpSpPr>
        <p:grpSpPr>
          <a:xfrm rot="0">
            <a:off x="10157774" y="5147520"/>
            <a:ext cx="96088" cy="1647206"/>
            <a:chOff x="0" y="0"/>
            <a:chExt cx="128118" cy="2196274"/>
          </a:xfrm>
        </p:grpSpPr>
        <p:sp>
          <p:nvSpPr>
            <p:cNvPr name="Freeform 39" id="39"/>
            <p:cNvSpPr/>
            <p:nvPr/>
          </p:nvSpPr>
          <p:spPr>
            <a:xfrm flipH="false" flipV="false" rot="0">
              <a:off x="0" y="0"/>
              <a:ext cx="128143" cy="2196338"/>
            </a:xfrm>
            <a:custGeom>
              <a:avLst/>
              <a:gdLst/>
              <a:ahLst/>
              <a:cxnLst/>
              <a:rect r="r" b="b" t="t" l="l"/>
              <a:pathLst>
                <a:path h="2196338" w="128143">
                  <a:moveTo>
                    <a:pt x="0" y="0"/>
                  </a:moveTo>
                  <a:lnTo>
                    <a:pt x="128143" y="0"/>
                  </a:lnTo>
                  <a:lnTo>
                    <a:pt x="128143" y="2196338"/>
                  </a:lnTo>
                  <a:lnTo>
                    <a:pt x="0" y="2196338"/>
                  </a:lnTo>
                  <a:close/>
                </a:path>
              </a:pathLst>
            </a:custGeom>
            <a:solidFill>
              <a:srgbClr val="55C3E6"/>
            </a:solidFill>
          </p:spPr>
        </p:sp>
      </p:grpSp>
      <p:sp>
        <p:nvSpPr>
          <p:cNvPr name="TextBox 40" id="40"/>
          <p:cNvSpPr txBox="true"/>
          <p:nvPr/>
        </p:nvSpPr>
        <p:spPr>
          <a:xfrm rot="0">
            <a:off x="10551204" y="5407543"/>
            <a:ext cx="2082032" cy="311963"/>
          </a:xfrm>
          <a:prstGeom prst="rect">
            <a:avLst/>
          </a:prstGeom>
        </p:spPr>
        <p:txBody>
          <a:bodyPr anchor="t" rtlCol="false" tIns="0" lIns="0" bIns="0" rIns="0">
            <a:spAutoFit/>
          </a:bodyPr>
          <a:lstStyle/>
          <a:p>
            <a:pPr algn="l">
              <a:lnSpc>
                <a:spcPts val="1801"/>
              </a:lnSpc>
            </a:pPr>
            <a:r>
              <a:rPr lang="en-US" sz="1501" b="true">
                <a:solidFill>
                  <a:srgbClr val="5E6A71"/>
                </a:solidFill>
                <a:latin typeface="Arial Bold"/>
                <a:ea typeface="Arial Bold"/>
                <a:cs typeface="Arial Bold"/>
                <a:sym typeface="Arial Bold"/>
              </a:rPr>
              <a:t>YIELD OUTLIERS</a:t>
            </a:r>
          </a:p>
        </p:txBody>
      </p:sp>
      <p:sp>
        <p:nvSpPr>
          <p:cNvPr name="TextBox 41" id="41"/>
          <p:cNvSpPr txBox="true"/>
          <p:nvPr/>
        </p:nvSpPr>
        <p:spPr>
          <a:xfrm rot="0">
            <a:off x="10551204" y="5823547"/>
            <a:ext cx="2082032" cy="623468"/>
          </a:xfrm>
          <a:prstGeom prst="rect">
            <a:avLst/>
          </a:prstGeom>
        </p:spPr>
        <p:txBody>
          <a:bodyPr anchor="t" rtlCol="false" tIns="0" lIns="0" bIns="0" rIns="0">
            <a:spAutoFit/>
          </a:bodyPr>
          <a:lstStyle/>
          <a:p>
            <a:pPr algn="l">
              <a:lnSpc>
                <a:spcPts val="3963"/>
              </a:lnSpc>
            </a:pPr>
            <a:r>
              <a:rPr lang="en-US" sz="3302" b="true">
                <a:solidFill>
                  <a:srgbClr val="55C3E6"/>
                </a:solidFill>
                <a:latin typeface="Arial Bold"/>
                <a:ea typeface="Arial Bold"/>
                <a:cs typeface="Arial Bold"/>
                <a:sym typeface="Arial Bold"/>
              </a:rPr>
              <a:t>302</a:t>
            </a:r>
          </a:p>
        </p:txBody>
      </p:sp>
      <p:sp>
        <p:nvSpPr>
          <p:cNvPr name="TextBox 42" id="42"/>
          <p:cNvSpPr txBox="true"/>
          <p:nvPr/>
        </p:nvSpPr>
        <p:spPr>
          <a:xfrm rot="0">
            <a:off x="10551204" y="6519415"/>
            <a:ext cx="2082032" cy="202149"/>
          </a:xfrm>
          <a:prstGeom prst="rect">
            <a:avLst/>
          </a:prstGeom>
        </p:spPr>
        <p:txBody>
          <a:bodyPr anchor="t" rtlCol="false" tIns="0" lIns="0" bIns="0" rIns="0">
            <a:spAutoFit/>
          </a:bodyPr>
          <a:lstStyle/>
          <a:p>
            <a:pPr algn="l">
              <a:lnSpc>
                <a:spcPts val="1531"/>
              </a:lnSpc>
            </a:pPr>
            <a:r>
              <a:rPr lang="en-US" sz="1275">
                <a:solidFill>
                  <a:srgbClr val="313C42"/>
                </a:solidFill>
                <a:latin typeface="Arial"/>
                <a:ea typeface="Arial"/>
                <a:cs typeface="Arial"/>
                <a:sym typeface="Arial"/>
              </a:rPr>
              <a:t>IQR-based observations</a:t>
            </a:r>
          </a:p>
        </p:txBody>
      </p:sp>
      <p:sp>
        <p:nvSpPr>
          <p:cNvPr name="TextBox 43" id="43"/>
          <p:cNvSpPr txBox="true"/>
          <p:nvPr/>
        </p:nvSpPr>
        <p:spPr>
          <a:xfrm rot="0">
            <a:off x="7229332" y="7174087"/>
            <a:ext cx="5582345" cy="906409"/>
          </a:xfrm>
          <a:prstGeom prst="rect">
            <a:avLst/>
          </a:prstGeom>
        </p:spPr>
        <p:txBody>
          <a:bodyPr anchor="t" rtlCol="false" tIns="0" lIns="0" bIns="0" rIns="0">
            <a:spAutoFit/>
          </a:bodyPr>
          <a:lstStyle/>
          <a:p>
            <a:pPr algn="l">
              <a:lnSpc>
                <a:spcPts val="1891"/>
              </a:lnSpc>
            </a:pPr>
            <a:r>
              <a:rPr lang="en-US" sz="1576" b="true">
                <a:solidFill>
                  <a:srgbClr val="313C42"/>
                </a:solidFill>
                <a:latin typeface="Arial Bold"/>
                <a:ea typeface="Arial Bold"/>
                <a:cs typeface="Arial Bold"/>
                <a:sym typeface="Arial Bold"/>
              </a:rPr>
              <a:t>At α = 0.05, reject H₀: the three seasonal yield distributions are not statistically identical.</a:t>
            </a:r>
          </a:p>
        </p:txBody>
      </p:sp>
      <p:sp>
        <p:nvSpPr>
          <p:cNvPr name="TextBox 44" id="44"/>
          <p:cNvSpPr txBox="true"/>
          <p:nvPr/>
        </p:nvSpPr>
        <p:spPr>
          <a:xfrm rot="0">
            <a:off x="7229332" y="8290160"/>
            <a:ext cx="5582345" cy="778669"/>
          </a:xfrm>
          <a:prstGeom prst="rect">
            <a:avLst/>
          </a:prstGeom>
        </p:spPr>
        <p:txBody>
          <a:bodyPr anchor="t" rtlCol="false" tIns="0" lIns="0" bIns="0" rIns="0">
            <a:spAutoFit/>
          </a:bodyPr>
          <a:lstStyle/>
          <a:p>
            <a:pPr algn="l">
              <a:lnSpc>
                <a:spcPts val="1621"/>
              </a:lnSpc>
            </a:pPr>
            <a:r>
              <a:rPr lang="en-US" sz="1351">
                <a:solidFill>
                  <a:srgbClr val="5E6A71"/>
                </a:solidFill>
                <a:latin typeface="Arial"/>
                <a:ea typeface="Arial"/>
                <a:cs typeface="Arial"/>
                <a:sym typeface="Arial"/>
              </a:rPr>
              <a:t>Other IQR outliers: Water used = 276; Disease/Pest risk = 10. These observations should be investigated rather than automatically removed.</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3726725" y="0"/>
            <a:ext cx="4575115" cy="10295039"/>
            <a:chOff x="0" y="0"/>
            <a:chExt cx="6100153" cy="13726719"/>
          </a:xfrm>
        </p:grpSpPr>
        <p:sp>
          <p:nvSpPr>
            <p:cNvPr name="Freeform 3" id="3" descr="agri_template_right_strip.png"/>
            <p:cNvSpPr/>
            <p:nvPr/>
          </p:nvSpPr>
          <p:spPr>
            <a:xfrm flipH="false" flipV="false" rot="0">
              <a:off x="0" y="0"/>
              <a:ext cx="6100191" cy="13726668"/>
            </a:xfrm>
            <a:custGeom>
              <a:avLst/>
              <a:gdLst/>
              <a:ahLst/>
              <a:cxnLst/>
              <a:rect r="r" b="b" t="t" l="l"/>
              <a:pathLst>
                <a:path h="13726668" w="6100191">
                  <a:moveTo>
                    <a:pt x="0" y="0"/>
                  </a:moveTo>
                  <a:lnTo>
                    <a:pt x="6100191" y="0"/>
                  </a:lnTo>
                  <a:lnTo>
                    <a:pt x="6100191" y="13726668"/>
                  </a:lnTo>
                  <a:lnTo>
                    <a:pt x="0" y="13726668"/>
                  </a:lnTo>
                  <a:lnTo>
                    <a:pt x="0" y="0"/>
                  </a:lnTo>
                  <a:close/>
                </a:path>
              </a:pathLst>
            </a:custGeom>
            <a:blipFill>
              <a:blip r:embed="rId2"/>
              <a:stretch>
                <a:fillRect l="-4" t="0" r="-4" b="0"/>
              </a:stretch>
            </a:blipFill>
          </p:spPr>
        </p:sp>
      </p:grpSp>
      <p:grpSp>
        <p:nvGrpSpPr>
          <p:cNvPr name="Group 4" id="4"/>
          <p:cNvGrpSpPr/>
          <p:nvPr/>
        </p:nvGrpSpPr>
        <p:grpSpPr>
          <a:xfrm rot="0">
            <a:off x="-466706" y="6890814"/>
            <a:ext cx="1372676" cy="3706216"/>
            <a:chOff x="0" y="0"/>
            <a:chExt cx="1830235" cy="4941621"/>
          </a:xfrm>
        </p:grpSpPr>
        <p:sp>
          <p:nvSpPr>
            <p:cNvPr name="Freeform 5" id="5"/>
            <p:cNvSpPr/>
            <p:nvPr/>
          </p:nvSpPr>
          <p:spPr>
            <a:xfrm flipH="false" flipV="false" rot="0">
              <a:off x="0" y="0"/>
              <a:ext cx="1830324" cy="4941570"/>
            </a:xfrm>
            <a:custGeom>
              <a:avLst/>
              <a:gdLst/>
              <a:ahLst/>
              <a:cxnLst/>
              <a:rect r="r" b="b" t="t" l="l"/>
              <a:pathLst>
                <a:path h="4941570" w="1830324">
                  <a:moveTo>
                    <a:pt x="0" y="4941570"/>
                  </a:moveTo>
                  <a:lnTo>
                    <a:pt x="915162" y="0"/>
                  </a:lnTo>
                  <a:lnTo>
                    <a:pt x="1830324" y="4941570"/>
                  </a:lnTo>
                  <a:close/>
                </a:path>
              </a:pathLst>
            </a:custGeom>
            <a:solidFill>
              <a:srgbClr val="55C3E6"/>
            </a:solidFill>
          </p:spPr>
        </p:sp>
      </p:grpSp>
      <p:grpSp>
        <p:nvGrpSpPr>
          <p:cNvPr name="Group 6" id="6"/>
          <p:cNvGrpSpPr/>
          <p:nvPr/>
        </p:nvGrpSpPr>
        <p:grpSpPr>
          <a:xfrm rot="0">
            <a:off x="9883245" y="2086461"/>
            <a:ext cx="274539" cy="274539"/>
            <a:chOff x="0" y="0"/>
            <a:chExt cx="366052" cy="366052"/>
          </a:xfrm>
        </p:grpSpPr>
        <p:sp>
          <p:nvSpPr>
            <p:cNvPr name="Freeform 7" id="7"/>
            <p:cNvSpPr/>
            <p:nvPr/>
          </p:nvSpPr>
          <p:spPr>
            <a:xfrm flipH="false" flipV="false" rot="0">
              <a:off x="0" y="0"/>
              <a:ext cx="366014" cy="366014"/>
            </a:xfrm>
            <a:custGeom>
              <a:avLst/>
              <a:gdLst/>
              <a:ahLst/>
              <a:cxnLst/>
              <a:rect r="r" b="b" t="t" l="l"/>
              <a:pathLst>
                <a:path h="366014" w="366014">
                  <a:moveTo>
                    <a:pt x="0" y="0"/>
                  </a:moveTo>
                  <a:lnTo>
                    <a:pt x="366014" y="0"/>
                  </a:lnTo>
                  <a:lnTo>
                    <a:pt x="366014" y="366014"/>
                  </a:lnTo>
                  <a:lnTo>
                    <a:pt x="0" y="366014"/>
                  </a:lnTo>
                  <a:close/>
                </a:path>
              </a:pathLst>
            </a:custGeom>
            <a:solidFill>
              <a:srgbClr val="2F86C1"/>
            </a:solidFill>
          </p:spPr>
        </p:sp>
      </p:grpSp>
      <p:sp>
        <p:nvSpPr>
          <p:cNvPr name="TextBox 8" id="8"/>
          <p:cNvSpPr txBox="true"/>
          <p:nvPr/>
        </p:nvSpPr>
        <p:spPr>
          <a:xfrm rot="0">
            <a:off x="13022018" y="9713538"/>
            <a:ext cx="297551" cy="165163"/>
          </a:xfrm>
          <a:prstGeom prst="rect">
            <a:avLst/>
          </a:prstGeom>
        </p:spPr>
        <p:txBody>
          <a:bodyPr anchor="t" rtlCol="false" tIns="0" lIns="0" bIns="0" rIns="0">
            <a:spAutoFit/>
          </a:bodyPr>
          <a:lstStyle/>
          <a:p>
            <a:pPr algn="r">
              <a:lnSpc>
                <a:spcPts val="1260"/>
              </a:lnSpc>
            </a:pPr>
            <a:r>
              <a:rPr lang="en-US" sz="1050">
                <a:solidFill>
                  <a:srgbClr val="5E6A71"/>
                </a:solidFill>
                <a:latin typeface="Arial"/>
                <a:ea typeface="Arial"/>
                <a:cs typeface="Arial"/>
                <a:sym typeface="Arial"/>
              </a:rPr>
              <a:t>11</a:t>
            </a:r>
          </a:p>
        </p:txBody>
      </p:sp>
      <p:sp>
        <p:nvSpPr>
          <p:cNvPr name="TextBox 9" id="9"/>
          <p:cNvSpPr txBox="true"/>
          <p:nvPr/>
        </p:nvSpPr>
        <p:spPr>
          <a:xfrm rot="0">
            <a:off x="1079764" y="685552"/>
            <a:ext cx="11896639" cy="819845"/>
          </a:xfrm>
          <a:prstGeom prst="rect">
            <a:avLst/>
          </a:prstGeom>
        </p:spPr>
        <p:txBody>
          <a:bodyPr anchor="t" rtlCol="false" tIns="0" lIns="0" bIns="0" rIns="0">
            <a:spAutoFit/>
          </a:bodyPr>
          <a:lstStyle/>
          <a:p>
            <a:pPr algn="l">
              <a:lnSpc>
                <a:spcPts val="5224"/>
              </a:lnSpc>
            </a:pPr>
            <a:r>
              <a:rPr lang="en-US" sz="4353" b="true">
                <a:solidFill>
                  <a:srgbClr val="121212"/>
                </a:solidFill>
                <a:latin typeface="Arial Bold"/>
                <a:ea typeface="Arial Bold"/>
                <a:cs typeface="Arial Bold"/>
                <a:sym typeface="Arial Bold"/>
              </a:rPr>
              <a:t>FUTURE SCOPE</a:t>
            </a:r>
          </a:p>
        </p:txBody>
      </p:sp>
      <p:grpSp>
        <p:nvGrpSpPr>
          <p:cNvPr name="Group 10" id="10"/>
          <p:cNvGrpSpPr/>
          <p:nvPr/>
        </p:nvGrpSpPr>
        <p:grpSpPr>
          <a:xfrm rot="0">
            <a:off x="1116063" y="2049475"/>
            <a:ext cx="10382745" cy="1254471"/>
            <a:chOff x="0" y="0"/>
            <a:chExt cx="13843660" cy="1672628"/>
          </a:xfrm>
        </p:grpSpPr>
        <p:sp>
          <p:nvSpPr>
            <p:cNvPr name="Freeform 11" id="11"/>
            <p:cNvSpPr/>
            <p:nvPr/>
          </p:nvSpPr>
          <p:spPr>
            <a:xfrm flipH="false" flipV="false" rot="0">
              <a:off x="0" y="0"/>
              <a:ext cx="13843634" cy="1672590"/>
            </a:xfrm>
            <a:custGeom>
              <a:avLst/>
              <a:gdLst/>
              <a:ahLst/>
              <a:cxnLst/>
              <a:rect r="r" b="b" t="t" l="l"/>
              <a:pathLst>
                <a:path h="1672590" w="13843634">
                  <a:moveTo>
                    <a:pt x="0" y="278765"/>
                  </a:moveTo>
                  <a:cubicBezTo>
                    <a:pt x="0" y="124841"/>
                    <a:pt x="124841" y="0"/>
                    <a:pt x="278765" y="0"/>
                  </a:cubicBezTo>
                  <a:lnTo>
                    <a:pt x="13564870" y="0"/>
                  </a:lnTo>
                  <a:cubicBezTo>
                    <a:pt x="13718794" y="0"/>
                    <a:pt x="13843634" y="124841"/>
                    <a:pt x="13843634" y="278765"/>
                  </a:cubicBezTo>
                  <a:lnTo>
                    <a:pt x="13843634" y="1393825"/>
                  </a:lnTo>
                  <a:cubicBezTo>
                    <a:pt x="13843634" y="1547749"/>
                    <a:pt x="13718794" y="1672590"/>
                    <a:pt x="13564870" y="1672590"/>
                  </a:cubicBezTo>
                  <a:lnTo>
                    <a:pt x="278765" y="1672590"/>
                  </a:lnTo>
                  <a:cubicBezTo>
                    <a:pt x="124841" y="1672590"/>
                    <a:pt x="0" y="1547876"/>
                    <a:pt x="0" y="1393825"/>
                  </a:cubicBezTo>
                  <a:close/>
                </a:path>
              </a:pathLst>
            </a:custGeom>
            <a:solidFill>
              <a:srgbClr val="FFFFFF"/>
            </a:solidFill>
            <a:ln w="19065" cap="sq">
              <a:solidFill>
                <a:srgbClr val="DCE4E8"/>
              </a:solidFill>
              <a:prstDash val="solid"/>
              <a:miter/>
            </a:ln>
          </p:spPr>
        </p:sp>
      </p:grpSp>
      <p:grpSp>
        <p:nvGrpSpPr>
          <p:cNvPr name="Group 12" id="12"/>
          <p:cNvGrpSpPr/>
          <p:nvPr/>
        </p:nvGrpSpPr>
        <p:grpSpPr>
          <a:xfrm rot="0">
            <a:off x="1125588" y="2059010"/>
            <a:ext cx="96088" cy="1235402"/>
            <a:chOff x="0" y="0"/>
            <a:chExt cx="128118" cy="1647203"/>
          </a:xfrm>
        </p:grpSpPr>
        <p:sp>
          <p:nvSpPr>
            <p:cNvPr name="Freeform 13" id="13"/>
            <p:cNvSpPr/>
            <p:nvPr/>
          </p:nvSpPr>
          <p:spPr>
            <a:xfrm flipH="false" flipV="false" rot="0">
              <a:off x="0" y="0"/>
              <a:ext cx="128143" cy="1647190"/>
            </a:xfrm>
            <a:custGeom>
              <a:avLst/>
              <a:gdLst/>
              <a:ahLst/>
              <a:cxnLst/>
              <a:rect r="r" b="b" t="t" l="l"/>
              <a:pathLst>
                <a:path h="1647190" w="128143">
                  <a:moveTo>
                    <a:pt x="0" y="0"/>
                  </a:moveTo>
                  <a:lnTo>
                    <a:pt x="128143" y="0"/>
                  </a:lnTo>
                  <a:lnTo>
                    <a:pt x="128143" y="1647190"/>
                  </a:lnTo>
                  <a:lnTo>
                    <a:pt x="0" y="1647190"/>
                  </a:lnTo>
                  <a:close/>
                </a:path>
              </a:pathLst>
            </a:custGeom>
            <a:solidFill>
              <a:srgbClr val="2F86C1"/>
            </a:solidFill>
          </p:spPr>
        </p:sp>
      </p:grpSp>
      <p:sp>
        <p:nvSpPr>
          <p:cNvPr name="TextBox 14" id="14"/>
          <p:cNvSpPr txBox="true"/>
          <p:nvPr/>
        </p:nvSpPr>
        <p:spPr>
          <a:xfrm rot="0">
            <a:off x="1519018" y="2319033"/>
            <a:ext cx="9700365" cy="311963"/>
          </a:xfrm>
          <a:prstGeom prst="rect">
            <a:avLst/>
          </a:prstGeom>
        </p:spPr>
        <p:txBody>
          <a:bodyPr anchor="t" rtlCol="false" tIns="0" lIns="0" bIns="0" rIns="0">
            <a:spAutoFit/>
          </a:bodyPr>
          <a:lstStyle/>
          <a:p>
            <a:pPr algn="l">
              <a:lnSpc>
                <a:spcPts val="1801"/>
              </a:lnSpc>
            </a:pPr>
            <a:r>
              <a:rPr lang="en-US" sz="1501" b="true">
                <a:solidFill>
                  <a:srgbClr val="5E6A71"/>
                </a:solidFill>
                <a:latin typeface="Arial Bold"/>
                <a:ea typeface="Arial Bold"/>
                <a:cs typeface="Arial Bold"/>
                <a:sym typeface="Arial Bold"/>
              </a:rPr>
              <a:t>Multi-year forecasting</a:t>
            </a:r>
          </a:p>
        </p:txBody>
      </p:sp>
      <p:grpSp>
        <p:nvGrpSpPr>
          <p:cNvPr name="Group 15" id="15"/>
          <p:cNvGrpSpPr/>
          <p:nvPr/>
        </p:nvGrpSpPr>
        <p:grpSpPr>
          <a:xfrm rot="0">
            <a:off x="1116063" y="3449603"/>
            <a:ext cx="10382745" cy="1254471"/>
            <a:chOff x="0" y="0"/>
            <a:chExt cx="13843660" cy="1672628"/>
          </a:xfrm>
        </p:grpSpPr>
        <p:sp>
          <p:nvSpPr>
            <p:cNvPr name="Freeform 16" id="16"/>
            <p:cNvSpPr/>
            <p:nvPr/>
          </p:nvSpPr>
          <p:spPr>
            <a:xfrm flipH="false" flipV="false" rot="0">
              <a:off x="0" y="0"/>
              <a:ext cx="13843634" cy="1672590"/>
            </a:xfrm>
            <a:custGeom>
              <a:avLst/>
              <a:gdLst/>
              <a:ahLst/>
              <a:cxnLst/>
              <a:rect r="r" b="b" t="t" l="l"/>
              <a:pathLst>
                <a:path h="1672590" w="13843634">
                  <a:moveTo>
                    <a:pt x="0" y="278765"/>
                  </a:moveTo>
                  <a:cubicBezTo>
                    <a:pt x="0" y="124841"/>
                    <a:pt x="124841" y="0"/>
                    <a:pt x="278765" y="0"/>
                  </a:cubicBezTo>
                  <a:lnTo>
                    <a:pt x="13564870" y="0"/>
                  </a:lnTo>
                  <a:cubicBezTo>
                    <a:pt x="13718794" y="0"/>
                    <a:pt x="13843634" y="124841"/>
                    <a:pt x="13843634" y="278765"/>
                  </a:cubicBezTo>
                  <a:lnTo>
                    <a:pt x="13843634" y="1393825"/>
                  </a:lnTo>
                  <a:cubicBezTo>
                    <a:pt x="13843634" y="1547749"/>
                    <a:pt x="13718794" y="1672590"/>
                    <a:pt x="13564870" y="1672590"/>
                  </a:cubicBezTo>
                  <a:lnTo>
                    <a:pt x="278765" y="1672590"/>
                  </a:lnTo>
                  <a:cubicBezTo>
                    <a:pt x="124841" y="1672590"/>
                    <a:pt x="0" y="1547876"/>
                    <a:pt x="0" y="1393825"/>
                  </a:cubicBezTo>
                  <a:close/>
                </a:path>
              </a:pathLst>
            </a:custGeom>
            <a:solidFill>
              <a:srgbClr val="FFFFFF"/>
            </a:solidFill>
            <a:ln w="19065" cap="sq">
              <a:solidFill>
                <a:srgbClr val="DCE4E8"/>
              </a:solidFill>
              <a:prstDash val="solid"/>
              <a:miter/>
            </a:ln>
          </p:spPr>
        </p:sp>
      </p:grpSp>
      <p:grpSp>
        <p:nvGrpSpPr>
          <p:cNvPr name="Group 17" id="17"/>
          <p:cNvGrpSpPr/>
          <p:nvPr/>
        </p:nvGrpSpPr>
        <p:grpSpPr>
          <a:xfrm rot="0">
            <a:off x="1125588" y="3459137"/>
            <a:ext cx="96088" cy="1235402"/>
            <a:chOff x="0" y="0"/>
            <a:chExt cx="128118" cy="1647203"/>
          </a:xfrm>
        </p:grpSpPr>
        <p:sp>
          <p:nvSpPr>
            <p:cNvPr name="Freeform 18" id="18"/>
            <p:cNvSpPr/>
            <p:nvPr/>
          </p:nvSpPr>
          <p:spPr>
            <a:xfrm flipH="false" flipV="false" rot="0">
              <a:off x="0" y="0"/>
              <a:ext cx="128143" cy="1647190"/>
            </a:xfrm>
            <a:custGeom>
              <a:avLst/>
              <a:gdLst/>
              <a:ahLst/>
              <a:cxnLst/>
              <a:rect r="r" b="b" t="t" l="l"/>
              <a:pathLst>
                <a:path h="1647190" w="128143">
                  <a:moveTo>
                    <a:pt x="0" y="0"/>
                  </a:moveTo>
                  <a:lnTo>
                    <a:pt x="128143" y="0"/>
                  </a:lnTo>
                  <a:lnTo>
                    <a:pt x="128143" y="1647190"/>
                  </a:lnTo>
                  <a:lnTo>
                    <a:pt x="0" y="1647190"/>
                  </a:lnTo>
                  <a:close/>
                </a:path>
              </a:pathLst>
            </a:custGeom>
            <a:solidFill>
              <a:srgbClr val="41B45A"/>
            </a:solidFill>
          </p:spPr>
        </p:sp>
      </p:grpSp>
      <p:sp>
        <p:nvSpPr>
          <p:cNvPr name="TextBox 19" id="19"/>
          <p:cNvSpPr txBox="true"/>
          <p:nvPr/>
        </p:nvSpPr>
        <p:spPr>
          <a:xfrm rot="0">
            <a:off x="1519018" y="3719160"/>
            <a:ext cx="9700365" cy="311963"/>
          </a:xfrm>
          <a:prstGeom prst="rect">
            <a:avLst/>
          </a:prstGeom>
        </p:spPr>
        <p:txBody>
          <a:bodyPr anchor="t" rtlCol="false" tIns="0" lIns="0" bIns="0" rIns="0">
            <a:spAutoFit/>
          </a:bodyPr>
          <a:lstStyle/>
          <a:p>
            <a:pPr algn="l">
              <a:lnSpc>
                <a:spcPts val="1801"/>
              </a:lnSpc>
            </a:pPr>
            <a:r>
              <a:rPr lang="en-US" sz="1501" b="true">
                <a:solidFill>
                  <a:srgbClr val="5E6A71"/>
                </a:solidFill>
                <a:latin typeface="Arial Bold"/>
                <a:ea typeface="Arial Bold"/>
                <a:cs typeface="Arial Bold"/>
                <a:sym typeface="Arial Bold"/>
              </a:rPr>
              <a:t>Crop-specific models</a:t>
            </a:r>
          </a:p>
        </p:txBody>
      </p:sp>
      <p:grpSp>
        <p:nvGrpSpPr>
          <p:cNvPr name="Group 20" id="20"/>
          <p:cNvGrpSpPr/>
          <p:nvPr/>
        </p:nvGrpSpPr>
        <p:grpSpPr>
          <a:xfrm rot="0">
            <a:off x="1116063" y="4849730"/>
            <a:ext cx="10382745" cy="1254471"/>
            <a:chOff x="0" y="0"/>
            <a:chExt cx="13843660" cy="1672628"/>
          </a:xfrm>
        </p:grpSpPr>
        <p:sp>
          <p:nvSpPr>
            <p:cNvPr name="Freeform 21" id="21"/>
            <p:cNvSpPr/>
            <p:nvPr/>
          </p:nvSpPr>
          <p:spPr>
            <a:xfrm flipH="false" flipV="false" rot="0">
              <a:off x="0" y="0"/>
              <a:ext cx="13843634" cy="1672590"/>
            </a:xfrm>
            <a:custGeom>
              <a:avLst/>
              <a:gdLst/>
              <a:ahLst/>
              <a:cxnLst/>
              <a:rect r="r" b="b" t="t" l="l"/>
              <a:pathLst>
                <a:path h="1672590" w="13843634">
                  <a:moveTo>
                    <a:pt x="0" y="278765"/>
                  </a:moveTo>
                  <a:cubicBezTo>
                    <a:pt x="0" y="124841"/>
                    <a:pt x="124841" y="0"/>
                    <a:pt x="278765" y="0"/>
                  </a:cubicBezTo>
                  <a:lnTo>
                    <a:pt x="13564870" y="0"/>
                  </a:lnTo>
                  <a:cubicBezTo>
                    <a:pt x="13718794" y="0"/>
                    <a:pt x="13843634" y="124841"/>
                    <a:pt x="13843634" y="278765"/>
                  </a:cubicBezTo>
                  <a:lnTo>
                    <a:pt x="13843634" y="1393825"/>
                  </a:lnTo>
                  <a:cubicBezTo>
                    <a:pt x="13843634" y="1547749"/>
                    <a:pt x="13718794" y="1672590"/>
                    <a:pt x="13564870" y="1672590"/>
                  </a:cubicBezTo>
                  <a:lnTo>
                    <a:pt x="278765" y="1672590"/>
                  </a:lnTo>
                  <a:cubicBezTo>
                    <a:pt x="124841" y="1672590"/>
                    <a:pt x="0" y="1547876"/>
                    <a:pt x="0" y="1393825"/>
                  </a:cubicBezTo>
                  <a:close/>
                </a:path>
              </a:pathLst>
            </a:custGeom>
            <a:solidFill>
              <a:srgbClr val="FFFFFF"/>
            </a:solidFill>
            <a:ln w="19065" cap="sq">
              <a:solidFill>
                <a:srgbClr val="DCE4E8"/>
              </a:solidFill>
              <a:prstDash val="solid"/>
              <a:miter/>
            </a:ln>
          </p:spPr>
        </p:sp>
      </p:grpSp>
      <p:grpSp>
        <p:nvGrpSpPr>
          <p:cNvPr name="Group 22" id="22"/>
          <p:cNvGrpSpPr/>
          <p:nvPr/>
        </p:nvGrpSpPr>
        <p:grpSpPr>
          <a:xfrm rot="0">
            <a:off x="1125588" y="4859264"/>
            <a:ext cx="96088" cy="1235402"/>
            <a:chOff x="0" y="0"/>
            <a:chExt cx="128118" cy="1647203"/>
          </a:xfrm>
        </p:grpSpPr>
        <p:sp>
          <p:nvSpPr>
            <p:cNvPr name="Freeform 23" id="23"/>
            <p:cNvSpPr/>
            <p:nvPr/>
          </p:nvSpPr>
          <p:spPr>
            <a:xfrm flipH="false" flipV="false" rot="0">
              <a:off x="0" y="0"/>
              <a:ext cx="128143" cy="1647190"/>
            </a:xfrm>
            <a:custGeom>
              <a:avLst/>
              <a:gdLst/>
              <a:ahLst/>
              <a:cxnLst/>
              <a:rect r="r" b="b" t="t" l="l"/>
              <a:pathLst>
                <a:path h="1647190" w="128143">
                  <a:moveTo>
                    <a:pt x="0" y="0"/>
                  </a:moveTo>
                  <a:lnTo>
                    <a:pt x="128143" y="0"/>
                  </a:lnTo>
                  <a:lnTo>
                    <a:pt x="128143" y="1647190"/>
                  </a:lnTo>
                  <a:lnTo>
                    <a:pt x="0" y="1647190"/>
                  </a:lnTo>
                  <a:close/>
                </a:path>
              </a:pathLst>
            </a:custGeom>
            <a:solidFill>
              <a:srgbClr val="55C3E6"/>
            </a:solidFill>
          </p:spPr>
        </p:sp>
      </p:grpSp>
      <p:sp>
        <p:nvSpPr>
          <p:cNvPr name="TextBox 24" id="24"/>
          <p:cNvSpPr txBox="true"/>
          <p:nvPr/>
        </p:nvSpPr>
        <p:spPr>
          <a:xfrm rot="0">
            <a:off x="1519018" y="5119287"/>
            <a:ext cx="9700365" cy="311963"/>
          </a:xfrm>
          <a:prstGeom prst="rect">
            <a:avLst/>
          </a:prstGeom>
        </p:spPr>
        <p:txBody>
          <a:bodyPr anchor="t" rtlCol="false" tIns="0" lIns="0" bIns="0" rIns="0">
            <a:spAutoFit/>
          </a:bodyPr>
          <a:lstStyle/>
          <a:p>
            <a:pPr algn="l">
              <a:lnSpc>
                <a:spcPts val="1801"/>
              </a:lnSpc>
            </a:pPr>
            <a:r>
              <a:rPr lang="en-US" sz="1501" b="true">
                <a:solidFill>
                  <a:srgbClr val="5E6A71"/>
                </a:solidFill>
                <a:latin typeface="Arial Bold"/>
                <a:ea typeface="Arial Bold"/>
                <a:cs typeface="Arial Bold"/>
                <a:sym typeface="Arial Bold"/>
              </a:rPr>
              <a:t>Causal analysis</a:t>
            </a:r>
          </a:p>
        </p:txBody>
      </p:sp>
      <p:grpSp>
        <p:nvGrpSpPr>
          <p:cNvPr name="Group 25" id="25"/>
          <p:cNvGrpSpPr/>
          <p:nvPr/>
        </p:nvGrpSpPr>
        <p:grpSpPr>
          <a:xfrm rot="0">
            <a:off x="1116063" y="6249857"/>
            <a:ext cx="10382745" cy="1254471"/>
            <a:chOff x="0" y="0"/>
            <a:chExt cx="13843660" cy="1672628"/>
          </a:xfrm>
        </p:grpSpPr>
        <p:sp>
          <p:nvSpPr>
            <p:cNvPr name="Freeform 26" id="26"/>
            <p:cNvSpPr/>
            <p:nvPr/>
          </p:nvSpPr>
          <p:spPr>
            <a:xfrm flipH="false" flipV="false" rot="0">
              <a:off x="0" y="0"/>
              <a:ext cx="13843634" cy="1672590"/>
            </a:xfrm>
            <a:custGeom>
              <a:avLst/>
              <a:gdLst/>
              <a:ahLst/>
              <a:cxnLst/>
              <a:rect r="r" b="b" t="t" l="l"/>
              <a:pathLst>
                <a:path h="1672590" w="13843634">
                  <a:moveTo>
                    <a:pt x="0" y="278765"/>
                  </a:moveTo>
                  <a:cubicBezTo>
                    <a:pt x="0" y="124841"/>
                    <a:pt x="124841" y="0"/>
                    <a:pt x="278765" y="0"/>
                  </a:cubicBezTo>
                  <a:lnTo>
                    <a:pt x="13564870" y="0"/>
                  </a:lnTo>
                  <a:cubicBezTo>
                    <a:pt x="13718794" y="0"/>
                    <a:pt x="13843634" y="124841"/>
                    <a:pt x="13843634" y="278765"/>
                  </a:cubicBezTo>
                  <a:lnTo>
                    <a:pt x="13843634" y="1393825"/>
                  </a:lnTo>
                  <a:cubicBezTo>
                    <a:pt x="13843634" y="1547749"/>
                    <a:pt x="13718794" y="1672590"/>
                    <a:pt x="13564870" y="1672590"/>
                  </a:cubicBezTo>
                  <a:lnTo>
                    <a:pt x="278765" y="1672590"/>
                  </a:lnTo>
                  <a:cubicBezTo>
                    <a:pt x="124841" y="1672590"/>
                    <a:pt x="0" y="1547876"/>
                    <a:pt x="0" y="1393825"/>
                  </a:cubicBezTo>
                  <a:close/>
                </a:path>
              </a:pathLst>
            </a:custGeom>
            <a:solidFill>
              <a:srgbClr val="FFFFFF"/>
            </a:solidFill>
            <a:ln w="19065" cap="sq">
              <a:solidFill>
                <a:srgbClr val="DCE4E8"/>
              </a:solidFill>
              <a:prstDash val="solid"/>
              <a:miter/>
            </a:ln>
          </p:spPr>
        </p:sp>
      </p:grpSp>
      <p:grpSp>
        <p:nvGrpSpPr>
          <p:cNvPr name="Group 27" id="27"/>
          <p:cNvGrpSpPr/>
          <p:nvPr/>
        </p:nvGrpSpPr>
        <p:grpSpPr>
          <a:xfrm rot="0">
            <a:off x="1125588" y="6259382"/>
            <a:ext cx="96088" cy="1235402"/>
            <a:chOff x="0" y="0"/>
            <a:chExt cx="128118" cy="1647203"/>
          </a:xfrm>
        </p:grpSpPr>
        <p:sp>
          <p:nvSpPr>
            <p:cNvPr name="Freeform 28" id="28"/>
            <p:cNvSpPr/>
            <p:nvPr/>
          </p:nvSpPr>
          <p:spPr>
            <a:xfrm flipH="false" flipV="false" rot="0">
              <a:off x="0" y="0"/>
              <a:ext cx="128143" cy="1647190"/>
            </a:xfrm>
            <a:custGeom>
              <a:avLst/>
              <a:gdLst/>
              <a:ahLst/>
              <a:cxnLst/>
              <a:rect r="r" b="b" t="t" l="l"/>
              <a:pathLst>
                <a:path h="1647190" w="128143">
                  <a:moveTo>
                    <a:pt x="0" y="0"/>
                  </a:moveTo>
                  <a:lnTo>
                    <a:pt x="128143" y="0"/>
                  </a:lnTo>
                  <a:lnTo>
                    <a:pt x="128143" y="1647190"/>
                  </a:lnTo>
                  <a:lnTo>
                    <a:pt x="0" y="1647190"/>
                  </a:lnTo>
                  <a:close/>
                </a:path>
              </a:pathLst>
            </a:custGeom>
            <a:solidFill>
              <a:srgbClr val="1F5A86"/>
            </a:solidFill>
          </p:spPr>
        </p:sp>
      </p:grpSp>
      <p:sp>
        <p:nvSpPr>
          <p:cNvPr name="TextBox 29" id="29"/>
          <p:cNvSpPr txBox="true"/>
          <p:nvPr/>
        </p:nvSpPr>
        <p:spPr>
          <a:xfrm rot="0">
            <a:off x="1519018" y="6519415"/>
            <a:ext cx="9700365" cy="311963"/>
          </a:xfrm>
          <a:prstGeom prst="rect">
            <a:avLst/>
          </a:prstGeom>
        </p:spPr>
        <p:txBody>
          <a:bodyPr anchor="t" rtlCol="false" tIns="0" lIns="0" bIns="0" rIns="0">
            <a:spAutoFit/>
          </a:bodyPr>
          <a:lstStyle/>
          <a:p>
            <a:pPr algn="l">
              <a:lnSpc>
                <a:spcPts val="1801"/>
              </a:lnSpc>
            </a:pPr>
            <a:r>
              <a:rPr lang="en-US" sz="1501" b="true">
                <a:solidFill>
                  <a:srgbClr val="5E6A71"/>
                </a:solidFill>
                <a:latin typeface="Arial Bold"/>
                <a:ea typeface="Arial Bold"/>
                <a:cs typeface="Arial Bold"/>
                <a:sym typeface="Arial Bold"/>
              </a:rPr>
              <a:t>Decision dashboard</a:t>
            </a:r>
          </a:p>
        </p:txBody>
      </p:sp>
      <p:grpSp>
        <p:nvGrpSpPr>
          <p:cNvPr name="Group 30" id="30"/>
          <p:cNvGrpSpPr/>
          <p:nvPr/>
        </p:nvGrpSpPr>
        <p:grpSpPr>
          <a:xfrm rot="0">
            <a:off x="1116063" y="7649975"/>
            <a:ext cx="10382745" cy="1254471"/>
            <a:chOff x="0" y="0"/>
            <a:chExt cx="13843660" cy="1672628"/>
          </a:xfrm>
        </p:grpSpPr>
        <p:sp>
          <p:nvSpPr>
            <p:cNvPr name="Freeform 31" id="31"/>
            <p:cNvSpPr/>
            <p:nvPr/>
          </p:nvSpPr>
          <p:spPr>
            <a:xfrm flipH="false" flipV="false" rot="0">
              <a:off x="0" y="0"/>
              <a:ext cx="13843634" cy="1672590"/>
            </a:xfrm>
            <a:custGeom>
              <a:avLst/>
              <a:gdLst/>
              <a:ahLst/>
              <a:cxnLst/>
              <a:rect r="r" b="b" t="t" l="l"/>
              <a:pathLst>
                <a:path h="1672590" w="13843634">
                  <a:moveTo>
                    <a:pt x="0" y="278765"/>
                  </a:moveTo>
                  <a:cubicBezTo>
                    <a:pt x="0" y="124841"/>
                    <a:pt x="124841" y="0"/>
                    <a:pt x="278765" y="0"/>
                  </a:cubicBezTo>
                  <a:lnTo>
                    <a:pt x="13564870" y="0"/>
                  </a:lnTo>
                  <a:cubicBezTo>
                    <a:pt x="13718794" y="0"/>
                    <a:pt x="13843634" y="124841"/>
                    <a:pt x="13843634" y="278765"/>
                  </a:cubicBezTo>
                  <a:lnTo>
                    <a:pt x="13843634" y="1393825"/>
                  </a:lnTo>
                  <a:cubicBezTo>
                    <a:pt x="13843634" y="1547749"/>
                    <a:pt x="13718794" y="1672590"/>
                    <a:pt x="13564870" y="1672590"/>
                  </a:cubicBezTo>
                  <a:lnTo>
                    <a:pt x="278765" y="1672590"/>
                  </a:lnTo>
                  <a:cubicBezTo>
                    <a:pt x="124841" y="1672590"/>
                    <a:pt x="0" y="1547876"/>
                    <a:pt x="0" y="1393825"/>
                  </a:cubicBezTo>
                  <a:close/>
                </a:path>
              </a:pathLst>
            </a:custGeom>
            <a:solidFill>
              <a:srgbClr val="FFFFFF"/>
            </a:solidFill>
            <a:ln w="19065" cap="sq">
              <a:solidFill>
                <a:srgbClr val="DCE4E8"/>
              </a:solidFill>
              <a:prstDash val="solid"/>
              <a:miter/>
            </a:ln>
          </p:spPr>
        </p:sp>
      </p:grpSp>
      <p:grpSp>
        <p:nvGrpSpPr>
          <p:cNvPr name="Group 32" id="32"/>
          <p:cNvGrpSpPr/>
          <p:nvPr/>
        </p:nvGrpSpPr>
        <p:grpSpPr>
          <a:xfrm rot="0">
            <a:off x="1125588" y="7659510"/>
            <a:ext cx="96088" cy="1235402"/>
            <a:chOff x="0" y="0"/>
            <a:chExt cx="128118" cy="1647203"/>
          </a:xfrm>
        </p:grpSpPr>
        <p:sp>
          <p:nvSpPr>
            <p:cNvPr name="Freeform 33" id="33"/>
            <p:cNvSpPr/>
            <p:nvPr/>
          </p:nvSpPr>
          <p:spPr>
            <a:xfrm flipH="false" flipV="false" rot="0">
              <a:off x="0" y="0"/>
              <a:ext cx="128143" cy="1647190"/>
            </a:xfrm>
            <a:custGeom>
              <a:avLst/>
              <a:gdLst/>
              <a:ahLst/>
              <a:cxnLst/>
              <a:rect r="r" b="b" t="t" l="l"/>
              <a:pathLst>
                <a:path h="1647190" w="128143">
                  <a:moveTo>
                    <a:pt x="0" y="0"/>
                  </a:moveTo>
                  <a:lnTo>
                    <a:pt x="128143" y="0"/>
                  </a:lnTo>
                  <a:lnTo>
                    <a:pt x="128143" y="1647190"/>
                  </a:lnTo>
                  <a:lnTo>
                    <a:pt x="0" y="1647190"/>
                  </a:lnTo>
                  <a:close/>
                </a:path>
              </a:pathLst>
            </a:custGeom>
            <a:solidFill>
              <a:srgbClr val="3CBF9B"/>
            </a:solidFill>
          </p:spPr>
        </p:sp>
      </p:grpSp>
      <p:sp>
        <p:nvSpPr>
          <p:cNvPr name="TextBox 34" id="34"/>
          <p:cNvSpPr txBox="true"/>
          <p:nvPr/>
        </p:nvSpPr>
        <p:spPr>
          <a:xfrm rot="0">
            <a:off x="1519018" y="7919533"/>
            <a:ext cx="9700365" cy="311963"/>
          </a:xfrm>
          <a:prstGeom prst="rect">
            <a:avLst/>
          </a:prstGeom>
        </p:spPr>
        <p:txBody>
          <a:bodyPr anchor="t" rtlCol="false" tIns="0" lIns="0" bIns="0" rIns="0">
            <a:spAutoFit/>
          </a:bodyPr>
          <a:lstStyle/>
          <a:p>
            <a:pPr algn="l">
              <a:lnSpc>
                <a:spcPts val="1801"/>
              </a:lnSpc>
            </a:pPr>
            <a:r>
              <a:rPr lang="en-US" sz="1501" b="true">
                <a:solidFill>
                  <a:srgbClr val="5E6A71"/>
                </a:solidFill>
                <a:latin typeface="Arial Bold"/>
                <a:ea typeface="Arial Bold"/>
                <a:cs typeface="Arial Bold"/>
                <a:sym typeface="Arial Bold"/>
              </a:rPr>
              <a:t>Risk alerts</a:t>
            </a:r>
          </a:p>
        </p:txBody>
      </p:sp>
      <p:sp>
        <p:nvSpPr>
          <p:cNvPr name="TextBox 35" id="35"/>
          <p:cNvSpPr txBox="true"/>
          <p:nvPr/>
        </p:nvSpPr>
        <p:spPr>
          <a:xfrm rot="0">
            <a:off x="1217028" y="9292209"/>
            <a:ext cx="10318061" cy="394316"/>
          </a:xfrm>
          <a:prstGeom prst="rect">
            <a:avLst/>
          </a:prstGeom>
        </p:spPr>
        <p:txBody>
          <a:bodyPr anchor="t" rtlCol="false" tIns="0" lIns="0" bIns="0" rIns="0">
            <a:spAutoFit/>
          </a:bodyPr>
          <a:lstStyle/>
          <a:p>
            <a:pPr algn="l">
              <a:lnSpc>
                <a:spcPts val="1801"/>
              </a:lnSpc>
            </a:pPr>
            <a:r>
              <a:rPr lang="en-US" sz="1501" b="true">
                <a:solidFill>
                  <a:srgbClr val="313C42"/>
                </a:solidFill>
                <a:latin typeface="Arial Bold"/>
                <a:ea typeface="Arial Bold"/>
                <a:cs typeface="Arial Bold"/>
                <a:sym typeface="Arial Bold"/>
              </a:rPr>
              <a:t>Priority extension: connect the analytical dataset to time-series data so recommendations can be evaluated prospectively.</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3726725" y="0"/>
            <a:ext cx="4575115" cy="10295039"/>
            <a:chOff x="0" y="0"/>
            <a:chExt cx="6100153" cy="13726719"/>
          </a:xfrm>
        </p:grpSpPr>
        <p:sp>
          <p:nvSpPr>
            <p:cNvPr name="Freeform 3" id="3" descr="agri_template_right_strip.png"/>
            <p:cNvSpPr/>
            <p:nvPr/>
          </p:nvSpPr>
          <p:spPr>
            <a:xfrm flipH="false" flipV="false" rot="0">
              <a:off x="0" y="0"/>
              <a:ext cx="6100191" cy="13726668"/>
            </a:xfrm>
            <a:custGeom>
              <a:avLst/>
              <a:gdLst/>
              <a:ahLst/>
              <a:cxnLst/>
              <a:rect r="r" b="b" t="t" l="l"/>
              <a:pathLst>
                <a:path h="13726668" w="6100191">
                  <a:moveTo>
                    <a:pt x="0" y="0"/>
                  </a:moveTo>
                  <a:lnTo>
                    <a:pt x="6100191" y="0"/>
                  </a:lnTo>
                  <a:lnTo>
                    <a:pt x="6100191" y="13726668"/>
                  </a:lnTo>
                  <a:lnTo>
                    <a:pt x="0" y="13726668"/>
                  </a:lnTo>
                  <a:lnTo>
                    <a:pt x="0" y="0"/>
                  </a:lnTo>
                  <a:close/>
                </a:path>
              </a:pathLst>
            </a:custGeom>
            <a:blipFill>
              <a:blip r:embed="rId2"/>
              <a:stretch>
                <a:fillRect l="-4" t="0" r="-4" b="0"/>
              </a:stretch>
            </a:blipFill>
          </p:spPr>
        </p:sp>
      </p:grpSp>
      <p:grpSp>
        <p:nvGrpSpPr>
          <p:cNvPr name="Group 4" id="4"/>
          <p:cNvGrpSpPr/>
          <p:nvPr/>
        </p:nvGrpSpPr>
        <p:grpSpPr>
          <a:xfrm rot="0">
            <a:off x="-466706" y="6890814"/>
            <a:ext cx="1372676" cy="3706216"/>
            <a:chOff x="0" y="0"/>
            <a:chExt cx="1830235" cy="4941621"/>
          </a:xfrm>
        </p:grpSpPr>
        <p:sp>
          <p:nvSpPr>
            <p:cNvPr name="Freeform 5" id="5"/>
            <p:cNvSpPr/>
            <p:nvPr/>
          </p:nvSpPr>
          <p:spPr>
            <a:xfrm flipH="false" flipV="false" rot="0">
              <a:off x="0" y="0"/>
              <a:ext cx="1830324" cy="4941570"/>
            </a:xfrm>
            <a:custGeom>
              <a:avLst/>
              <a:gdLst/>
              <a:ahLst/>
              <a:cxnLst/>
              <a:rect r="r" b="b" t="t" l="l"/>
              <a:pathLst>
                <a:path h="4941570" w="1830324">
                  <a:moveTo>
                    <a:pt x="0" y="4941570"/>
                  </a:moveTo>
                  <a:lnTo>
                    <a:pt x="915162" y="0"/>
                  </a:lnTo>
                  <a:lnTo>
                    <a:pt x="1830324" y="4941570"/>
                  </a:lnTo>
                  <a:close/>
                </a:path>
              </a:pathLst>
            </a:custGeom>
            <a:solidFill>
              <a:srgbClr val="55C3E6"/>
            </a:solidFill>
          </p:spPr>
        </p:sp>
      </p:grpSp>
      <p:grpSp>
        <p:nvGrpSpPr>
          <p:cNvPr name="Group 6" id="6"/>
          <p:cNvGrpSpPr/>
          <p:nvPr/>
        </p:nvGrpSpPr>
        <p:grpSpPr>
          <a:xfrm rot="0">
            <a:off x="9883245" y="2086461"/>
            <a:ext cx="274539" cy="274539"/>
            <a:chOff x="0" y="0"/>
            <a:chExt cx="366052" cy="366052"/>
          </a:xfrm>
        </p:grpSpPr>
        <p:sp>
          <p:nvSpPr>
            <p:cNvPr name="Freeform 7" id="7"/>
            <p:cNvSpPr/>
            <p:nvPr/>
          </p:nvSpPr>
          <p:spPr>
            <a:xfrm flipH="false" flipV="false" rot="0">
              <a:off x="0" y="0"/>
              <a:ext cx="366014" cy="366014"/>
            </a:xfrm>
            <a:custGeom>
              <a:avLst/>
              <a:gdLst/>
              <a:ahLst/>
              <a:cxnLst/>
              <a:rect r="r" b="b" t="t" l="l"/>
              <a:pathLst>
                <a:path h="366014" w="366014">
                  <a:moveTo>
                    <a:pt x="0" y="0"/>
                  </a:moveTo>
                  <a:lnTo>
                    <a:pt x="366014" y="0"/>
                  </a:lnTo>
                  <a:lnTo>
                    <a:pt x="366014" y="366014"/>
                  </a:lnTo>
                  <a:lnTo>
                    <a:pt x="0" y="366014"/>
                  </a:lnTo>
                  <a:close/>
                </a:path>
              </a:pathLst>
            </a:custGeom>
            <a:solidFill>
              <a:srgbClr val="2F86C1"/>
            </a:solidFill>
          </p:spPr>
        </p:sp>
      </p:grpSp>
      <p:sp>
        <p:nvSpPr>
          <p:cNvPr name="TextBox 8" id="8"/>
          <p:cNvSpPr txBox="true"/>
          <p:nvPr/>
        </p:nvSpPr>
        <p:spPr>
          <a:xfrm rot="0">
            <a:off x="13022018" y="9713538"/>
            <a:ext cx="297551" cy="165163"/>
          </a:xfrm>
          <a:prstGeom prst="rect">
            <a:avLst/>
          </a:prstGeom>
        </p:spPr>
        <p:txBody>
          <a:bodyPr anchor="t" rtlCol="false" tIns="0" lIns="0" bIns="0" rIns="0">
            <a:spAutoFit/>
          </a:bodyPr>
          <a:lstStyle/>
          <a:p>
            <a:pPr algn="r">
              <a:lnSpc>
                <a:spcPts val="1260"/>
              </a:lnSpc>
            </a:pPr>
            <a:r>
              <a:rPr lang="en-US" sz="1050">
                <a:solidFill>
                  <a:srgbClr val="5E6A71"/>
                </a:solidFill>
                <a:latin typeface="Arial"/>
                <a:ea typeface="Arial"/>
                <a:cs typeface="Arial"/>
                <a:sym typeface="Arial"/>
              </a:rPr>
              <a:t>12</a:t>
            </a:r>
          </a:p>
        </p:txBody>
      </p:sp>
      <p:sp>
        <p:nvSpPr>
          <p:cNvPr name="TextBox 9" id="9"/>
          <p:cNvSpPr txBox="true"/>
          <p:nvPr/>
        </p:nvSpPr>
        <p:spPr>
          <a:xfrm rot="0">
            <a:off x="1079764" y="685552"/>
            <a:ext cx="11896639" cy="819845"/>
          </a:xfrm>
          <a:prstGeom prst="rect">
            <a:avLst/>
          </a:prstGeom>
        </p:spPr>
        <p:txBody>
          <a:bodyPr anchor="t" rtlCol="false" tIns="0" lIns="0" bIns="0" rIns="0">
            <a:spAutoFit/>
          </a:bodyPr>
          <a:lstStyle/>
          <a:p>
            <a:pPr algn="l">
              <a:lnSpc>
                <a:spcPts val="5224"/>
              </a:lnSpc>
            </a:pPr>
            <a:r>
              <a:rPr lang="en-US" sz="4353" b="true">
                <a:solidFill>
                  <a:srgbClr val="121212"/>
                </a:solidFill>
                <a:latin typeface="Arial Bold"/>
                <a:ea typeface="Arial Bold"/>
                <a:cs typeface="Arial Bold"/>
                <a:sym typeface="Arial Bold"/>
              </a:rPr>
              <a:t>GITHUB LINK</a:t>
            </a:r>
          </a:p>
        </p:txBody>
      </p:sp>
      <p:sp>
        <p:nvSpPr>
          <p:cNvPr name="TextBox 10" id="10"/>
          <p:cNvSpPr txBox="true"/>
          <p:nvPr/>
        </p:nvSpPr>
        <p:spPr>
          <a:xfrm rot="0">
            <a:off x="1217028" y="2291582"/>
            <a:ext cx="3935139" cy="339414"/>
          </a:xfrm>
          <a:prstGeom prst="rect">
            <a:avLst/>
          </a:prstGeom>
        </p:spPr>
        <p:txBody>
          <a:bodyPr anchor="t" rtlCol="false" tIns="0" lIns="0" bIns="0" rIns="0">
            <a:spAutoFit/>
          </a:bodyPr>
          <a:lstStyle/>
          <a:p>
            <a:pPr algn="l">
              <a:lnSpc>
                <a:spcPts val="1801"/>
              </a:lnSpc>
            </a:pPr>
            <a:r>
              <a:rPr lang="en-US" sz="1501" b="true">
                <a:solidFill>
                  <a:srgbClr val="2F86C1"/>
                </a:solidFill>
                <a:latin typeface="Arial Bold"/>
                <a:ea typeface="Arial Bold"/>
                <a:cs typeface="Arial Bold"/>
                <a:sym typeface="Arial Bold"/>
              </a:rPr>
              <a:t>PROJECT REPOSITORY</a:t>
            </a:r>
          </a:p>
        </p:txBody>
      </p:sp>
      <p:grpSp>
        <p:nvGrpSpPr>
          <p:cNvPr name="Group 11" id="11"/>
          <p:cNvGrpSpPr/>
          <p:nvPr/>
        </p:nvGrpSpPr>
        <p:grpSpPr>
          <a:xfrm rot="0">
            <a:off x="1118445" y="2875464"/>
            <a:ext cx="10583875" cy="1730140"/>
            <a:chOff x="0" y="0"/>
            <a:chExt cx="14111834" cy="2306853"/>
          </a:xfrm>
        </p:grpSpPr>
        <p:sp>
          <p:nvSpPr>
            <p:cNvPr name="Freeform 12" id="12"/>
            <p:cNvSpPr/>
            <p:nvPr/>
          </p:nvSpPr>
          <p:spPr>
            <a:xfrm flipH="false" flipV="false" rot="0">
              <a:off x="0" y="0"/>
              <a:ext cx="14111732" cy="2306828"/>
            </a:xfrm>
            <a:custGeom>
              <a:avLst/>
              <a:gdLst/>
              <a:ahLst/>
              <a:cxnLst/>
              <a:rect r="r" b="b" t="t" l="l"/>
              <a:pathLst>
                <a:path h="2306828" w="14111732">
                  <a:moveTo>
                    <a:pt x="0" y="384429"/>
                  </a:moveTo>
                  <a:cubicBezTo>
                    <a:pt x="0" y="172085"/>
                    <a:pt x="172085" y="0"/>
                    <a:pt x="384429" y="0"/>
                  </a:cubicBezTo>
                  <a:lnTo>
                    <a:pt x="13727303" y="0"/>
                  </a:lnTo>
                  <a:cubicBezTo>
                    <a:pt x="13939647" y="0"/>
                    <a:pt x="14111732" y="172085"/>
                    <a:pt x="14111732" y="384429"/>
                  </a:cubicBezTo>
                  <a:lnTo>
                    <a:pt x="14111732" y="1922399"/>
                  </a:lnTo>
                  <a:cubicBezTo>
                    <a:pt x="14111732" y="2134743"/>
                    <a:pt x="13939647" y="2306828"/>
                    <a:pt x="13727303" y="2306828"/>
                  </a:cubicBezTo>
                  <a:lnTo>
                    <a:pt x="384429" y="2306828"/>
                  </a:lnTo>
                  <a:cubicBezTo>
                    <a:pt x="172085" y="2306828"/>
                    <a:pt x="0" y="2134743"/>
                    <a:pt x="0" y="1922399"/>
                  </a:cubicBezTo>
                  <a:close/>
                </a:path>
              </a:pathLst>
            </a:custGeom>
            <a:solidFill>
              <a:srgbClr val="EAF4F8"/>
            </a:solidFill>
            <a:ln w="14299" cap="sq">
              <a:solidFill>
                <a:srgbClr val="CDE1EA"/>
              </a:solidFill>
              <a:prstDash val="solid"/>
              <a:miter/>
            </a:ln>
          </p:spPr>
        </p:sp>
      </p:grpSp>
      <p:sp>
        <p:nvSpPr>
          <p:cNvPr name="TextBox 13" id="13"/>
          <p:cNvSpPr txBox="true"/>
          <p:nvPr/>
        </p:nvSpPr>
        <p:spPr>
          <a:xfrm rot="0">
            <a:off x="1767126" y="3573847"/>
            <a:ext cx="9768992" cy="314325"/>
          </a:xfrm>
          <a:prstGeom prst="rect">
            <a:avLst/>
          </a:prstGeom>
        </p:spPr>
        <p:txBody>
          <a:bodyPr anchor="t" rtlCol="false" tIns="0" lIns="0" bIns="0" rIns="0">
            <a:spAutoFit/>
          </a:bodyPr>
          <a:lstStyle/>
          <a:p>
            <a:pPr algn="l">
              <a:lnSpc>
                <a:spcPts val="2341"/>
              </a:lnSpc>
            </a:pPr>
            <a:r>
              <a:rPr lang="en-US" sz="1951" u="sng">
                <a:solidFill>
                  <a:srgbClr val="0000FF"/>
                </a:solidFill>
                <a:latin typeface="Arial"/>
                <a:ea typeface="Arial"/>
                <a:cs typeface="Arial"/>
                <a:sym typeface="Arial"/>
              </a:rPr>
              <a:t>https://github.com/Debapriya1102iitp/Seasonal-Agriculture-Performance-Analysis</a:t>
            </a:r>
          </a:p>
        </p:txBody>
      </p:sp>
      <p:grpSp>
        <p:nvGrpSpPr>
          <p:cNvPr name="Group 14" id="14"/>
          <p:cNvGrpSpPr/>
          <p:nvPr/>
        </p:nvGrpSpPr>
        <p:grpSpPr>
          <a:xfrm rot="0">
            <a:off x="881447" y="6236122"/>
            <a:ext cx="3410832" cy="1789357"/>
            <a:chOff x="0" y="0"/>
            <a:chExt cx="4234955" cy="2221700"/>
          </a:xfrm>
        </p:grpSpPr>
        <p:sp>
          <p:nvSpPr>
            <p:cNvPr name="Freeform 15" id="15"/>
            <p:cNvSpPr/>
            <p:nvPr/>
          </p:nvSpPr>
          <p:spPr>
            <a:xfrm flipH="false" flipV="false" rot="0">
              <a:off x="0" y="0"/>
              <a:ext cx="4234942" cy="2221738"/>
            </a:xfrm>
            <a:custGeom>
              <a:avLst/>
              <a:gdLst/>
              <a:ahLst/>
              <a:cxnLst/>
              <a:rect r="r" b="b" t="t" l="l"/>
              <a:pathLst>
                <a:path h="2221738" w="4234942">
                  <a:moveTo>
                    <a:pt x="0" y="370332"/>
                  </a:moveTo>
                  <a:cubicBezTo>
                    <a:pt x="0" y="165735"/>
                    <a:pt x="165735" y="0"/>
                    <a:pt x="370332" y="0"/>
                  </a:cubicBezTo>
                  <a:lnTo>
                    <a:pt x="3864610" y="0"/>
                  </a:lnTo>
                  <a:cubicBezTo>
                    <a:pt x="4069080" y="0"/>
                    <a:pt x="4234942" y="165735"/>
                    <a:pt x="4234942" y="370332"/>
                  </a:cubicBezTo>
                  <a:lnTo>
                    <a:pt x="4234942" y="1851406"/>
                  </a:lnTo>
                  <a:cubicBezTo>
                    <a:pt x="4234942" y="2055876"/>
                    <a:pt x="4069207" y="2221738"/>
                    <a:pt x="3864610" y="2221738"/>
                  </a:cubicBezTo>
                  <a:lnTo>
                    <a:pt x="370332" y="2221738"/>
                  </a:lnTo>
                  <a:cubicBezTo>
                    <a:pt x="165735" y="2221738"/>
                    <a:pt x="0" y="2055876"/>
                    <a:pt x="0" y="1851406"/>
                  </a:cubicBezTo>
                  <a:close/>
                </a:path>
              </a:pathLst>
            </a:custGeom>
            <a:solidFill>
              <a:srgbClr val="FFFFFF"/>
            </a:solidFill>
            <a:ln w="19065" cap="sq">
              <a:solidFill>
                <a:srgbClr val="DCE4E8"/>
              </a:solidFill>
              <a:prstDash val="solid"/>
              <a:miter/>
            </a:ln>
          </p:spPr>
        </p:sp>
      </p:grpSp>
      <p:grpSp>
        <p:nvGrpSpPr>
          <p:cNvPr name="Group 16" id="16"/>
          <p:cNvGrpSpPr/>
          <p:nvPr/>
        </p:nvGrpSpPr>
        <p:grpSpPr>
          <a:xfrm rot="0">
            <a:off x="881447" y="6307198"/>
            <a:ext cx="96088" cy="1647206"/>
            <a:chOff x="0" y="0"/>
            <a:chExt cx="128118" cy="2196274"/>
          </a:xfrm>
        </p:grpSpPr>
        <p:sp>
          <p:nvSpPr>
            <p:cNvPr name="Freeform 17" id="17"/>
            <p:cNvSpPr/>
            <p:nvPr/>
          </p:nvSpPr>
          <p:spPr>
            <a:xfrm flipH="false" flipV="false" rot="0">
              <a:off x="0" y="0"/>
              <a:ext cx="128143" cy="2196338"/>
            </a:xfrm>
            <a:custGeom>
              <a:avLst/>
              <a:gdLst/>
              <a:ahLst/>
              <a:cxnLst/>
              <a:rect r="r" b="b" t="t" l="l"/>
              <a:pathLst>
                <a:path h="2196338" w="128143">
                  <a:moveTo>
                    <a:pt x="0" y="0"/>
                  </a:moveTo>
                  <a:lnTo>
                    <a:pt x="128143" y="0"/>
                  </a:lnTo>
                  <a:lnTo>
                    <a:pt x="128143" y="2196338"/>
                  </a:lnTo>
                  <a:lnTo>
                    <a:pt x="0" y="2196338"/>
                  </a:lnTo>
                  <a:close/>
                </a:path>
              </a:pathLst>
            </a:custGeom>
            <a:solidFill>
              <a:srgbClr val="41B45A"/>
            </a:solidFill>
          </p:spPr>
        </p:sp>
      </p:grpSp>
      <p:sp>
        <p:nvSpPr>
          <p:cNvPr name="TextBox 18" id="18"/>
          <p:cNvSpPr txBox="true"/>
          <p:nvPr/>
        </p:nvSpPr>
        <p:spPr>
          <a:xfrm rot="0">
            <a:off x="1457258" y="6394228"/>
            <a:ext cx="2493826" cy="247650"/>
          </a:xfrm>
          <a:prstGeom prst="rect">
            <a:avLst/>
          </a:prstGeom>
        </p:spPr>
        <p:txBody>
          <a:bodyPr anchor="t" rtlCol="false" tIns="0" lIns="0" bIns="0" rIns="0">
            <a:spAutoFit/>
          </a:bodyPr>
          <a:lstStyle/>
          <a:p>
            <a:pPr algn="l">
              <a:lnSpc>
                <a:spcPts val="1801"/>
              </a:lnSpc>
            </a:pPr>
            <a:r>
              <a:rPr lang="en-US" sz="1501">
                <a:solidFill>
                  <a:srgbClr val="5E6A71"/>
                </a:solidFill>
                <a:latin typeface="Arial"/>
                <a:ea typeface="Arial"/>
                <a:cs typeface="Arial"/>
                <a:sym typeface="Arial"/>
              </a:rPr>
              <a:t>DELIVERABLE</a:t>
            </a:r>
          </a:p>
        </p:txBody>
      </p:sp>
      <p:sp>
        <p:nvSpPr>
          <p:cNvPr name="TextBox 19" id="19"/>
          <p:cNvSpPr txBox="true"/>
          <p:nvPr/>
        </p:nvSpPr>
        <p:spPr>
          <a:xfrm rot="0">
            <a:off x="1510989" y="6642611"/>
            <a:ext cx="2493826" cy="623468"/>
          </a:xfrm>
          <a:prstGeom prst="rect">
            <a:avLst/>
          </a:prstGeom>
        </p:spPr>
        <p:txBody>
          <a:bodyPr anchor="t" rtlCol="false" tIns="0" lIns="0" bIns="0" rIns="0">
            <a:spAutoFit/>
          </a:bodyPr>
          <a:lstStyle/>
          <a:p>
            <a:pPr algn="l">
              <a:lnSpc>
                <a:spcPts val="3963"/>
              </a:lnSpc>
            </a:pPr>
            <a:r>
              <a:rPr lang="en-US" sz="3302" b="true">
                <a:solidFill>
                  <a:srgbClr val="41B45A"/>
                </a:solidFill>
                <a:latin typeface="Arial Bold"/>
                <a:ea typeface="Arial Bold"/>
                <a:cs typeface="Arial Bold"/>
                <a:sym typeface="Arial Bold"/>
              </a:rPr>
              <a:t>Analysis notebook</a:t>
            </a:r>
          </a:p>
        </p:txBody>
      </p:sp>
      <p:sp>
        <p:nvSpPr>
          <p:cNvPr name="TextBox 20" id="20"/>
          <p:cNvSpPr txBox="true"/>
          <p:nvPr/>
        </p:nvSpPr>
        <p:spPr>
          <a:xfrm rot="0">
            <a:off x="1519018" y="7681979"/>
            <a:ext cx="2493826" cy="27899"/>
          </a:xfrm>
          <a:prstGeom prst="rect">
            <a:avLst/>
          </a:prstGeom>
        </p:spPr>
        <p:txBody>
          <a:bodyPr anchor="t" rtlCol="false" tIns="0" lIns="0" bIns="0" rIns="0">
            <a:spAutoFit/>
          </a:bodyPr>
          <a:lstStyle/>
          <a:p>
            <a:pPr algn="l">
              <a:lnSpc>
                <a:spcPts val="1891"/>
              </a:lnSpc>
            </a:pPr>
            <a:r>
              <a:rPr lang="en-US" sz="1576">
                <a:solidFill>
                  <a:srgbClr val="313C42"/>
                </a:solidFill>
                <a:latin typeface="Arial"/>
                <a:ea typeface="Arial"/>
                <a:cs typeface="Arial"/>
                <a:sym typeface="Arial"/>
              </a:rPr>
              <a:t>Executed project workflow</a:t>
            </a:r>
          </a:p>
        </p:txBody>
      </p:sp>
      <p:grpSp>
        <p:nvGrpSpPr>
          <p:cNvPr name="Group 21" id="21"/>
          <p:cNvGrpSpPr/>
          <p:nvPr/>
        </p:nvGrpSpPr>
        <p:grpSpPr>
          <a:xfrm rot="0">
            <a:off x="4416104" y="6236122"/>
            <a:ext cx="3542468" cy="1858414"/>
            <a:chOff x="0" y="0"/>
            <a:chExt cx="4234955" cy="2221700"/>
          </a:xfrm>
        </p:grpSpPr>
        <p:sp>
          <p:nvSpPr>
            <p:cNvPr name="Freeform 22" id="22"/>
            <p:cNvSpPr/>
            <p:nvPr/>
          </p:nvSpPr>
          <p:spPr>
            <a:xfrm flipH="false" flipV="false" rot="0">
              <a:off x="0" y="0"/>
              <a:ext cx="4234942" cy="2221738"/>
            </a:xfrm>
            <a:custGeom>
              <a:avLst/>
              <a:gdLst/>
              <a:ahLst/>
              <a:cxnLst/>
              <a:rect r="r" b="b" t="t" l="l"/>
              <a:pathLst>
                <a:path h="2221738" w="4234942">
                  <a:moveTo>
                    <a:pt x="0" y="370332"/>
                  </a:moveTo>
                  <a:cubicBezTo>
                    <a:pt x="0" y="165735"/>
                    <a:pt x="165735" y="0"/>
                    <a:pt x="370332" y="0"/>
                  </a:cubicBezTo>
                  <a:lnTo>
                    <a:pt x="3864610" y="0"/>
                  </a:lnTo>
                  <a:cubicBezTo>
                    <a:pt x="4069080" y="0"/>
                    <a:pt x="4234942" y="165735"/>
                    <a:pt x="4234942" y="370332"/>
                  </a:cubicBezTo>
                  <a:lnTo>
                    <a:pt x="4234942" y="1851406"/>
                  </a:lnTo>
                  <a:cubicBezTo>
                    <a:pt x="4234942" y="2055876"/>
                    <a:pt x="4069207" y="2221738"/>
                    <a:pt x="3864610" y="2221738"/>
                  </a:cubicBezTo>
                  <a:lnTo>
                    <a:pt x="370332" y="2221738"/>
                  </a:lnTo>
                  <a:cubicBezTo>
                    <a:pt x="165735" y="2221738"/>
                    <a:pt x="0" y="2055876"/>
                    <a:pt x="0" y="1851406"/>
                  </a:cubicBezTo>
                  <a:close/>
                </a:path>
              </a:pathLst>
            </a:custGeom>
            <a:solidFill>
              <a:srgbClr val="FFFFFF"/>
            </a:solidFill>
            <a:ln w="19065" cap="sq">
              <a:solidFill>
                <a:srgbClr val="DCE4E8"/>
              </a:solidFill>
              <a:prstDash val="solid"/>
              <a:miter/>
            </a:ln>
          </p:spPr>
        </p:sp>
      </p:grpSp>
      <p:grpSp>
        <p:nvGrpSpPr>
          <p:cNvPr name="Group 23" id="23"/>
          <p:cNvGrpSpPr/>
          <p:nvPr/>
        </p:nvGrpSpPr>
        <p:grpSpPr>
          <a:xfrm rot="0">
            <a:off x="4416104" y="6340731"/>
            <a:ext cx="96088" cy="1647206"/>
            <a:chOff x="0" y="0"/>
            <a:chExt cx="128118" cy="2196274"/>
          </a:xfrm>
        </p:grpSpPr>
        <p:sp>
          <p:nvSpPr>
            <p:cNvPr name="Freeform 24" id="24"/>
            <p:cNvSpPr/>
            <p:nvPr/>
          </p:nvSpPr>
          <p:spPr>
            <a:xfrm flipH="false" flipV="false" rot="0">
              <a:off x="0" y="0"/>
              <a:ext cx="128143" cy="2196338"/>
            </a:xfrm>
            <a:custGeom>
              <a:avLst/>
              <a:gdLst/>
              <a:ahLst/>
              <a:cxnLst/>
              <a:rect r="r" b="b" t="t" l="l"/>
              <a:pathLst>
                <a:path h="2196338" w="128143">
                  <a:moveTo>
                    <a:pt x="0" y="0"/>
                  </a:moveTo>
                  <a:lnTo>
                    <a:pt x="128143" y="0"/>
                  </a:lnTo>
                  <a:lnTo>
                    <a:pt x="128143" y="2196338"/>
                  </a:lnTo>
                  <a:lnTo>
                    <a:pt x="0" y="2196338"/>
                  </a:lnTo>
                  <a:close/>
                </a:path>
              </a:pathLst>
            </a:custGeom>
            <a:solidFill>
              <a:srgbClr val="2F86C1"/>
            </a:solidFill>
          </p:spPr>
        </p:sp>
      </p:grpSp>
      <p:sp>
        <p:nvSpPr>
          <p:cNvPr name="TextBox 25" id="25"/>
          <p:cNvSpPr txBox="true"/>
          <p:nvPr/>
        </p:nvSpPr>
        <p:spPr>
          <a:xfrm rot="0">
            <a:off x="4920063" y="6359223"/>
            <a:ext cx="2493826" cy="311963"/>
          </a:xfrm>
          <a:prstGeom prst="rect">
            <a:avLst/>
          </a:prstGeom>
        </p:spPr>
        <p:txBody>
          <a:bodyPr anchor="t" rtlCol="false" tIns="0" lIns="0" bIns="0" rIns="0">
            <a:spAutoFit/>
          </a:bodyPr>
          <a:lstStyle/>
          <a:p>
            <a:pPr algn="l">
              <a:lnSpc>
                <a:spcPts val="1801"/>
              </a:lnSpc>
            </a:pPr>
            <a:r>
              <a:rPr lang="en-US" sz="1501" b="true">
                <a:solidFill>
                  <a:srgbClr val="5E6A71"/>
                </a:solidFill>
                <a:latin typeface="Arial Bold"/>
                <a:ea typeface="Arial Bold"/>
                <a:cs typeface="Arial Bold"/>
                <a:sym typeface="Arial Bold"/>
              </a:rPr>
              <a:t>DATA</a:t>
            </a:r>
          </a:p>
        </p:txBody>
      </p:sp>
      <p:sp>
        <p:nvSpPr>
          <p:cNvPr name="TextBox 26" id="26"/>
          <p:cNvSpPr txBox="true"/>
          <p:nvPr/>
        </p:nvSpPr>
        <p:spPr>
          <a:xfrm rot="0">
            <a:off x="4950704" y="6677616"/>
            <a:ext cx="2493826" cy="623468"/>
          </a:xfrm>
          <a:prstGeom prst="rect">
            <a:avLst/>
          </a:prstGeom>
        </p:spPr>
        <p:txBody>
          <a:bodyPr anchor="t" rtlCol="false" tIns="0" lIns="0" bIns="0" rIns="0">
            <a:spAutoFit/>
          </a:bodyPr>
          <a:lstStyle/>
          <a:p>
            <a:pPr algn="l">
              <a:lnSpc>
                <a:spcPts val="3963"/>
              </a:lnSpc>
            </a:pPr>
            <a:r>
              <a:rPr lang="en-US" sz="3302" b="true">
                <a:solidFill>
                  <a:srgbClr val="2F86C1"/>
                </a:solidFill>
                <a:latin typeface="Arial Bold"/>
                <a:ea typeface="Arial Bold"/>
                <a:cs typeface="Arial Bold"/>
                <a:sym typeface="Arial Bold"/>
              </a:rPr>
              <a:t>Agriculture dataset</a:t>
            </a:r>
          </a:p>
        </p:txBody>
      </p:sp>
      <p:sp>
        <p:nvSpPr>
          <p:cNvPr name="TextBox 27" id="27"/>
          <p:cNvSpPr txBox="true"/>
          <p:nvPr/>
        </p:nvSpPr>
        <p:spPr>
          <a:xfrm rot="0">
            <a:off x="4950704" y="7681979"/>
            <a:ext cx="2493826" cy="27899"/>
          </a:xfrm>
          <a:prstGeom prst="rect">
            <a:avLst/>
          </a:prstGeom>
        </p:spPr>
        <p:txBody>
          <a:bodyPr anchor="t" rtlCol="false" tIns="0" lIns="0" bIns="0" rIns="0">
            <a:spAutoFit/>
          </a:bodyPr>
          <a:lstStyle/>
          <a:p>
            <a:pPr algn="l">
              <a:lnSpc>
                <a:spcPts val="1891"/>
              </a:lnSpc>
            </a:pPr>
            <a:r>
              <a:rPr lang="en-US" sz="1576">
                <a:solidFill>
                  <a:srgbClr val="313C42"/>
                </a:solidFill>
                <a:latin typeface="Arial"/>
                <a:ea typeface="Arial"/>
                <a:cs typeface="Arial"/>
                <a:sym typeface="Arial"/>
              </a:rPr>
              <a:t>4,000 records × 28 fields</a:t>
            </a:r>
          </a:p>
        </p:txBody>
      </p:sp>
      <p:grpSp>
        <p:nvGrpSpPr>
          <p:cNvPr name="Group 28" id="28"/>
          <p:cNvGrpSpPr/>
          <p:nvPr/>
        </p:nvGrpSpPr>
        <p:grpSpPr>
          <a:xfrm rot="0">
            <a:off x="8085039" y="6245657"/>
            <a:ext cx="3617281" cy="1897662"/>
            <a:chOff x="0" y="0"/>
            <a:chExt cx="4234955" cy="2221700"/>
          </a:xfrm>
        </p:grpSpPr>
        <p:sp>
          <p:nvSpPr>
            <p:cNvPr name="Freeform 29" id="29"/>
            <p:cNvSpPr/>
            <p:nvPr/>
          </p:nvSpPr>
          <p:spPr>
            <a:xfrm flipH="false" flipV="false" rot="0">
              <a:off x="0" y="0"/>
              <a:ext cx="4234942" cy="2221738"/>
            </a:xfrm>
            <a:custGeom>
              <a:avLst/>
              <a:gdLst/>
              <a:ahLst/>
              <a:cxnLst/>
              <a:rect r="r" b="b" t="t" l="l"/>
              <a:pathLst>
                <a:path h="2221738" w="4234942">
                  <a:moveTo>
                    <a:pt x="0" y="370332"/>
                  </a:moveTo>
                  <a:cubicBezTo>
                    <a:pt x="0" y="165735"/>
                    <a:pt x="165735" y="0"/>
                    <a:pt x="370332" y="0"/>
                  </a:cubicBezTo>
                  <a:lnTo>
                    <a:pt x="3864610" y="0"/>
                  </a:lnTo>
                  <a:cubicBezTo>
                    <a:pt x="4069080" y="0"/>
                    <a:pt x="4234942" y="165735"/>
                    <a:pt x="4234942" y="370332"/>
                  </a:cubicBezTo>
                  <a:lnTo>
                    <a:pt x="4234942" y="1851406"/>
                  </a:lnTo>
                  <a:cubicBezTo>
                    <a:pt x="4234942" y="2055876"/>
                    <a:pt x="4069207" y="2221738"/>
                    <a:pt x="3864610" y="2221738"/>
                  </a:cubicBezTo>
                  <a:lnTo>
                    <a:pt x="370332" y="2221738"/>
                  </a:lnTo>
                  <a:cubicBezTo>
                    <a:pt x="165735" y="2221738"/>
                    <a:pt x="0" y="2055876"/>
                    <a:pt x="0" y="1851406"/>
                  </a:cubicBezTo>
                  <a:close/>
                </a:path>
              </a:pathLst>
            </a:custGeom>
            <a:solidFill>
              <a:srgbClr val="FFFFFF"/>
            </a:solidFill>
            <a:ln w="19065" cap="sq">
              <a:solidFill>
                <a:srgbClr val="DCE4E8"/>
              </a:solidFill>
              <a:prstDash val="solid"/>
              <a:miter/>
            </a:ln>
          </p:spPr>
        </p:sp>
      </p:grpSp>
      <p:grpSp>
        <p:nvGrpSpPr>
          <p:cNvPr name="Group 30" id="30"/>
          <p:cNvGrpSpPr/>
          <p:nvPr/>
        </p:nvGrpSpPr>
        <p:grpSpPr>
          <a:xfrm rot="0">
            <a:off x="8049444" y="6378273"/>
            <a:ext cx="96088" cy="1647206"/>
            <a:chOff x="0" y="0"/>
            <a:chExt cx="128118" cy="2196274"/>
          </a:xfrm>
        </p:grpSpPr>
        <p:sp>
          <p:nvSpPr>
            <p:cNvPr name="Freeform 31" id="31"/>
            <p:cNvSpPr/>
            <p:nvPr/>
          </p:nvSpPr>
          <p:spPr>
            <a:xfrm flipH="false" flipV="false" rot="0">
              <a:off x="0" y="0"/>
              <a:ext cx="128143" cy="2196338"/>
            </a:xfrm>
            <a:custGeom>
              <a:avLst/>
              <a:gdLst/>
              <a:ahLst/>
              <a:cxnLst/>
              <a:rect r="r" b="b" t="t" l="l"/>
              <a:pathLst>
                <a:path h="2196338" w="128143">
                  <a:moveTo>
                    <a:pt x="0" y="0"/>
                  </a:moveTo>
                  <a:lnTo>
                    <a:pt x="128143" y="0"/>
                  </a:lnTo>
                  <a:lnTo>
                    <a:pt x="128143" y="2196338"/>
                  </a:lnTo>
                  <a:lnTo>
                    <a:pt x="0" y="2196338"/>
                  </a:lnTo>
                  <a:close/>
                </a:path>
              </a:pathLst>
            </a:custGeom>
            <a:solidFill>
              <a:srgbClr val="55C3E6"/>
            </a:solidFill>
          </p:spPr>
        </p:sp>
      </p:grpSp>
      <p:sp>
        <p:nvSpPr>
          <p:cNvPr name="TextBox 32" id="32"/>
          <p:cNvSpPr txBox="true"/>
          <p:nvPr/>
        </p:nvSpPr>
        <p:spPr>
          <a:xfrm rot="0">
            <a:off x="8382381" y="6394228"/>
            <a:ext cx="2493826" cy="311963"/>
          </a:xfrm>
          <a:prstGeom prst="rect">
            <a:avLst/>
          </a:prstGeom>
        </p:spPr>
        <p:txBody>
          <a:bodyPr anchor="t" rtlCol="false" tIns="0" lIns="0" bIns="0" rIns="0">
            <a:spAutoFit/>
          </a:bodyPr>
          <a:lstStyle/>
          <a:p>
            <a:pPr algn="l">
              <a:lnSpc>
                <a:spcPts val="1801"/>
              </a:lnSpc>
            </a:pPr>
            <a:r>
              <a:rPr lang="en-US" sz="1501" b="true">
                <a:solidFill>
                  <a:srgbClr val="5E6A71"/>
                </a:solidFill>
                <a:latin typeface="Arial Bold"/>
                <a:ea typeface="Arial Bold"/>
                <a:cs typeface="Arial Bold"/>
                <a:sym typeface="Arial Bold"/>
              </a:rPr>
              <a:t>OUTPUT</a:t>
            </a:r>
          </a:p>
        </p:txBody>
      </p:sp>
      <p:sp>
        <p:nvSpPr>
          <p:cNvPr name="TextBox 33" id="33"/>
          <p:cNvSpPr txBox="true"/>
          <p:nvPr/>
        </p:nvSpPr>
        <p:spPr>
          <a:xfrm rot="0">
            <a:off x="8382381" y="6677616"/>
            <a:ext cx="2493826" cy="623468"/>
          </a:xfrm>
          <a:prstGeom prst="rect">
            <a:avLst/>
          </a:prstGeom>
        </p:spPr>
        <p:txBody>
          <a:bodyPr anchor="t" rtlCol="false" tIns="0" lIns="0" bIns="0" rIns="0">
            <a:spAutoFit/>
          </a:bodyPr>
          <a:lstStyle/>
          <a:p>
            <a:pPr algn="l">
              <a:lnSpc>
                <a:spcPts val="3963"/>
              </a:lnSpc>
            </a:pPr>
            <a:r>
              <a:rPr lang="en-US" sz="3302" b="true">
                <a:solidFill>
                  <a:srgbClr val="55C3E6"/>
                </a:solidFill>
                <a:latin typeface="Arial Bold"/>
                <a:ea typeface="Arial Bold"/>
                <a:cs typeface="Arial Bold"/>
                <a:sym typeface="Arial Bold"/>
              </a:rPr>
              <a:t>Major project PPT</a:t>
            </a:r>
          </a:p>
        </p:txBody>
      </p:sp>
      <p:sp>
        <p:nvSpPr>
          <p:cNvPr name="TextBox 34" id="34"/>
          <p:cNvSpPr txBox="true"/>
          <p:nvPr/>
        </p:nvSpPr>
        <p:spPr>
          <a:xfrm rot="0">
            <a:off x="8208864" y="7681979"/>
            <a:ext cx="2493826" cy="27899"/>
          </a:xfrm>
          <a:prstGeom prst="rect">
            <a:avLst/>
          </a:prstGeom>
        </p:spPr>
        <p:txBody>
          <a:bodyPr anchor="t" rtlCol="false" tIns="0" lIns="0" bIns="0" rIns="0">
            <a:spAutoFit/>
          </a:bodyPr>
          <a:lstStyle/>
          <a:p>
            <a:pPr algn="l">
              <a:lnSpc>
                <a:spcPts val="1891"/>
              </a:lnSpc>
            </a:pPr>
            <a:r>
              <a:rPr lang="en-US" sz="1576">
                <a:solidFill>
                  <a:srgbClr val="313C42"/>
                </a:solidFill>
                <a:latin typeface="Arial"/>
                <a:ea typeface="Arial"/>
                <a:cs typeface="Arial"/>
                <a:sym typeface="Arial"/>
              </a:rPr>
              <a:t>Seasonal findings &amp; recommendations</a:t>
            </a:r>
          </a:p>
        </p:txBody>
      </p:sp>
      <p:sp>
        <p:nvSpPr>
          <p:cNvPr name="TextBox 35" id="35"/>
          <p:cNvSpPr txBox="true"/>
          <p:nvPr/>
        </p:nvSpPr>
        <p:spPr>
          <a:xfrm rot="0">
            <a:off x="1217028" y="4877533"/>
            <a:ext cx="4949947" cy="247650"/>
          </a:xfrm>
          <a:prstGeom prst="rect">
            <a:avLst/>
          </a:prstGeom>
        </p:spPr>
        <p:txBody>
          <a:bodyPr anchor="t" rtlCol="false" tIns="0" lIns="0" bIns="0" rIns="0">
            <a:spAutoFit/>
          </a:bodyPr>
          <a:lstStyle/>
          <a:p>
            <a:pPr algn="l">
              <a:lnSpc>
                <a:spcPts val="1801"/>
              </a:lnSpc>
            </a:pPr>
            <a:r>
              <a:rPr lang="en-US" sz="1501">
                <a:solidFill>
                  <a:srgbClr val="121212"/>
                </a:solidFill>
                <a:latin typeface="Arial"/>
                <a:ea typeface="Arial"/>
                <a:cs typeface="Arial"/>
                <a:sym typeface="Arial"/>
              </a:rPr>
              <a:t>This link will directly guide to the github repository</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3726725" y="0"/>
            <a:ext cx="4575115" cy="10295039"/>
            <a:chOff x="0" y="0"/>
            <a:chExt cx="6100153" cy="13726719"/>
          </a:xfrm>
        </p:grpSpPr>
        <p:sp>
          <p:nvSpPr>
            <p:cNvPr name="Freeform 3" id="3" descr="agri_template_right_strip.png"/>
            <p:cNvSpPr/>
            <p:nvPr/>
          </p:nvSpPr>
          <p:spPr>
            <a:xfrm flipH="false" flipV="false" rot="0">
              <a:off x="0" y="0"/>
              <a:ext cx="6100191" cy="13726668"/>
            </a:xfrm>
            <a:custGeom>
              <a:avLst/>
              <a:gdLst/>
              <a:ahLst/>
              <a:cxnLst/>
              <a:rect r="r" b="b" t="t" l="l"/>
              <a:pathLst>
                <a:path h="13726668" w="6100191">
                  <a:moveTo>
                    <a:pt x="0" y="0"/>
                  </a:moveTo>
                  <a:lnTo>
                    <a:pt x="6100191" y="0"/>
                  </a:lnTo>
                  <a:lnTo>
                    <a:pt x="6100191" y="13726668"/>
                  </a:lnTo>
                  <a:lnTo>
                    <a:pt x="0" y="13726668"/>
                  </a:lnTo>
                  <a:lnTo>
                    <a:pt x="0" y="0"/>
                  </a:lnTo>
                  <a:close/>
                </a:path>
              </a:pathLst>
            </a:custGeom>
            <a:blipFill>
              <a:blip r:embed="rId2"/>
              <a:stretch>
                <a:fillRect l="-4" t="0" r="-4" b="0"/>
              </a:stretch>
            </a:blipFill>
          </p:spPr>
        </p:sp>
      </p:grpSp>
      <p:grpSp>
        <p:nvGrpSpPr>
          <p:cNvPr name="Group 4" id="4"/>
          <p:cNvGrpSpPr/>
          <p:nvPr/>
        </p:nvGrpSpPr>
        <p:grpSpPr>
          <a:xfrm rot="0">
            <a:off x="-466706" y="6890814"/>
            <a:ext cx="1372676" cy="3706216"/>
            <a:chOff x="0" y="0"/>
            <a:chExt cx="1830235" cy="4941621"/>
          </a:xfrm>
        </p:grpSpPr>
        <p:sp>
          <p:nvSpPr>
            <p:cNvPr name="Freeform 5" id="5"/>
            <p:cNvSpPr/>
            <p:nvPr/>
          </p:nvSpPr>
          <p:spPr>
            <a:xfrm flipH="false" flipV="false" rot="0">
              <a:off x="0" y="0"/>
              <a:ext cx="1830324" cy="4941570"/>
            </a:xfrm>
            <a:custGeom>
              <a:avLst/>
              <a:gdLst/>
              <a:ahLst/>
              <a:cxnLst/>
              <a:rect r="r" b="b" t="t" l="l"/>
              <a:pathLst>
                <a:path h="4941570" w="1830324">
                  <a:moveTo>
                    <a:pt x="0" y="4941570"/>
                  </a:moveTo>
                  <a:lnTo>
                    <a:pt x="915162" y="0"/>
                  </a:lnTo>
                  <a:lnTo>
                    <a:pt x="1830324" y="4941570"/>
                  </a:lnTo>
                  <a:close/>
                </a:path>
              </a:pathLst>
            </a:custGeom>
            <a:solidFill>
              <a:srgbClr val="55C3E6"/>
            </a:solidFill>
          </p:spPr>
        </p:sp>
      </p:grpSp>
      <p:grpSp>
        <p:nvGrpSpPr>
          <p:cNvPr name="Group 6" id="6"/>
          <p:cNvGrpSpPr/>
          <p:nvPr/>
        </p:nvGrpSpPr>
        <p:grpSpPr>
          <a:xfrm rot="0">
            <a:off x="15877013" y="1708975"/>
            <a:ext cx="274539" cy="274539"/>
            <a:chOff x="0" y="0"/>
            <a:chExt cx="366052" cy="366052"/>
          </a:xfrm>
        </p:grpSpPr>
        <p:sp>
          <p:nvSpPr>
            <p:cNvPr name="Freeform 7" id="7"/>
            <p:cNvSpPr/>
            <p:nvPr/>
          </p:nvSpPr>
          <p:spPr>
            <a:xfrm flipH="false" flipV="false" rot="0">
              <a:off x="0" y="0"/>
              <a:ext cx="366014" cy="366014"/>
            </a:xfrm>
            <a:custGeom>
              <a:avLst/>
              <a:gdLst/>
              <a:ahLst/>
              <a:cxnLst/>
              <a:rect r="r" b="b" t="t" l="l"/>
              <a:pathLst>
                <a:path h="366014" w="366014">
                  <a:moveTo>
                    <a:pt x="0" y="0"/>
                  </a:moveTo>
                  <a:lnTo>
                    <a:pt x="366014" y="0"/>
                  </a:lnTo>
                  <a:lnTo>
                    <a:pt x="366014" y="366014"/>
                  </a:lnTo>
                  <a:lnTo>
                    <a:pt x="0" y="366014"/>
                  </a:lnTo>
                  <a:close/>
                </a:path>
              </a:pathLst>
            </a:custGeom>
            <a:solidFill>
              <a:srgbClr val="2F86C1"/>
            </a:solidFill>
          </p:spPr>
        </p:sp>
      </p:grpSp>
      <p:grpSp>
        <p:nvGrpSpPr>
          <p:cNvPr name="Group 8" id="8"/>
          <p:cNvGrpSpPr/>
          <p:nvPr/>
        </p:nvGrpSpPr>
        <p:grpSpPr>
          <a:xfrm rot="0">
            <a:off x="459853" y="2051980"/>
            <a:ext cx="892235" cy="754971"/>
            <a:chOff x="0" y="0"/>
            <a:chExt cx="1189647" cy="1006627"/>
          </a:xfrm>
        </p:grpSpPr>
        <p:sp>
          <p:nvSpPr>
            <p:cNvPr name="Freeform 9" id="9"/>
            <p:cNvSpPr/>
            <p:nvPr/>
          </p:nvSpPr>
          <p:spPr>
            <a:xfrm flipH="false" flipV="false" rot="0">
              <a:off x="0" y="0"/>
              <a:ext cx="1189609" cy="1006602"/>
            </a:xfrm>
            <a:custGeom>
              <a:avLst/>
              <a:gdLst/>
              <a:ahLst/>
              <a:cxnLst/>
              <a:rect r="r" b="b" t="t" l="l"/>
              <a:pathLst>
                <a:path h="1006602" w="1189609">
                  <a:moveTo>
                    <a:pt x="0" y="503301"/>
                  </a:moveTo>
                  <a:lnTo>
                    <a:pt x="251714" y="0"/>
                  </a:lnTo>
                  <a:lnTo>
                    <a:pt x="938022" y="0"/>
                  </a:lnTo>
                  <a:lnTo>
                    <a:pt x="1189609" y="503301"/>
                  </a:lnTo>
                  <a:lnTo>
                    <a:pt x="938022" y="1006602"/>
                  </a:lnTo>
                  <a:lnTo>
                    <a:pt x="251714" y="1006602"/>
                  </a:lnTo>
                  <a:close/>
                </a:path>
              </a:pathLst>
            </a:custGeom>
            <a:solidFill>
              <a:srgbClr val="55C3E6"/>
            </a:solidFill>
          </p:spPr>
        </p:sp>
      </p:grpSp>
      <p:grpSp>
        <p:nvGrpSpPr>
          <p:cNvPr name="Group 10" id="10"/>
          <p:cNvGrpSpPr/>
          <p:nvPr/>
        </p:nvGrpSpPr>
        <p:grpSpPr>
          <a:xfrm rot="0">
            <a:off x="15122047" y="1983515"/>
            <a:ext cx="892235" cy="754971"/>
            <a:chOff x="0" y="0"/>
            <a:chExt cx="1189647" cy="1006627"/>
          </a:xfrm>
        </p:grpSpPr>
        <p:sp>
          <p:nvSpPr>
            <p:cNvPr name="Freeform 11" id="11"/>
            <p:cNvSpPr/>
            <p:nvPr/>
          </p:nvSpPr>
          <p:spPr>
            <a:xfrm flipH="false" flipV="false" rot="0">
              <a:off x="0" y="0"/>
              <a:ext cx="1189609" cy="1006602"/>
            </a:xfrm>
            <a:custGeom>
              <a:avLst/>
              <a:gdLst/>
              <a:ahLst/>
              <a:cxnLst/>
              <a:rect r="r" b="b" t="t" l="l"/>
              <a:pathLst>
                <a:path h="1006602" w="1189609">
                  <a:moveTo>
                    <a:pt x="0" y="503301"/>
                  </a:moveTo>
                  <a:lnTo>
                    <a:pt x="251714" y="0"/>
                  </a:lnTo>
                  <a:lnTo>
                    <a:pt x="938022" y="0"/>
                  </a:lnTo>
                  <a:lnTo>
                    <a:pt x="1189609" y="503301"/>
                  </a:lnTo>
                  <a:lnTo>
                    <a:pt x="938022" y="1006602"/>
                  </a:lnTo>
                  <a:lnTo>
                    <a:pt x="251714" y="1006602"/>
                  </a:lnTo>
                  <a:close/>
                </a:path>
              </a:pathLst>
            </a:custGeom>
            <a:solidFill>
              <a:srgbClr val="41B45A"/>
            </a:solidFill>
          </p:spPr>
        </p:sp>
      </p:grpSp>
      <p:sp>
        <p:nvSpPr>
          <p:cNvPr name="Freeform 12" id="12"/>
          <p:cNvSpPr/>
          <p:nvPr/>
        </p:nvSpPr>
        <p:spPr>
          <a:xfrm flipH="false" flipV="false" rot="0">
            <a:off x="4343841" y="2437010"/>
            <a:ext cx="8975729" cy="6354441"/>
          </a:xfrm>
          <a:custGeom>
            <a:avLst/>
            <a:gdLst/>
            <a:ahLst/>
            <a:cxnLst/>
            <a:rect r="r" b="b" t="t" l="l"/>
            <a:pathLst>
              <a:path h="6354441" w="8975729">
                <a:moveTo>
                  <a:pt x="0" y="0"/>
                </a:moveTo>
                <a:lnTo>
                  <a:pt x="8975729" y="0"/>
                </a:lnTo>
                <a:lnTo>
                  <a:pt x="8975729" y="6354441"/>
                </a:lnTo>
                <a:lnTo>
                  <a:pt x="0" y="6354441"/>
                </a:lnTo>
                <a:lnTo>
                  <a:pt x="0" y="0"/>
                </a:lnTo>
                <a:close/>
              </a:path>
            </a:pathLst>
          </a:custGeom>
          <a:blipFill>
            <a:blip r:embed="rId3"/>
            <a:stretch>
              <a:fillRect l="-966" t="-1519" r="-966" b="0"/>
            </a:stretch>
          </a:blipFill>
        </p:spPr>
      </p:sp>
      <p:sp>
        <p:nvSpPr>
          <p:cNvPr name="TextBox 13" id="13"/>
          <p:cNvSpPr txBox="true"/>
          <p:nvPr/>
        </p:nvSpPr>
        <p:spPr>
          <a:xfrm rot="0">
            <a:off x="13022018" y="9713538"/>
            <a:ext cx="297551" cy="165163"/>
          </a:xfrm>
          <a:prstGeom prst="rect">
            <a:avLst/>
          </a:prstGeom>
        </p:spPr>
        <p:txBody>
          <a:bodyPr anchor="t" rtlCol="false" tIns="0" lIns="0" bIns="0" rIns="0">
            <a:spAutoFit/>
          </a:bodyPr>
          <a:lstStyle/>
          <a:p>
            <a:pPr algn="r">
              <a:lnSpc>
                <a:spcPts val="1260"/>
              </a:lnSpc>
            </a:pPr>
            <a:r>
              <a:rPr lang="en-US" sz="1050">
                <a:solidFill>
                  <a:srgbClr val="5E6A71"/>
                </a:solidFill>
                <a:latin typeface="Arial"/>
                <a:ea typeface="Arial"/>
                <a:cs typeface="Arial"/>
                <a:sym typeface="Arial"/>
              </a:rPr>
              <a:t>13</a:t>
            </a:r>
          </a:p>
        </p:txBody>
      </p:sp>
      <p:sp>
        <p:nvSpPr>
          <p:cNvPr name="TextBox 14" id="14"/>
          <p:cNvSpPr txBox="true"/>
          <p:nvPr/>
        </p:nvSpPr>
        <p:spPr>
          <a:xfrm rot="0">
            <a:off x="1079764" y="685552"/>
            <a:ext cx="11896639" cy="819845"/>
          </a:xfrm>
          <a:prstGeom prst="rect">
            <a:avLst/>
          </a:prstGeom>
        </p:spPr>
        <p:txBody>
          <a:bodyPr anchor="t" rtlCol="false" tIns="0" lIns="0" bIns="0" rIns="0">
            <a:spAutoFit/>
          </a:bodyPr>
          <a:lstStyle/>
          <a:p>
            <a:pPr algn="l">
              <a:lnSpc>
                <a:spcPts val="5224"/>
              </a:lnSpc>
            </a:pPr>
            <a:r>
              <a:rPr lang="en-US" sz="4353" b="true">
                <a:solidFill>
                  <a:srgbClr val="121212"/>
                </a:solidFill>
                <a:latin typeface="Arial Bold"/>
                <a:ea typeface="Arial Bold"/>
                <a:cs typeface="Arial Bold"/>
                <a:sym typeface="Arial Bold"/>
              </a:rPr>
              <a:t>VOIS COURSE COMPLETION CERTIFICATE</a:t>
            </a:r>
          </a:p>
        </p:txBody>
      </p:sp>
      <p:sp>
        <p:nvSpPr>
          <p:cNvPr name="TextBox 15" id="15"/>
          <p:cNvSpPr txBox="true"/>
          <p:nvPr/>
        </p:nvSpPr>
        <p:spPr>
          <a:xfrm rot="0">
            <a:off x="-466706" y="1423330"/>
            <a:ext cx="8533590" cy="628650"/>
          </a:xfrm>
          <a:prstGeom prst="rect">
            <a:avLst/>
          </a:prstGeom>
        </p:spPr>
        <p:txBody>
          <a:bodyPr anchor="t" rtlCol="false" tIns="0" lIns="0" bIns="0" rIns="0">
            <a:spAutoFit/>
          </a:bodyPr>
          <a:lstStyle/>
          <a:p>
            <a:pPr algn="ctr">
              <a:lnSpc>
                <a:spcPts val="4863"/>
              </a:lnSpc>
            </a:pPr>
            <a:r>
              <a:rPr lang="en-US" sz="4053" b="true">
                <a:solidFill>
                  <a:srgbClr val="2F86C1"/>
                </a:solidFill>
                <a:latin typeface="Arial Bold"/>
                <a:ea typeface="Arial Bold"/>
                <a:cs typeface="Arial Bold"/>
                <a:sym typeface="Arial Bold"/>
              </a:rPr>
              <a:t>for Data Visualization</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3726725" y="0"/>
            <a:ext cx="4575115" cy="10295039"/>
            <a:chOff x="0" y="0"/>
            <a:chExt cx="6100153" cy="13726719"/>
          </a:xfrm>
        </p:grpSpPr>
        <p:sp>
          <p:nvSpPr>
            <p:cNvPr name="Freeform 3" id="3" descr="agri_template_right_strip.png"/>
            <p:cNvSpPr/>
            <p:nvPr/>
          </p:nvSpPr>
          <p:spPr>
            <a:xfrm flipH="false" flipV="false" rot="0">
              <a:off x="0" y="0"/>
              <a:ext cx="6100191" cy="13726668"/>
            </a:xfrm>
            <a:custGeom>
              <a:avLst/>
              <a:gdLst/>
              <a:ahLst/>
              <a:cxnLst/>
              <a:rect r="r" b="b" t="t" l="l"/>
              <a:pathLst>
                <a:path h="13726668" w="6100191">
                  <a:moveTo>
                    <a:pt x="0" y="0"/>
                  </a:moveTo>
                  <a:lnTo>
                    <a:pt x="6100191" y="0"/>
                  </a:lnTo>
                  <a:lnTo>
                    <a:pt x="6100191" y="13726668"/>
                  </a:lnTo>
                  <a:lnTo>
                    <a:pt x="0" y="13726668"/>
                  </a:lnTo>
                  <a:lnTo>
                    <a:pt x="0" y="0"/>
                  </a:lnTo>
                  <a:close/>
                </a:path>
              </a:pathLst>
            </a:custGeom>
            <a:blipFill>
              <a:blip r:embed="rId2"/>
              <a:stretch>
                <a:fillRect l="-4" t="0" r="-4" b="0"/>
              </a:stretch>
            </a:blipFill>
          </p:spPr>
        </p:sp>
      </p:grpSp>
      <p:grpSp>
        <p:nvGrpSpPr>
          <p:cNvPr name="Group 4" id="4"/>
          <p:cNvGrpSpPr/>
          <p:nvPr/>
        </p:nvGrpSpPr>
        <p:grpSpPr>
          <a:xfrm rot="0">
            <a:off x="-466706" y="6890814"/>
            <a:ext cx="1372676" cy="3706216"/>
            <a:chOff x="0" y="0"/>
            <a:chExt cx="1830235" cy="4941621"/>
          </a:xfrm>
        </p:grpSpPr>
        <p:sp>
          <p:nvSpPr>
            <p:cNvPr name="Freeform 5" id="5"/>
            <p:cNvSpPr/>
            <p:nvPr/>
          </p:nvSpPr>
          <p:spPr>
            <a:xfrm flipH="false" flipV="false" rot="0">
              <a:off x="0" y="0"/>
              <a:ext cx="1830324" cy="4941570"/>
            </a:xfrm>
            <a:custGeom>
              <a:avLst/>
              <a:gdLst/>
              <a:ahLst/>
              <a:cxnLst/>
              <a:rect r="r" b="b" t="t" l="l"/>
              <a:pathLst>
                <a:path h="4941570" w="1830324">
                  <a:moveTo>
                    <a:pt x="0" y="4941570"/>
                  </a:moveTo>
                  <a:lnTo>
                    <a:pt x="915162" y="0"/>
                  </a:lnTo>
                  <a:lnTo>
                    <a:pt x="1830324" y="4941570"/>
                  </a:lnTo>
                  <a:close/>
                </a:path>
              </a:pathLst>
            </a:custGeom>
            <a:solidFill>
              <a:srgbClr val="55C3E6"/>
            </a:solidFill>
          </p:spPr>
        </p:sp>
      </p:grpSp>
      <p:grpSp>
        <p:nvGrpSpPr>
          <p:cNvPr name="Group 6" id="6"/>
          <p:cNvGrpSpPr/>
          <p:nvPr/>
        </p:nvGrpSpPr>
        <p:grpSpPr>
          <a:xfrm rot="0">
            <a:off x="9883245" y="2086461"/>
            <a:ext cx="274539" cy="274539"/>
            <a:chOff x="0" y="0"/>
            <a:chExt cx="366052" cy="366052"/>
          </a:xfrm>
        </p:grpSpPr>
        <p:sp>
          <p:nvSpPr>
            <p:cNvPr name="Freeform 7" id="7"/>
            <p:cNvSpPr/>
            <p:nvPr/>
          </p:nvSpPr>
          <p:spPr>
            <a:xfrm flipH="false" flipV="false" rot="0">
              <a:off x="0" y="0"/>
              <a:ext cx="366014" cy="366014"/>
            </a:xfrm>
            <a:custGeom>
              <a:avLst/>
              <a:gdLst/>
              <a:ahLst/>
              <a:cxnLst/>
              <a:rect r="r" b="b" t="t" l="l"/>
              <a:pathLst>
                <a:path h="366014" w="366014">
                  <a:moveTo>
                    <a:pt x="0" y="0"/>
                  </a:moveTo>
                  <a:lnTo>
                    <a:pt x="366014" y="0"/>
                  </a:lnTo>
                  <a:lnTo>
                    <a:pt x="366014" y="366014"/>
                  </a:lnTo>
                  <a:lnTo>
                    <a:pt x="0" y="366014"/>
                  </a:lnTo>
                  <a:close/>
                </a:path>
              </a:pathLst>
            </a:custGeom>
            <a:solidFill>
              <a:srgbClr val="2F86C1"/>
            </a:solidFill>
          </p:spPr>
        </p:sp>
      </p:grpSp>
      <p:sp>
        <p:nvSpPr>
          <p:cNvPr name="TextBox 8" id="8"/>
          <p:cNvSpPr txBox="true"/>
          <p:nvPr/>
        </p:nvSpPr>
        <p:spPr>
          <a:xfrm rot="0">
            <a:off x="13022018" y="9713538"/>
            <a:ext cx="297551" cy="165163"/>
          </a:xfrm>
          <a:prstGeom prst="rect">
            <a:avLst/>
          </a:prstGeom>
        </p:spPr>
        <p:txBody>
          <a:bodyPr anchor="t" rtlCol="false" tIns="0" lIns="0" bIns="0" rIns="0">
            <a:spAutoFit/>
          </a:bodyPr>
          <a:lstStyle/>
          <a:p>
            <a:pPr algn="r">
              <a:lnSpc>
                <a:spcPts val="1260"/>
              </a:lnSpc>
            </a:pPr>
            <a:r>
              <a:rPr lang="en-US" sz="1050">
                <a:solidFill>
                  <a:srgbClr val="5E6A71"/>
                </a:solidFill>
                <a:latin typeface="Arial"/>
                <a:ea typeface="Arial"/>
                <a:cs typeface="Arial"/>
                <a:sym typeface="Arial"/>
              </a:rPr>
              <a:t>14</a:t>
            </a:r>
          </a:p>
        </p:txBody>
      </p:sp>
      <p:grpSp>
        <p:nvGrpSpPr>
          <p:cNvPr name="Group 9" id="9"/>
          <p:cNvGrpSpPr/>
          <p:nvPr/>
        </p:nvGrpSpPr>
        <p:grpSpPr>
          <a:xfrm rot="0">
            <a:off x="480431" y="7343794"/>
            <a:ext cx="617706" cy="521618"/>
            <a:chOff x="0" y="0"/>
            <a:chExt cx="823608" cy="695490"/>
          </a:xfrm>
        </p:grpSpPr>
        <p:sp>
          <p:nvSpPr>
            <p:cNvPr name="Freeform 10" id="10"/>
            <p:cNvSpPr/>
            <p:nvPr/>
          </p:nvSpPr>
          <p:spPr>
            <a:xfrm flipH="false" flipV="false" rot="0">
              <a:off x="0" y="0"/>
              <a:ext cx="823595" cy="695452"/>
            </a:xfrm>
            <a:custGeom>
              <a:avLst/>
              <a:gdLst/>
              <a:ahLst/>
              <a:cxnLst/>
              <a:rect r="r" b="b" t="t" l="l"/>
              <a:pathLst>
                <a:path h="695452" w="823595">
                  <a:moveTo>
                    <a:pt x="0" y="347726"/>
                  </a:moveTo>
                  <a:lnTo>
                    <a:pt x="173863" y="0"/>
                  </a:lnTo>
                  <a:lnTo>
                    <a:pt x="649732" y="0"/>
                  </a:lnTo>
                  <a:lnTo>
                    <a:pt x="823595" y="347726"/>
                  </a:lnTo>
                  <a:lnTo>
                    <a:pt x="649732" y="695452"/>
                  </a:lnTo>
                  <a:lnTo>
                    <a:pt x="173863" y="695452"/>
                  </a:lnTo>
                  <a:close/>
                </a:path>
              </a:pathLst>
            </a:custGeom>
            <a:solidFill>
              <a:srgbClr val="55C3E6"/>
            </a:solidFill>
          </p:spPr>
        </p:sp>
      </p:grpSp>
      <p:sp>
        <p:nvSpPr>
          <p:cNvPr name="TextBox 11" id="11"/>
          <p:cNvSpPr txBox="true"/>
          <p:nvPr/>
        </p:nvSpPr>
        <p:spPr>
          <a:xfrm rot="0">
            <a:off x="2430965" y="1775287"/>
            <a:ext cx="12322927" cy="7669589"/>
          </a:xfrm>
          <a:prstGeom prst="rect">
            <a:avLst/>
          </a:prstGeom>
        </p:spPr>
        <p:txBody>
          <a:bodyPr anchor="t" rtlCol="false" tIns="0" lIns="0" bIns="0" rIns="0">
            <a:spAutoFit/>
          </a:bodyPr>
          <a:lstStyle/>
          <a:p>
            <a:pPr algn="ctr">
              <a:lnSpc>
                <a:spcPts val="3973"/>
              </a:lnSpc>
            </a:pPr>
            <a:r>
              <a:rPr lang="en-US" sz="3311" b="true">
                <a:solidFill>
                  <a:srgbClr val="121212"/>
                </a:solidFill>
                <a:latin typeface="Arial Bold"/>
                <a:ea typeface="Arial Bold"/>
                <a:cs typeface="Arial Bold"/>
                <a:sym typeface="Arial Bold"/>
              </a:rPr>
              <a:t>Conclusion</a:t>
            </a:r>
          </a:p>
          <a:p>
            <a:pPr algn="ctr">
              <a:lnSpc>
                <a:spcPts val="3973"/>
              </a:lnSpc>
            </a:pPr>
          </a:p>
          <a:p>
            <a:pPr algn="ctr">
              <a:lnSpc>
                <a:spcPts val="3766"/>
              </a:lnSpc>
            </a:pPr>
            <a:r>
              <a:rPr lang="en-US" sz="3138">
                <a:solidFill>
                  <a:srgbClr val="121212"/>
                </a:solidFill>
                <a:latin typeface="Arial"/>
                <a:ea typeface="Arial"/>
                <a:cs typeface="Arial"/>
                <a:sym typeface="Arial"/>
              </a:rPr>
              <a:t>The analysis demonstrates that agricultural performance varies across seasons, crops, irrigation methods, and regions. Kharif showed the strongest overall performance in terms of yield and profitability, while Zaid recorded comparatively lower profitability. Drip irrigation achieved the highest average yield, highlighting the importance of efficient resource management. The statistical analysis confirmed significant differences in yield across seasons. Overall, the study demonstrates how data-driven analysis can provide meaningful insights for better crop planning, resource utilization, and informed agricultural decision-making.</a:t>
            </a:r>
          </a:p>
          <a:p>
            <a:pPr algn="ctr">
              <a:lnSpc>
                <a:spcPts val="3766"/>
              </a:lnSpc>
            </a:pPr>
          </a:p>
          <a:p>
            <a:pPr algn="ctr">
              <a:lnSpc>
                <a:spcPts val="3766"/>
              </a:lnSpc>
            </a:pPr>
          </a:p>
          <a:p>
            <a:pPr algn="ctr">
              <a:lnSpc>
                <a:spcPts val="3766"/>
              </a:lnSpc>
            </a:pPr>
          </a:p>
          <a:p>
            <a:pPr algn="ctr">
              <a:lnSpc>
                <a:spcPts val="3766"/>
              </a:lnSpc>
            </a:pP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3726725" y="0"/>
            <a:ext cx="4575115" cy="10295039"/>
            <a:chOff x="0" y="0"/>
            <a:chExt cx="6100153" cy="13726719"/>
          </a:xfrm>
        </p:grpSpPr>
        <p:sp>
          <p:nvSpPr>
            <p:cNvPr name="Freeform 3" id="3" descr="agri_template_right_strip.png"/>
            <p:cNvSpPr/>
            <p:nvPr/>
          </p:nvSpPr>
          <p:spPr>
            <a:xfrm flipH="false" flipV="false" rot="0">
              <a:off x="0" y="0"/>
              <a:ext cx="6100191" cy="13726668"/>
            </a:xfrm>
            <a:custGeom>
              <a:avLst/>
              <a:gdLst/>
              <a:ahLst/>
              <a:cxnLst/>
              <a:rect r="r" b="b" t="t" l="l"/>
              <a:pathLst>
                <a:path h="13726668" w="6100191">
                  <a:moveTo>
                    <a:pt x="0" y="0"/>
                  </a:moveTo>
                  <a:lnTo>
                    <a:pt x="6100191" y="0"/>
                  </a:lnTo>
                  <a:lnTo>
                    <a:pt x="6100191" y="13726668"/>
                  </a:lnTo>
                  <a:lnTo>
                    <a:pt x="0" y="13726668"/>
                  </a:lnTo>
                  <a:lnTo>
                    <a:pt x="0" y="0"/>
                  </a:lnTo>
                  <a:close/>
                </a:path>
              </a:pathLst>
            </a:custGeom>
            <a:blipFill>
              <a:blip r:embed="rId2"/>
              <a:stretch>
                <a:fillRect l="-4" t="0" r="-4" b="0"/>
              </a:stretch>
            </a:blipFill>
          </p:spPr>
        </p:sp>
      </p:grpSp>
      <p:grpSp>
        <p:nvGrpSpPr>
          <p:cNvPr name="Group 4" id="4"/>
          <p:cNvGrpSpPr/>
          <p:nvPr/>
        </p:nvGrpSpPr>
        <p:grpSpPr>
          <a:xfrm rot="0">
            <a:off x="-466706" y="6890814"/>
            <a:ext cx="1372676" cy="3706216"/>
            <a:chOff x="0" y="0"/>
            <a:chExt cx="1830235" cy="4941621"/>
          </a:xfrm>
        </p:grpSpPr>
        <p:sp>
          <p:nvSpPr>
            <p:cNvPr name="Freeform 5" id="5"/>
            <p:cNvSpPr/>
            <p:nvPr/>
          </p:nvSpPr>
          <p:spPr>
            <a:xfrm flipH="false" flipV="false" rot="0">
              <a:off x="0" y="0"/>
              <a:ext cx="1830324" cy="4941570"/>
            </a:xfrm>
            <a:custGeom>
              <a:avLst/>
              <a:gdLst/>
              <a:ahLst/>
              <a:cxnLst/>
              <a:rect r="r" b="b" t="t" l="l"/>
              <a:pathLst>
                <a:path h="4941570" w="1830324">
                  <a:moveTo>
                    <a:pt x="0" y="4941570"/>
                  </a:moveTo>
                  <a:lnTo>
                    <a:pt x="915162" y="0"/>
                  </a:lnTo>
                  <a:lnTo>
                    <a:pt x="1830324" y="4941570"/>
                  </a:lnTo>
                  <a:close/>
                </a:path>
              </a:pathLst>
            </a:custGeom>
            <a:solidFill>
              <a:srgbClr val="55C3E6"/>
            </a:solidFill>
          </p:spPr>
        </p:sp>
      </p:grpSp>
      <p:grpSp>
        <p:nvGrpSpPr>
          <p:cNvPr name="Group 6" id="6"/>
          <p:cNvGrpSpPr/>
          <p:nvPr/>
        </p:nvGrpSpPr>
        <p:grpSpPr>
          <a:xfrm rot="0">
            <a:off x="9883245" y="2086461"/>
            <a:ext cx="274539" cy="274539"/>
            <a:chOff x="0" y="0"/>
            <a:chExt cx="366052" cy="366052"/>
          </a:xfrm>
        </p:grpSpPr>
        <p:sp>
          <p:nvSpPr>
            <p:cNvPr name="Freeform 7" id="7"/>
            <p:cNvSpPr/>
            <p:nvPr/>
          </p:nvSpPr>
          <p:spPr>
            <a:xfrm flipH="false" flipV="false" rot="0">
              <a:off x="0" y="0"/>
              <a:ext cx="366014" cy="366014"/>
            </a:xfrm>
            <a:custGeom>
              <a:avLst/>
              <a:gdLst/>
              <a:ahLst/>
              <a:cxnLst/>
              <a:rect r="r" b="b" t="t" l="l"/>
              <a:pathLst>
                <a:path h="366014" w="366014">
                  <a:moveTo>
                    <a:pt x="0" y="0"/>
                  </a:moveTo>
                  <a:lnTo>
                    <a:pt x="366014" y="0"/>
                  </a:lnTo>
                  <a:lnTo>
                    <a:pt x="366014" y="366014"/>
                  </a:lnTo>
                  <a:lnTo>
                    <a:pt x="0" y="366014"/>
                  </a:lnTo>
                  <a:close/>
                </a:path>
              </a:pathLst>
            </a:custGeom>
            <a:solidFill>
              <a:srgbClr val="2F86C1"/>
            </a:solidFill>
          </p:spPr>
        </p:sp>
      </p:grpSp>
      <p:sp>
        <p:nvSpPr>
          <p:cNvPr name="TextBox 8" id="8"/>
          <p:cNvSpPr txBox="true"/>
          <p:nvPr/>
        </p:nvSpPr>
        <p:spPr>
          <a:xfrm rot="0">
            <a:off x="13022018" y="9713538"/>
            <a:ext cx="297551" cy="165163"/>
          </a:xfrm>
          <a:prstGeom prst="rect">
            <a:avLst/>
          </a:prstGeom>
        </p:spPr>
        <p:txBody>
          <a:bodyPr anchor="t" rtlCol="false" tIns="0" lIns="0" bIns="0" rIns="0">
            <a:spAutoFit/>
          </a:bodyPr>
          <a:lstStyle/>
          <a:p>
            <a:pPr algn="r">
              <a:lnSpc>
                <a:spcPts val="1260"/>
              </a:lnSpc>
            </a:pPr>
            <a:r>
              <a:rPr lang="en-US" sz="1050">
                <a:solidFill>
                  <a:srgbClr val="5E6A71"/>
                </a:solidFill>
                <a:latin typeface="Arial"/>
                <a:ea typeface="Arial"/>
                <a:cs typeface="Arial"/>
                <a:sym typeface="Arial"/>
              </a:rPr>
              <a:t>14</a:t>
            </a:r>
          </a:p>
        </p:txBody>
      </p:sp>
      <p:grpSp>
        <p:nvGrpSpPr>
          <p:cNvPr name="Group 9" id="9"/>
          <p:cNvGrpSpPr/>
          <p:nvPr/>
        </p:nvGrpSpPr>
        <p:grpSpPr>
          <a:xfrm rot="0">
            <a:off x="480431" y="7343794"/>
            <a:ext cx="617706" cy="521618"/>
            <a:chOff x="0" y="0"/>
            <a:chExt cx="823608" cy="695490"/>
          </a:xfrm>
        </p:grpSpPr>
        <p:sp>
          <p:nvSpPr>
            <p:cNvPr name="Freeform 10" id="10"/>
            <p:cNvSpPr/>
            <p:nvPr/>
          </p:nvSpPr>
          <p:spPr>
            <a:xfrm flipH="false" flipV="false" rot="0">
              <a:off x="0" y="0"/>
              <a:ext cx="823595" cy="695452"/>
            </a:xfrm>
            <a:custGeom>
              <a:avLst/>
              <a:gdLst/>
              <a:ahLst/>
              <a:cxnLst/>
              <a:rect r="r" b="b" t="t" l="l"/>
              <a:pathLst>
                <a:path h="695452" w="823595">
                  <a:moveTo>
                    <a:pt x="0" y="347726"/>
                  </a:moveTo>
                  <a:lnTo>
                    <a:pt x="173863" y="0"/>
                  </a:lnTo>
                  <a:lnTo>
                    <a:pt x="649732" y="0"/>
                  </a:lnTo>
                  <a:lnTo>
                    <a:pt x="823595" y="347726"/>
                  </a:lnTo>
                  <a:lnTo>
                    <a:pt x="649732" y="695452"/>
                  </a:lnTo>
                  <a:lnTo>
                    <a:pt x="173863" y="695452"/>
                  </a:lnTo>
                  <a:close/>
                </a:path>
              </a:pathLst>
            </a:custGeom>
            <a:solidFill>
              <a:srgbClr val="55C3E6"/>
            </a:solidFill>
          </p:spPr>
        </p:sp>
      </p:grpSp>
      <p:sp>
        <p:nvSpPr>
          <p:cNvPr name="TextBox 11" id="11"/>
          <p:cNvSpPr txBox="true"/>
          <p:nvPr/>
        </p:nvSpPr>
        <p:spPr>
          <a:xfrm rot="0">
            <a:off x="6517611" y="4240155"/>
            <a:ext cx="5252777" cy="1291798"/>
          </a:xfrm>
          <a:prstGeom prst="rect">
            <a:avLst/>
          </a:prstGeom>
        </p:spPr>
        <p:txBody>
          <a:bodyPr anchor="t" rtlCol="false" tIns="0" lIns="0" bIns="0" rIns="0">
            <a:spAutoFit/>
          </a:bodyPr>
          <a:lstStyle/>
          <a:p>
            <a:pPr algn="ctr">
              <a:lnSpc>
                <a:spcPts val="9925"/>
              </a:lnSpc>
            </a:pPr>
            <a:r>
              <a:rPr lang="en-US" sz="8271" b="true">
                <a:solidFill>
                  <a:srgbClr val="121212"/>
                </a:solidFill>
                <a:latin typeface="Arial Bold"/>
                <a:ea typeface="Arial Bold"/>
                <a:cs typeface="Arial Bold"/>
                <a:sym typeface="Arial Bold"/>
              </a:rPr>
              <a:t>Thank 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DAHUnGY_qCo</dc:identifier>
  <dcterms:modified xsi:type="dcterms:W3CDTF">2011-08-01T06:04:30Z</dcterms:modified>
  <cp:revision>1</cp:revision>
  <dc:title>Seasonal_Agriculture_Performance_Analysis_Major_Project (1).pptx</dc:title>
</cp:coreProperties>
</file>